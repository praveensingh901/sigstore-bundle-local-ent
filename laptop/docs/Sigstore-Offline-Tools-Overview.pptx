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847ec30-34fa-dc3a-794b-18465f13edab}">
          <p14:sldIdLst>
            <p14:sldId id="256"/>
            <p14:sldId id="257"/>
            <p14:sldId id="258"/>
            <p14:sldId id="259"/>
          </p14:sldIdLst>
        </p14:section>
        <p14:section name="Workstation tools" id="{eb87f03e-ebc7-257b-0c5f-41fa62a266a8}">
          <p14:sldIdLst>
            <p14:sldId id="260"/>
            <p14:sldId id="261"/>
          </p14:sldIdLst>
        </p14:section>
        <p14:section name="Cluster platform" id="{94229c9b-65f2-7fd2-c0df-790fa1268a41}">
          <p14:sldIdLst>
            <p14:sldId id="262"/>
            <p14:sldId id="263"/>
          </p14:sldIdLst>
        </p14:section>
        <p14:section name="Sigstore services" id="{c87f008c-e9d4-63ec-0b9f-ac38a242d252}">
          <p14:sldIdLst>
            <p14:sldId id="264"/>
            <p14:sldId id="265"/>
          </p14:sldIdLst>
        </p14:section>
        <p14:section name="Identity, trust &amp; storage" id="{4d788fd4-f7b4-3b18-3f8c-3e1319172941}">
          <p14:sldIdLst>
            <p14:sldId id="266"/>
            <p14:sldId id="267"/>
          </p14:sldIdLst>
        </p14:section>
        <p14:section name="Policy enforcement" id="{b446a6de-af5e-e8ea-60ef-7738f21e3fbe}">
          <p14:sldIdLst>
            <p14:sldId id="268"/>
            <p14:sldId id="269"/>
          </p14:sldIdLst>
        </p14:section>
        <p14:section name="Helper container images" id="{a2008dc6-869e-2acb-877f-fb76c9d1e6dd}">
          <p14:sldIdLst>
            <p14:sldId id="270"/>
            <p14:sldId id="271"/>
          </p14:sldIdLst>
        </p14:section>
        <p14:section name="Build &amp; test tools" id="{ca7c10cf-06d3-5b9f-ce2d-659a71dd2577}">
          <p14:sldIdLst>
            <p14:sldId id="272"/>
            <p14:sldId id="273"/>
          </p14:sldIdLst>
        </p14:section>
        <p14:section name="Using the kit" id="{2503831e-cf6b-d6a1-2381-044b6b4e3d12}">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every tool and component in the sigstore-offline kit. Companion to the Word reference and docs/12-tools-reference.md.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Private: replace public Sigstore services and trust. Offline: everything is pre-staged in bundle/. Proven: admission control plus an air-gapped integration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Workstation tools: Command-line tools you run on the laptop (Linux or WSL2). All except the OS basics are downloaded once by 01-build-offline-bundle.sh into bundle/bin, so nothing is installed from the internet on the offline machine.
Cluster platform: Infrastructure the Sigstore services need: networking, DNS, storage, ingress and the image supply. None of it is Sigstore-specific, but each piece solves a concrete offline problem.
Sigstore services: The core of the stack — private replacements for fulcio.sigstore.dev, rekor.sigstore.dev and the public CT log, all signing with keys you generated.
Identity, trust &amp; storage: The pieces that decide who may sign, how every client learns which keys to trust, and where signed images and their signatures are stored.
Policy enforcement: Admission controllers that check images before Kubernetes runs them.
Helper container images: Small images the charts and scripts run once or in init containers. They appear in bundle/images.txt and you may see them in kubectl get pods.
Build &amp; test tools: Not needed to run the stack. Used to prove the kit works (test/compose/run.sh) and to lint it. Useful if you change the 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Login — Keycloak: Developer or CI gets an OIDC token
2. Certify — Fulcio: Token → 10-minute certificate
3. Witness — CT log + Trillian: Certificate logged, SCT returned
4. Sign — cosign: Image digest signed with ephemeral key
5. Record — Rekor + Trillian: Signature logged, inclusion proof returned
6. Store — Registry: Bundle attached next to the image
7. Enforce — Kyverno + TUF: Only signed images admitted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Command-line tools you run on the laptop (Linux or WSL2). All except the OS basics are downloaded once by 01-build-offline-bundle.sh into bundle/bin, so nothing is installed from the internet on the offline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(Engine / Desktop) (24+ / Desktop 4.30+): Container runtime that runs Linux containers on your machine. Everything runs in containers: the kind Kubernetes node, the offline image mirror, and the TUF repository builder. Docker Desktop provides this on Windows via WSL2. Used in: 02, 04, 10, 12, test/compose. Offline: Installed beforehand (prerequisite).
WSL2 (Windows only) (Ubuntu 22.04/24.04): Windows Subsystem for Linux — a real Linux kernel inside Windows. All kit scripts are bash. WSL2 gives Windows users the same shell, tools and paths as Linux users, and Docker Desktop integrates with it. Used in: All scripts on Windows. Offline: Installed beforehand (prerequisite).
kind (v0.33.0): Kubernetes IN Docker — runs a full Kubernetes cluster as Docker containers. Gives a real, disposable Kubernetes v1.37 cluster on a laptop, using the same Helm charts as production. Its containerd honours /etc/containerd/certs.d, which is how the cluster pulls images from the offline mirror. Used in: 04-create-cluster.sh, 99-teardown.sh. Offline: Binary in bundle/bin; node image kindest/node:v1.37.0 in host-images.tar.
kubectl (v1.37.0): The Kubernetes command-line client. Creates namespaces and Secrets (keys, TLS), applies manifests, waits for rollouts, reads logs and runs admission dry-runs. Used in: 04–08, 12, 13, verify-stack, backup/restore. Offline: Binary in bundle/bin.
Helm (v3.16.2): Package manager for Kubernetes; installs versioned charts with a values file. Installs Traefik, Trillian, Rekor, Fulcio, the CT log and Kyverno from the official charts, pinned to tested versions, using the kit's values files. Used in: 05, 08, 13; 01 (helm pull, helm template). Offline: Binary in bundle/bin; charts as .tgz in bundle/charts.
crane (v0.22.1 (go-containerregistry)): Daemonless tool for working with container images and registries. Builds the offline mirror (crane copy keeps multi-arch digests intact), resolves image digests before signing, pushes the demo image without needing Docker to trust the CA, and lists tags. Used in: 01, 10, 13; CI examples. Offline: Binary in bundle/bin (+ crane.exe for Windows).
cosign (v3.1.3): Sigstore's signing and verification client. Performs keyless signing (OIDC login → Fulcio certificate → Rekor entry), verifies signatures, attaches attestations, and generates the private trusted_root.json and signing_config.json. Used in: 09, 10, CI examples, windows/cosign-windows.ps1. Offline: Binary in bundle/bin (+ cosign.exe for Windows).
jq (1.7.1): Command-line JSON processor. Reads OIDC tokens, Rekor API responses, trusted roots and Kyverno output inside the scripts. Used in: 07, 09–13, verify-stack, get-token. Offline: Static binary in bundle/bin.
OpenSSL (3.x (OS package)): Cryptography toolkit. Generates every key and certificate locally: TLS root and wildcard cert, Fulcio root + intermediate CA, Rekor and CT log signing keys. Also verifies chains and compares key fingerprints. Used in: 03-generate-pki.sh, 08, verify-stack, backup.sh (AES encryption). Offline: Ships with Linux / WSL.
curl (OS package): HTTP client. Health checks against Keycloak, Fulcio, Rekor, registry and TUF over TLS, and fetching OIDC tokens for non-interactive signing. Used in: Most scripts, get-token.sh. Offline: Ships with Linux / WSL.
bash, perl, coreutils (OS packages): Shell and standard Unix utilities (tar, sha256sum, base64, sed, awk). bash runs the scripts; perl renders the .tpl templates; sha256sum verifies the bundle; tar/base64 package the TUF repo and backups. Used in: All scripts (lib.sh render()). Offline: Ship with Linux / WSL.
PowerShell (5.1+ (Windows)): Windows shell. Edits the Windows hosts file and imports the TLS root into the Windows certificate store, so browsers, Docker Desktop and cosign.exe trust *.sigstore.local. Used in: windows/Setup-Hosts.ps1, windows/cosign-windows.ps1. Offline: Built into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Infrastructure the Sigstore services need: networking, DNS, storage, ingress and the image supply. None of it is Sigstore-specific, but each piece solves a concrete offline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containerd (in the kind node) (bundled in kindest/node): The container runtime Kubernetes uses to pull and run images. Configured through hosts.toml files to fetch docker.io, ghcr.io, quay.io, gcr.io, registry.k8s.io and reg.kyverno.io images from the local mirror, and to trust the private registry's TLS certificate. Used in: 04-create-cluster.sh (.generated/containerd/certs.d). Offline: Part of the node image.
Offline image mirror (registry:2) (2.8.3): A registry container on 127.0.0.1:5000 serving bundle/mirror. Replaces the internet for image pulls. Every platform image is stored as &lt;registry&gt;/&lt;repo&gt; with its original digest, so the Helm charts' digest-pinned references work unchanged. Used in: 01 (populate), 02 (start), 04 (attach to kind network). Offline: Image in host-images.tar; data in bundle/mirror (≈4.2 GB).
Traefik (v3.7.14 (chart 42.0.0)): Kubernetes ingress controller and reverse proxy. Single TLS front door for keycloak, fulcio, rekor, registry and tuf .sigstore.local. Pinned to ClusterIP 10.96.100.100 so pods and the node resolve the same names to it. Chosen because ingress-nginx was retired in March 2026. Used in: 05-deploy-ingress.sh, config/helm/traefik-values.yaml. Offline: Image mirrored; chart in bundle/charts.
CoreDNS (bundled with Kubernetes): The cluster's DNS server. An extra sigstore.local zone answers every *.sigstore.local name with Traefik's IP, so Fulcio can reach Keycloak and Kyverno can reach the registry/TUF through the same TLS endpoints as the laptop. Used in: 05-deploy-ingress.sh, config/coredns/. Offline: Part of the node image.
local-path-provisioner (bundled with kind): Dynamic storage provisioner backed by node disk. Creates the PersistentVolumes for MySQL (transparency logs), the registry, Keycloak and Rekor attestation storage. Used in: All PVCs. Offline: Part of the node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of the stack — private replacements for fulcio.sigstore.dev, rekor.sigstore.dev and the public CT log, all signing with keys you 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Fulcio (v1.9.0 (chart 2.11.4)): Sigstore's code-signing certificate authority. Turns a verified OIDC identity into a 10-minute X.509 signing certificate, issued by your intermediate CA. Trusts Keycloak through the CACert field and submits every certificate to the CT log. Used in: 08-deploy-sigstore.sh, fulcio-values.yaml, fulcio-config-values.yaml.tpl. Offline: Image mirrored; CA from pki/fulcio.
CT log (ct_server / ctfe) (scaffolding v0.7.33 (chart 0.2.69)): Certificate Transparency log front-end. Records every certificate Fulcio issues and returns a Signed Certificate Timestamp (SCT) embedded in the cert, so mis-issued certificates are detectable. cosign verifies the SCT. Used in: 08, ctlog-values.yaml (in-cluster only). Offline: Image mirrored; key from pki/ctlog.
Rekor (v1.5.4 (chart 1.8.7)): Sigstore's transparency log for signatures and attestations. Stores a tamper-evident record of every signature and returns an inclusion proof and signed timestamp, proving the signature was made while the short-lived certificate was valid. Uses your file-based signer key. Used in: 08, rekor-values.yaml, 11-inspect-rekor.sh. Offline: Image mirrored; key from pki/rekor.
Trillian (log server + log signer) (v1.8.0 (chart 0.4.0)): Google's verifiable append-only Merkle-tree log. The storage engine under both Rekor and the CT log. The log server accepts entries and serves proofs; the log signer sequences them into the tree. Used in: 08, trillian-values.yaml. Offline: Images mirrored.
MySQL (trillian db_server) (Trillian CI image): Relational database. Persists Trillian's Merkle trees — the complete transparency history. The most important data to back up. Used in: 08, backup.sh (mysqldump), restore.sh. Offline: Image mirrored.
Redis (pinned digest): In-memory key/value store. Rekor's search index (artifact hash → entry UUID). Rebuildable from the log, so not backed up. Used in: rekor chart. Offline: Image mirrored.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pieces that decide who may sign, how every client learns which keys to trust, and where signed images and their signatures are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Keycloak (26.8.1): Open-source OpenID Connect identity provider. Private replacement for Google/GitHub/Microsoft login. Issues the OIDC tokens Fulcio exchanges for certificates: browser, device-code and password flows for people (alice@sigstore.local), client_credentials for CI (ci@sigstore.local). Used in: 07-deploy-keycloak.sh, realm-sigstore.json.tpl, get-token.sh. Offline: Image mirrored; realm imported from a Secret.
Private OCI registry (registry:2) (2.8.3): CNCF Distribution container registry. Stores your images and, next to them, the Sigstore signature and attestation bundles. Served at https://registry.sigstore.local behind Traefik TLS. Used in: 06-deploy-registry.sh, registry.yaml.tpl. Offline: Image mirrored.
TUF repository (scaffolding server) (v0.7.39): The Update Framework — signed metadata for distributing trust files. Distributes trusted_root.json and signing_config securely and supports rotation. Clients pin one root.json; Kyverno 1.19 requires a TUF source to verify keyless signatures offline. Used in: 12-publish-tuf.sh, config/tuf/tuf.yaml.tpl. Offline: Builder image in host-images.tar; server image mirrored.
Private PKI (generated) (OpenSSL profiles): Two separate certificate hierarchies plus log keys. TLS root + wildcard cert protect transport; Fulcio root (offline) + intermediate (EKU codeSigning) anchor code signing; Rekor and CT keys sign log evidence. Separate hierarchies so one compromise doesn't imply the other. Used in: 03-generate-pki.sh, config/pki/extensions.cnf. Offline: Generated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Admission controllers that check images before Kubernetes runs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Kyverno (v1.19.1 (chart 3.9.1)): Kubernetes-native policy engine. Its ImageValidatingPolicy verifies every Pod image from registry.sigstore.local carries a keyless signature from your Fulcio/Rekor with an allowed identity, using trust from the private TUF mirror. Tested: signed admitted, unsigned denied. Used in: 13-deploy-policy.sh, kyverno-values.yaml, policies/kyverno/. Offline: Images mirrored (reg.kyverno.io).
OPA Gatekeeper (optional) (v3.23.1): Policy engine using the Rego language. Cannot verify cosign signatures itself; the kit uses it to require images from the private registry pinned by digest, alongside Kyverno. Used in: config/policies/gatekeeper/. Offline: Install from your own mirror if used.
Sigstore policy-controller (reference) (—): Sigstore's own admission controller. Alternative to Kyverno using TrustRoot + ClusterImagePolicy. Provided as an untested reference. Used in: config/policies/policy-controller/. Offline: Not in the bundle.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images the charts and scripts run once or in init containers. They appear in bundle/images.txt and you may see them in kubectl get pods.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scaffolding createdb (v0.7.33): Kubernetes Job image. Creates the trillian database schema in MySQL on first install. Used in: trillian chart. Offline: Mirrored.
scaffolding createtree (v0.7.33): Kubernetes Job image. Creates a Trillian tree for Rekor and for the CT log and stores its ID in a ConfigMap (rekor-config / ctlog-config). Skips if an ID already exists — which is what makes restore work. Used in: rekor and ctlog charts. Offline: Mirrored.
scaffolding createctconfig (v0.7.33): Kubernetes Job image. Builds the CT log configuration: fetches Fulcio's root, loads your CT key from Secret ctlog-signer, writes Secret ctlog-secret. Used in: ctlog chart. Offline: Mirrored.
curlimages/curl (8.17.0): Tiny image containing curl. Init containers that wait for Trillian / Fulcio to answer before Rekor and the CT config job start. Used in: rekor and ctlog charts. Offline: Mirrored.
busybox (1.37 / pinned digest): Minimal Linux userland in one image. Trillian init containers, the TUF unpack init container, DNS check pods, the Keycloak restore pod, and the demo app's base image. Used in: trillian chart, tuf.yaml.tpl, 05, restore.sh, examples/demo-app. Offline: Mirrored + host-images.tar.
Kyverno helper images (v1.19.1): kyvernopre, kyverno-cli, readiness-checker. Pre-start cleanup, CLI used by chart hooks, and readiness checks for the Kyverno install. Used in: kyverno chart. Offline: Mirrored.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needed to run the stack. Used to prove the kit works (test/compose/run.sh) and to lint it. Useful if you change the 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(v2 (Docker plugin)): Runs multi-container apps from one YAML file. Runs the same Sigstore images and arguments as the charts, without Kubernetes, for the end-to-end offline integration test. Used in: test/compose/docker-compose.yml. Offline: Ships with Docker.
nginx (test gateway) (1.27): Web server / reverse proxy. Stands in for Traefik in the Docker test: TLS termination and the *.sigstore.local names. Used in: test/compose/nginx.conf. Offline: Test only.
Toolbox image (buildpack-deps) (bookworm-curl): Debian image with bash, curl, openssl. A stand-in laptop on an --internal network with no internet, proving every client step works air-gapped. Used in: test/compose/run.sh. Offline: Test only.
createtree (Trillian CLI) (v1.7.2): Trillian admin client. Creates Trillian trees in the Docker test (in Kubernetes the createtree Job does it). Used in: test/compose/run.sh. Offline: Build with go install.
Kyverno CLI (v1.19.1): Offline Kyverno policy evaluator. Proved the ImageValidatingPolicy admits signed and denies unsigned images, against the live registry and TUF. Used in: test/compose/run.sh (optional). Offline: Optional download.
gator (v3.23.1): Gatekeeper's CLI test tool. Validated the Gatekeeper digest/registry constraint. Used in: docs/11 test report. Offline: Optional.
shellcheck (v0.10.0): Static analyser for shell scripts. Linted every script for bugs. Used in: Development. Offline: Optional.
kubeconform (v0.6.7): Kubernetes manifest schema validator. Validated the registry, Keycloak and TUF manifests against the Kubernetes API schema. Used in: Development. Offline: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only ever use cosign day to day. The rest is installation, operations, or kit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00-check-prereqs.sh: Checks Docker resources, ports, kernel limits, bundled tools and hosts entries.
01-build-offline-bundle.sh: ONLINE ONLY. Downloads tools and charts, mirrors all 25 images with digests, saves host images, writes checksums.
02-load-offline-bundle.sh: Verifies checksums, loads host images, starts the local image mirror.
03-generate-pki.sh: Generates all keys, certificates and random passwords into pki/.
04-create-cluster.sh: Creates the kind cluster wired to the mirror and private registry.
05-deploy-ingress.sh: Installs Traefik, TLS secrets and the CoreDNS *.sigstore.local zone.
06-deploy-registry.sh: Deploys the private OCI registry.
07-deploy-keycloak.sh: Deploys Keycloak, imports the realm, smoke-tests a token.
08-deploy-sigstore.sh: Installs Trillian, Rekor, Fulcio and the CT log; verifies they use your keys.
09-configure-cosign.sh: Creates trusted_root.json, signing_config.json, CA bundle, cosign.env.
10-sign-and-verify.sh: Builds, pushes, keyless-signs and verifies the demo image.
11-inspect-rekor.sh: Shows the Rekor log state and recent entries with signer certificates.
12-publish-tuf.sh: Builds and serves the private TUF trust mirror.
13-deploy-policy.sh: Installs Kyverno and the signature policy; tests admit/deny.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pki/ is the single most sensitive folder: back it up encrypted with backup.sh and move the Fulcio root key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tool details are in the speaker notes of each category slide and in the Word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474720"/>
            <a:ext cx="10698480" cy="1097280"/>
          </a:xfrm>
          <a:prstGeom prst="rect">
            <a:avLst/>
          </a:prstGeom>
          <a:noFill/>
          <a:ln/>
        </p:spPr>
        <p:txBody>
          <a:bodyPr wrap="square" rtlCol="0"/>
          <a:lstStyle>
            <a:lvl1pPr indent="0" marL="0">
              <a:buNone/>
              <a:defRPr lang="en-US" sz="2200" dirty="0">
                <a:solidFill>
                  <a:srgbClr val="9BC4CB"/>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731520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566160"/>
            <a:ext cx="7315200" cy="1280160"/>
          </a:xfrm>
          <a:prstGeom prst="rect">
            <a:avLst/>
          </a:prstGeom>
          <a:noFill/>
          <a:ln/>
        </p:spPr>
        <p:txBody>
          <a:bodyPr wrap="square" rtlCol="0"/>
          <a:lstStyle>
            <a:lvl1pPr indent="0" marL="0">
              <a:buNone/>
              <a:defRPr lang="en-US" sz="1800" dirty="0">
                <a:solidFill>
                  <a:srgbClr val="9BC4CB"/>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BC4CB"/>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6C8EAD"/>
                </a:solidFill>
              </a:rPr>
              <a:t>Sigstore Offline Kit · Tools &amp; Components</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8EAD"/>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BC4CB"/>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4.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slideLayout" Target="../slideLayouts/slideLayout4.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nchor="b"/>
          <a:lstStyle/>
          <a:p>
            <a:pPr algn="l" indent="0" marL="0">
              <a:buNone/>
            </a:pPr>
            <a:r>
              <a:rPr lang="en-US" sz="4400" b="1" dirty="0">
                <a:solidFill>
                  <a:schemeClr val="bg1"/>
                </a:solidFill>
              </a:rPr>
              <a:t>Sigstore Offline Kit — Tools &amp; Components</a:t>
            </a:r>
            <a:endParaRPr lang="en-US" sz="4400" dirty="0"/>
          </a:p>
        </p:txBody>
      </p:sp>
      <p:sp>
        <p:nvSpPr>
          <p:cNvPr id="3" name="Text 0"/>
          <p:cNvSpPr/>
          <p:nvPr>
            <p:ph idx="101" type="body" hasCustomPrompt="1"/>
          </p:nvPr>
        </p:nvSpPr>
        <p:spPr>
          <a:xfrm>
            <a:off x="731520" y="3474720"/>
            <a:ext cx="10698480" cy="1097280"/>
          </a:xfrm>
          <a:prstGeom prst="rect">
            <a:avLst/>
          </a:prstGeom>
          <a:noFill/>
          <a:ln/>
        </p:spPr>
        <p:txBody>
          <a:bodyPr wrap="square" rtlCol="0" anchor="t"/>
          <a:lstStyle/>
          <a:p>
            <a:pPr indent="0" marL="0">
              <a:buNone/>
            </a:pPr>
            <a:r>
              <a:rPr lang="en-US" sz="2200" dirty="0">
                <a:solidFill>
                  <a:srgbClr val="9BC4CB"/>
                </a:solidFill>
              </a:rPr>
              <a:t>What every tool is, why the kit uses it, and where it appears</a:t>
            </a:r>
            <a:endParaRPr lang="en-US" sz="2200" dirty="0"/>
          </a:p>
        </p:txBody>
      </p:sp>
      <p:pic>
        <p:nvPicPr>
          <p:cNvPr id="4" name="Image 0" descr="preencoded.png">    </p:cNvPr>
          <p:cNvPicPr>
            <a:picLocks noChangeAspect="1"/>
          </p:cNvPicPr>
          <p:nvPr/>
        </p:nvPicPr>
        <p:blipFill>
          <a:blip r:embed="rId1"/>
          <a:stretch>
            <a:fillRect/>
          </a:stretch>
        </p:blipFill>
        <p:spPr>
          <a:xfrm>
            <a:off x="731520" y="914400"/>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Why the kit needs this many tools</a:t>
            </a:r>
            <a:endParaRPr lang="en-US" sz="3200" dirty="0"/>
          </a:p>
        </p:txBody>
      </p:sp>
      <p:sp>
        <p:nvSpPr>
          <p:cNvPr id="3" name="Text 1"/>
          <p:cNvSpPr txBox="1"/>
          <p:nvPr/>
        </p:nvSpPr>
        <p:spPr>
          <a:xfrm>
            <a:off x="548640" y="1143000"/>
            <a:ext cx="10972800" cy="457200"/>
          </a:xfrm>
          <a:prstGeom prst="rect">
            <a:avLst/>
          </a:prstGeom>
          <a:noFill/>
          <a:ln/>
        </p:spPr>
        <p:txBody>
          <a:bodyPr wrap="square" lIns="0" tIns="0" rIns="0" bIns="0" rtlCol="0" anchor="ctr"/>
          <a:lstStyle/>
          <a:p>
            <a:pPr indent="0" marL="0">
              <a:buNone/>
            </a:pPr>
            <a:r>
              <a:rPr lang="en-US" sz="1800" i="1" dirty="0">
                <a:solidFill>
                  <a:schemeClr val="accent4"/>
                </a:solidFill>
              </a:rPr>
              <a:t>Each tool earns its place by solving one of three problems at once</a:t>
            </a:r>
            <a:endParaRPr lang="en-US" sz="1800" dirty="0"/>
          </a:p>
        </p:txBody>
      </p:sp>
      <p:sp>
        <p:nvSpPr>
          <p:cNvPr id="4" name="card Private"/>
          <p:cNvSpPr/>
          <p:nvPr/>
        </p:nvSpPr>
        <p:spPr>
          <a:xfrm>
            <a:off x="548640" y="1828800"/>
            <a:ext cx="3520440" cy="4206240"/>
          </a:xfrm>
          <a:prstGeom prst="roundRect">
            <a:avLst>
              <a:gd name="adj" fmla="val 2078"/>
            </a:avLst>
          </a:prstGeom>
          <a:solidFill>
            <a:schemeClr val="bg2"/>
          </a:solidFill>
          <a:ln w="12700">
            <a:solidFill>
              <a:schemeClr val="bg2"/>
            </a:solidFill>
            <a:prstDash val="solid"/>
          </a:ln>
        </p:spPr>
      </p:sp>
      <p:sp>
        <p:nvSpPr>
          <p:cNvPr id="5" name="Shape 3"/>
          <p:cNvSpPr/>
          <p:nvPr/>
        </p:nvSpPr>
        <p:spPr>
          <a:xfrm>
            <a:off x="731520" y="2011680"/>
            <a:ext cx="731520" cy="73152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892454" y="2172614"/>
            <a:ext cx="409651" cy="409651"/>
          </a:xfrm>
          <a:prstGeom prst="rect">
            <a:avLst/>
          </a:prstGeom>
        </p:spPr>
      </p:pic>
      <p:sp>
        <p:nvSpPr>
          <p:cNvPr id="7" name="Text 4"/>
          <p:cNvSpPr txBox="1"/>
          <p:nvPr/>
        </p:nvSpPr>
        <p:spPr>
          <a:xfrm>
            <a:off x="1554480" y="1993392"/>
            <a:ext cx="2331720" cy="768096"/>
          </a:xfrm>
          <a:prstGeom prst="rect">
            <a:avLst/>
          </a:prstGeom>
          <a:noFill/>
          <a:ln/>
        </p:spPr>
        <p:txBody>
          <a:bodyPr wrap="square" lIns="0" tIns="0" rIns="0" bIns="0" rtlCol="0" anchor="ctr">
            <a:normAutofit/>
          </a:bodyPr>
          <a:lstStyle/>
          <a:p>
            <a:pPr indent="0" marL="0">
              <a:buNone/>
            </a:pPr>
            <a:r>
              <a:rPr lang="en-US" sz="2400" b="1" dirty="0">
                <a:solidFill>
                  <a:schemeClr val="tx2"/>
                </a:solidFill>
              </a:rPr>
              <a:t>Private</a:t>
            </a:r>
            <a:endParaRPr lang="en-US" sz="2400" dirty="0"/>
          </a:p>
        </p:txBody>
      </p:sp>
      <p:sp>
        <p:nvSpPr>
          <p:cNvPr id="8" name="Text 5"/>
          <p:cNvSpPr txBox="1"/>
          <p:nvPr/>
        </p:nvSpPr>
        <p:spPr>
          <a:xfrm>
            <a:off x="731520" y="2834640"/>
            <a:ext cx="3154680" cy="3063240"/>
          </a:xfrm>
          <a:prstGeom prst="rect">
            <a:avLst/>
          </a:prstGeom>
          <a:noFill/>
          <a:ln/>
        </p:spPr>
        <p:txBody>
          <a:bodyPr wrap="square" lIns="0" tIns="0" rIns="0" bIns="0" rtlCol="0" anchor="t"/>
          <a:lstStyle/>
          <a:p>
            <a:pPr indent="0" marL="0">
              <a:buNone/>
            </a:pPr>
            <a:r>
              <a:rPr lang="en-US" sz="1700" dirty="0">
                <a:solidFill>
                  <a:schemeClr val="tx1"/>
                </a:solidFill>
              </a:rPr>
              <a:t>Your own CA, logs, identity provider and trust root replace fulcio.sigstore.dev, rekor.sigstore.dev and public OIDC.</a:t>
            </a:r>
            <a:endParaRPr lang="en-US" sz="1700" dirty="0"/>
          </a:p>
        </p:txBody>
      </p:sp>
      <p:sp>
        <p:nvSpPr>
          <p:cNvPr id="9" name="Text 6"/>
          <p:cNvSpPr txBox="1"/>
          <p:nvPr/>
        </p:nvSpPr>
        <p:spPr>
          <a:xfrm>
            <a:off x="731520" y="4892040"/>
            <a:ext cx="3154680" cy="914400"/>
          </a:xfrm>
          <a:prstGeom prst="rect">
            <a:avLst/>
          </a:prstGeom>
          <a:noFill/>
          <a:ln/>
        </p:spPr>
        <p:txBody>
          <a:bodyPr wrap="square" lIns="0" tIns="0" rIns="0" bIns="0" rtlCol="0" anchor="b"/>
          <a:lstStyle/>
          <a:p>
            <a:pPr indent="0" marL="0">
              <a:buNone/>
            </a:pPr>
            <a:r>
              <a:rPr lang="en-US" sz="1200" b="1" dirty="0">
                <a:solidFill>
                  <a:schemeClr val="accent1"/>
                </a:solidFill>
              </a:rPr>
              <a:t>Fulcio · CT log · Rekor · Trillian · Keycloak · TUF · OpenSSL</a:t>
            </a:r>
            <a:endParaRPr lang="en-US" sz="1200" dirty="0"/>
          </a:p>
        </p:txBody>
      </p:sp>
      <p:sp>
        <p:nvSpPr>
          <p:cNvPr id="10" name="card Offline"/>
          <p:cNvSpPr/>
          <p:nvPr/>
        </p:nvSpPr>
        <p:spPr>
          <a:xfrm>
            <a:off x="4297680" y="1828800"/>
            <a:ext cx="3520440" cy="4206240"/>
          </a:xfrm>
          <a:prstGeom prst="roundRect">
            <a:avLst>
              <a:gd name="adj" fmla="val 2078"/>
            </a:avLst>
          </a:prstGeom>
          <a:solidFill>
            <a:schemeClr val="bg2"/>
          </a:solidFill>
          <a:ln w="12700">
            <a:solidFill>
              <a:schemeClr val="bg2"/>
            </a:solidFill>
            <a:prstDash val="solid"/>
          </a:ln>
        </p:spPr>
      </p:sp>
      <p:sp>
        <p:nvSpPr>
          <p:cNvPr id="11" name="Shape 8"/>
          <p:cNvSpPr/>
          <p:nvPr/>
        </p:nvSpPr>
        <p:spPr>
          <a:xfrm>
            <a:off x="4480560" y="2011680"/>
            <a:ext cx="731520" cy="731520"/>
          </a:xfrm>
          <a:prstGeom prst="ellipse">
            <a:avLst/>
          </a:prstGeom>
          <a:solidFill>
            <a:schemeClr val="accent3"/>
          </a:solidFill>
          <a:ln w="12700">
            <a:solidFill>
              <a:schemeClr val="accent3"/>
            </a:solidFill>
            <a:prstDash val="solid"/>
          </a:ln>
        </p:spPr>
      </p:sp>
      <p:pic>
        <p:nvPicPr>
          <p:cNvPr id="12" name="Image 1" descr="preencoded.png">    </p:cNvPr>
          <p:cNvPicPr>
            <a:picLocks noChangeAspect="1"/>
          </p:cNvPicPr>
          <p:nvPr/>
        </p:nvPicPr>
        <p:blipFill>
          <a:blip r:embed="rId2"/>
          <a:stretch>
            <a:fillRect/>
          </a:stretch>
        </p:blipFill>
        <p:spPr>
          <a:xfrm>
            <a:off x="4641494" y="2172614"/>
            <a:ext cx="409651" cy="409651"/>
          </a:xfrm>
          <a:prstGeom prst="rect">
            <a:avLst/>
          </a:prstGeom>
        </p:spPr>
      </p:pic>
      <p:sp>
        <p:nvSpPr>
          <p:cNvPr id="13" name="Text 9"/>
          <p:cNvSpPr txBox="1"/>
          <p:nvPr/>
        </p:nvSpPr>
        <p:spPr>
          <a:xfrm>
            <a:off x="5303520" y="1993392"/>
            <a:ext cx="2331720" cy="768096"/>
          </a:xfrm>
          <a:prstGeom prst="rect">
            <a:avLst/>
          </a:prstGeom>
          <a:noFill/>
          <a:ln/>
        </p:spPr>
        <p:txBody>
          <a:bodyPr wrap="square" lIns="0" tIns="0" rIns="0" bIns="0" rtlCol="0" anchor="ctr">
            <a:normAutofit/>
          </a:bodyPr>
          <a:lstStyle/>
          <a:p>
            <a:pPr indent="0" marL="0">
              <a:buNone/>
            </a:pPr>
            <a:r>
              <a:rPr lang="en-US" sz="2400" b="1" dirty="0">
                <a:solidFill>
                  <a:schemeClr val="tx2"/>
                </a:solidFill>
              </a:rPr>
              <a:t>Offline</a:t>
            </a:r>
            <a:endParaRPr lang="en-US" sz="2400" dirty="0"/>
          </a:p>
        </p:txBody>
      </p:sp>
      <p:sp>
        <p:nvSpPr>
          <p:cNvPr id="14" name="Text 10"/>
          <p:cNvSpPr txBox="1"/>
          <p:nvPr/>
        </p:nvSpPr>
        <p:spPr>
          <a:xfrm>
            <a:off x="4480560" y="2834640"/>
            <a:ext cx="3154680" cy="3063240"/>
          </a:xfrm>
          <a:prstGeom prst="rect">
            <a:avLst/>
          </a:prstGeom>
          <a:noFill/>
          <a:ln/>
        </p:spPr>
        <p:txBody>
          <a:bodyPr wrap="square" lIns="0" tIns="0" rIns="0" bIns="0" rtlCol="0" anchor="t"/>
          <a:lstStyle/>
          <a:p>
            <a:pPr indent="0" marL="0">
              <a:buNone/>
            </a:pPr>
            <a:r>
              <a:rPr lang="en-US" sz="1700" dirty="0">
                <a:solidFill>
                  <a:schemeClr val="tx1"/>
                </a:solidFill>
              </a:rPr>
              <a:t>No internet on the laptop: images, charts and binaries arrive in one verified bundle; names resolve locally.</a:t>
            </a:r>
            <a:endParaRPr lang="en-US" sz="1700" dirty="0"/>
          </a:p>
        </p:txBody>
      </p:sp>
      <p:sp>
        <p:nvSpPr>
          <p:cNvPr id="15" name="Text 11"/>
          <p:cNvSpPr txBox="1"/>
          <p:nvPr/>
        </p:nvSpPr>
        <p:spPr>
          <a:xfrm>
            <a:off x="4480560" y="4892040"/>
            <a:ext cx="3154680" cy="914400"/>
          </a:xfrm>
          <a:prstGeom prst="rect">
            <a:avLst/>
          </a:prstGeom>
          <a:noFill/>
          <a:ln/>
        </p:spPr>
        <p:txBody>
          <a:bodyPr wrap="square" lIns="0" tIns="0" rIns="0" bIns="0" rtlCol="0" anchor="b"/>
          <a:lstStyle/>
          <a:p>
            <a:pPr indent="0" marL="0">
              <a:buNone/>
            </a:pPr>
            <a:r>
              <a:rPr lang="en-US" sz="1200" b="1" dirty="0">
                <a:solidFill>
                  <a:schemeClr val="accent1"/>
                </a:solidFill>
              </a:rPr>
              <a:t>Image mirror · crane · containerd · CoreDNS · Traefik · kind</a:t>
            </a:r>
            <a:endParaRPr lang="en-US" sz="1200" dirty="0"/>
          </a:p>
        </p:txBody>
      </p:sp>
      <p:sp>
        <p:nvSpPr>
          <p:cNvPr id="16" name="card Proven"/>
          <p:cNvSpPr/>
          <p:nvPr/>
        </p:nvSpPr>
        <p:spPr>
          <a:xfrm>
            <a:off x="8046720" y="1828800"/>
            <a:ext cx="3520440" cy="4206240"/>
          </a:xfrm>
          <a:prstGeom prst="roundRect">
            <a:avLst>
              <a:gd name="adj" fmla="val 2078"/>
            </a:avLst>
          </a:prstGeom>
          <a:solidFill>
            <a:schemeClr val="bg2"/>
          </a:solidFill>
          <a:ln w="12700">
            <a:solidFill>
              <a:schemeClr val="bg2"/>
            </a:solidFill>
            <a:prstDash val="solid"/>
          </a:ln>
        </p:spPr>
      </p:sp>
      <p:sp>
        <p:nvSpPr>
          <p:cNvPr id="17" name="Shape 13"/>
          <p:cNvSpPr/>
          <p:nvPr/>
        </p:nvSpPr>
        <p:spPr>
          <a:xfrm>
            <a:off x="8229600" y="2011680"/>
            <a:ext cx="731520" cy="731520"/>
          </a:xfrm>
          <a:prstGeom prst="ellipse">
            <a:avLst/>
          </a:prstGeom>
          <a:solidFill>
            <a:schemeClr val="accent2"/>
          </a:solidFill>
          <a:ln w="12700">
            <a:solidFill>
              <a:schemeClr val="accent2"/>
            </a:solidFill>
            <a:prstDash val="solid"/>
          </a:ln>
        </p:spPr>
      </p:sp>
      <p:pic>
        <p:nvPicPr>
          <p:cNvPr id="18" name="Image 2" descr="preencoded.png">    </p:cNvPr>
          <p:cNvPicPr>
            <a:picLocks noChangeAspect="1"/>
          </p:cNvPicPr>
          <p:nvPr/>
        </p:nvPicPr>
        <p:blipFill>
          <a:blip r:embed="rId3"/>
          <a:stretch>
            <a:fillRect/>
          </a:stretch>
        </p:blipFill>
        <p:spPr>
          <a:xfrm>
            <a:off x="8390534" y="2172614"/>
            <a:ext cx="409651" cy="409651"/>
          </a:xfrm>
          <a:prstGeom prst="rect">
            <a:avLst/>
          </a:prstGeom>
        </p:spPr>
      </p:pic>
      <p:sp>
        <p:nvSpPr>
          <p:cNvPr id="19" name="Text 14"/>
          <p:cNvSpPr txBox="1"/>
          <p:nvPr/>
        </p:nvSpPr>
        <p:spPr>
          <a:xfrm>
            <a:off x="9052560" y="1993392"/>
            <a:ext cx="2331720" cy="768096"/>
          </a:xfrm>
          <a:prstGeom prst="rect">
            <a:avLst/>
          </a:prstGeom>
          <a:noFill/>
          <a:ln/>
        </p:spPr>
        <p:txBody>
          <a:bodyPr wrap="square" lIns="0" tIns="0" rIns="0" bIns="0" rtlCol="0" anchor="ctr">
            <a:normAutofit/>
          </a:bodyPr>
          <a:lstStyle/>
          <a:p>
            <a:pPr indent="0" marL="0">
              <a:buNone/>
            </a:pPr>
            <a:r>
              <a:rPr lang="en-US" sz="2400" b="1" dirty="0">
                <a:solidFill>
                  <a:schemeClr val="tx2"/>
                </a:solidFill>
              </a:rPr>
              <a:t>Proven</a:t>
            </a:r>
            <a:endParaRPr lang="en-US" sz="2400" dirty="0"/>
          </a:p>
        </p:txBody>
      </p:sp>
      <p:sp>
        <p:nvSpPr>
          <p:cNvPr id="20" name="Text 15"/>
          <p:cNvSpPr txBox="1"/>
          <p:nvPr/>
        </p:nvSpPr>
        <p:spPr>
          <a:xfrm>
            <a:off x="8229600" y="2834640"/>
            <a:ext cx="3154680" cy="3063240"/>
          </a:xfrm>
          <a:prstGeom prst="rect">
            <a:avLst/>
          </a:prstGeom>
          <a:noFill/>
          <a:ln/>
        </p:spPr>
        <p:txBody>
          <a:bodyPr wrap="square" lIns="0" tIns="0" rIns="0" bIns="0" rtlCol="0" anchor="t"/>
          <a:lstStyle/>
          <a:p>
            <a:pPr indent="0" marL="0">
              <a:buNone/>
            </a:pPr>
            <a:r>
              <a:rPr lang="en-US" sz="1700" dirty="0">
                <a:solidFill>
                  <a:schemeClr val="tx1"/>
                </a:solidFill>
              </a:rPr>
              <a:t>Signatures are enforced at admission, and the kit itself was tested air-gapped before delivery.</a:t>
            </a:r>
            <a:endParaRPr lang="en-US" sz="1700" dirty="0"/>
          </a:p>
        </p:txBody>
      </p:sp>
      <p:sp>
        <p:nvSpPr>
          <p:cNvPr id="21" name="Text 16"/>
          <p:cNvSpPr txBox="1"/>
          <p:nvPr/>
        </p:nvSpPr>
        <p:spPr>
          <a:xfrm>
            <a:off x="8229600" y="4892040"/>
            <a:ext cx="3154680" cy="914400"/>
          </a:xfrm>
          <a:prstGeom prst="rect">
            <a:avLst/>
          </a:prstGeom>
          <a:noFill/>
          <a:ln/>
        </p:spPr>
        <p:txBody>
          <a:bodyPr wrap="square" lIns="0" tIns="0" rIns="0" bIns="0" rtlCol="0" anchor="b"/>
          <a:lstStyle/>
          <a:p>
            <a:pPr indent="0" marL="0">
              <a:buNone/>
            </a:pPr>
            <a:r>
              <a:rPr lang="en-US" sz="1200" b="1" dirty="0">
                <a:solidFill>
                  <a:schemeClr val="accent1"/>
                </a:solidFill>
              </a:rPr>
              <a:t>Kyverno · Gatekeeper · Docker Compose · Kyverno CLI · gator</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8EAD"/>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Seven groups, 44 tools and components</a:t>
            </a:r>
            <a:endParaRPr lang="en-US" sz="3200" dirty="0"/>
          </a:p>
        </p:txBody>
      </p:sp>
      <p:sp>
        <p:nvSpPr>
          <p:cNvPr id="3" name="card Workstation tools"/>
          <p:cNvSpPr/>
          <p:nvPr/>
        </p:nvSpPr>
        <p:spPr>
          <a:xfrm>
            <a:off x="548640" y="1371600"/>
            <a:ext cx="2606040" cy="2286000"/>
          </a:xfrm>
          <a:prstGeom prst="roundRect">
            <a:avLst>
              <a:gd name="adj" fmla="val 3200"/>
            </a:avLst>
          </a:prstGeom>
          <a:solidFill>
            <a:schemeClr val="bg2"/>
          </a:solidFill>
          <a:ln w="12700">
            <a:solidFill>
              <a:schemeClr val="bg2"/>
            </a:solidFill>
            <a:prstDash val="solid"/>
          </a:ln>
        </p:spPr>
      </p:sp>
      <p:sp>
        <p:nvSpPr>
          <p:cNvPr id="4" name="Shape 2"/>
          <p:cNvSpPr/>
          <p:nvPr/>
        </p:nvSpPr>
        <p:spPr>
          <a:xfrm>
            <a:off x="731520" y="1554480"/>
            <a:ext cx="475488" cy="475488"/>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36127" y="1659087"/>
            <a:ext cx="266273" cy="266273"/>
          </a:xfrm>
          <a:prstGeom prst="rect">
            <a:avLst/>
          </a:prstGeom>
        </p:spPr>
      </p:pic>
      <p:sp>
        <p:nvSpPr>
          <p:cNvPr id="6" name="Text 3"/>
          <p:cNvSpPr txBox="1"/>
          <p:nvPr/>
        </p:nvSpPr>
        <p:spPr>
          <a:xfrm>
            <a:off x="1298448" y="1536192"/>
            <a:ext cx="1673352" cy="512064"/>
          </a:xfrm>
          <a:prstGeom prst="rect">
            <a:avLst/>
          </a:prstGeom>
          <a:noFill/>
          <a:ln/>
        </p:spPr>
        <p:txBody>
          <a:bodyPr wrap="square" lIns="0" tIns="0" rIns="0" bIns="0" rtlCol="0" anchor="ctr">
            <a:normAutofit/>
          </a:bodyPr>
          <a:lstStyle/>
          <a:p>
            <a:pPr indent="0" marL="0">
              <a:buNone/>
            </a:pPr>
            <a:r>
              <a:rPr lang="en-US" sz="1600" b="1" dirty="0">
                <a:solidFill>
                  <a:schemeClr val="tx2"/>
                </a:solidFill>
              </a:rPr>
              <a:t>Workstation tools</a:t>
            </a:r>
            <a:endParaRPr lang="en-US" sz="1600" dirty="0"/>
          </a:p>
        </p:txBody>
      </p:sp>
      <p:sp>
        <p:nvSpPr>
          <p:cNvPr id="7" name="Text 4"/>
          <p:cNvSpPr txBox="1"/>
          <p:nvPr/>
        </p:nvSpPr>
        <p:spPr>
          <a:xfrm>
            <a:off x="731520" y="2121408"/>
            <a:ext cx="2240280" cy="1399032"/>
          </a:xfrm>
          <a:prstGeom prst="rect">
            <a:avLst/>
          </a:prstGeom>
          <a:noFill/>
          <a:ln/>
        </p:spPr>
        <p:txBody>
          <a:bodyPr wrap="square" lIns="0" tIns="0" rIns="0" bIns="0" rtlCol="0" anchor="t"/>
          <a:lstStyle/>
          <a:p>
            <a:pPr indent="0" marL="0">
              <a:buNone/>
            </a:pPr>
            <a:r>
              <a:rPr lang="en-US" sz="1400" dirty="0">
                <a:solidFill>
                  <a:schemeClr val="tx1"/>
                </a:solidFill>
              </a:rPr>
              <a:t>Run on your laptop</a:t>
            </a:r>
            <a:endParaRPr lang="en-US" sz="1400" dirty="0"/>
          </a:p>
        </p:txBody>
      </p:sp>
      <p:sp>
        <p:nvSpPr>
          <p:cNvPr id="8" name="Text 5"/>
          <p:cNvSpPr txBox="1"/>
          <p:nvPr/>
        </p:nvSpPr>
        <p:spPr>
          <a:xfrm>
            <a:off x="2103120" y="2788920"/>
            <a:ext cx="914400" cy="731520"/>
          </a:xfrm>
          <a:prstGeom prst="rect">
            <a:avLst/>
          </a:prstGeom>
          <a:noFill/>
          <a:ln/>
        </p:spPr>
        <p:txBody>
          <a:bodyPr wrap="square" lIns="0" tIns="0" rIns="0" bIns="0" rtlCol="0" anchor="ctr"/>
          <a:lstStyle/>
          <a:p>
            <a:pPr algn="r" indent="0" marL="0">
              <a:buNone/>
            </a:pPr>
            <a:r>
              <a:rPr lang="en-US" sz="4000" b="1" dirty="0">
                <a:solidFill>
                  <a:schemeClr val="accent1"/>
                </a:solidFill>
              </a:rPr>
              <a:t>12</a:t>
            </a:r>
            <a:endParaRPr lang="en-US" sz="4000" dirty="0"/>
          </a:p>
        </p:txBody>
      </p:sp>
      <p:sp>
        <p:nvSpPr>
          <p:cNvPr id="9" name="card Cluster platform"/>
          <p:cNvSpPr/>
          <p:nvPr/>
        </p:nvSpPr>
        <p:spPr>
          <a:xfrm>
            <a:off x="3355848" y="1371600"/>
            <a:ext cx="2606040" cy="2286000"/>
          </a:xfrm>
          <a:prstGeom prst="roundRect">
            <a:avLst>
              <a:gd name="adj" fmla="val 3200"/>
            </a:avLst>
          </a:prstGeom>
          <a:solidFill>
            <a:schemeClr val="bg2"/>
          </a:solidFill>
          <a:ln w="12700">
            <a:solidFill>
              <a:schemeClr val="bg2"/>
            </a:solidFill>
            <a:prstDash val="solid"/>
          </a:ln>
        </p:spPr>
      </p:sp>
      <p:sp>
        <p:nvSpPr>
          <p:cNvPr id="10" name="Shape 7"/>
          <p:cNvSpPr/>
          <p:nvPr/>
        </p:nvSpPr>
        <p:spPr>
          <a:xfrm>
            <a:off x="3538728" y="1554480"/>
            <a:ext cx="475488" cy="475488"/>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3643335" y="1659087"/>
            <a:ext cx="266273" cy="266273"/>
          </a:xfrm>
          <a:prstGeom prst="rect">
            <a:avLst/>
          </a:prstGeom>
        </p:spPr>
      </p:pic>
      <p:sp>
        <p:nvSpPr>
          <p:cNvPr id="12" name="Text 8"/>
          <p:cNvSpPr txBox="1"/>
          <p:nvPr/>
        </p:nvSpPr>
        <p:spPr>
          <a:xfrm>
            <a:off x="4105656" y="1536192"/>
            <a:ext cx="1673352" cy="512064"/>
          </a:xfrm>
          <a:prstGeom prst="rect">
            <a:avLst/>
          </a:prstGeom>
          <a:noFill/>
          <a:ln/>
        </p:spPr>
        <p:txBody>
          <a:bodyPr wrap="square" lIns="0" tIns="0" rIns="0" bIns="0" rtlCol="0" anchor="ctr">
            <a:normAutofit/>
          </a:bodyPr>
          <a:lstStyle/>
          <a:p>
            <a:pPr indent="0" marL="0">
              <a:buNone/>
            </a:pPr>
            <a:r>
              <a:rPr lang="en-US" sz="1600" b="1" dirty="0">
                <a:solidFill>
                  <a:schemeClr val="tx2"/>
                </a:solidFill>
              </a:rPr>
              <a:t>Cluster platform</a:t>
            </a:r>
            <a:endParaRPr lang="en-US" sz="1600" dirty="0"/>
          </a:p>
        </p:txBody>
      </p:sp>
      <p:sp>
        <p:nvSpPr>
          <p:cNvPr id="13" name="Text 9"/>
          <p:cNvSpPr txBox="1"/>
          <p:nvPr/>
        </p:nvSpPr>
        <p:spPr>
          <a:xfrm>
            <a:off x="3538728" y="2121408"/>
            <a:ext cx="2240280" cy="1399032"/>
          </a:xfrm>
          <a:prstGeom prst="rect">
            <a:avLst/>
          </a:prstGeom>
          <a:noFill/>
          <a:ln/>
        </p:spPr>
        <p:txBody>
          <a:bodyPr wrap="square" lIns="0" tIns="0" rIns="0" bIns="0" rtlCol="0" anchor="t"/>
          <a:lstStyle/>
          <a:p>
            <a:pPr indent="0" marL="0">
              <a:buNone/>
            </a:pPr>
            <a:r>
              <a:rPr lang="en-US" sz="1400" dirty="0">
                <a:solidFill>
                  <a:schemeClr val="tx1"/>
                </a:solidFill>
              </a:rPr>
              <a:t>Plumbing inside Kubernetes</a:t>
            </a:r>
            <a:endParaRPr lang="en-US" sz="1400" dirty="0"/>
          </a:p>
        </p:txBody>
      </p:sp>
      <p:sp>
        <p:nvSpPr>
          <p:cNvPr id="14" name="Text 10"/>
          <p:cNvSpPr txBox="1"/>
          <p:nvPr/>
        </p:nvSpPr>
        <p:spPr>
          <a:xfrm>
            <a:off x="4910328" y="2788920"/>
            <a:ext cx="914400" cy="731520"/>
          </a:xfrm>
          <a:prstGeom prst="rect">
            <a:avLst/>
          </a:prstGeom>
          <a:noFill/>
          <a:ln/>
        </p:spPr>
        <p:txBody>
          <a:bodyPr wrap="square" lIns="0" tIns="0" rIns="0" bIns="0" rtlCol="0" anchor="ctr"/>
          <a:lstStyle/>
          <a:p>
            <a:pPr algn="r" indent="0" marL="0">
              <a:buNone/>
            </a:pPr>
            <a:r>
              <a:rPr lang="en-US" sz="4000" b="1" dirty="0">
                <a:solidFill>
                  <a:schemeClr val="accent1"/>
                </a:solidFill>
              </a:rPr>
              <a:t>5</a:t>
            </a:r>
            <a:endParaRPr lang="en-US" sz="4000" dirty="0"/>
          </a:p>
        </p:txBody>
      </p:sp>
      <p:sp>
        <p:nvSpPr>
          <p:cNvPr id="15" name="card Sigstore services"/>
          <p:cNvSpPr/>
          <p:nvPr/>
        </p:nvSpPr>
        <p:spPr>
          <a:xfrm>
            <a:off x="6163056" y="1371600"/>
            <a:ext cx="2606040" cy="2286000"/>
          </a:xfrm>
          <a:prstGeom prst="roundRect">
            <a:avLst>
              <a:gd name="adj" fmla="val 3200"/>
            </a:avLst>
          </a:prstGeom>
          <a:solidFill>
            <a:schemeClr val="bg2"/>
          </a:solidFill>
          <a:ln w="12700">
            <a:solidFill>
              <a:schemeClr val="bg2"/>
            </a:solidFill>
            <a:prstDash val="solid"/>
          </a:ln>
        </p:spPr>
      </p:sp>
      <p:sp>
        <p:nvSpPr>
          <p:cNvPr id="16" name="Shape 12"/>
          <p:cNvSpPr/>
          <p:nvPr/>
        </p:nvSpPr>
        <p:spPr>
          <a:xfrm>
            <a:off x="6345936" y="1554480"/>
            <a:ext cx="475488" cy="475488"/>
          </a:xfrm>
          <a:prstGeom prst="ellipse">
            <a:avLst/>
          </a:prstGeom>
          <a:solidFill>
            <a:schemeClr val="accent1"/>
          </a:solidFill>
          <a:ln w="12700">
            <a:solidFill>
              <a:schemeClr val="accent1"/>
            </a:solidFill>
            <a:prstDash val="solid"/>
          </a:ln>
        </p:spPr>
      </p:sp>
      <p:pic>
        <p:nvPicPr>
          <p:cNvPr id="17" name="Image 2" descr="preencoded.png">    </p:cNvPr>
          <p:cNvPicPr>
            <a:picLocks noChangeAspect="1"/>
          </p:cNvPicPr>
          <p:nvPr/>
        </p:nvPicPr>
        <p:blipFill>
          <a:blip r:embed="rId3"/>
          <a:stretch>
            <a:fillRect/>
          </a:stretch>
        </p:blipFill>
        <p:spPr>
          <a:xfrm>
            <a:off x="6450543" y="1659087"/>
            <a:ext cx="266273" cy="266273"/>
          </a:xfrm>
          <a:prstGeom prst="rect">
            <a:avLst/>
          </a:prstGeom>
        </p:spPr>
      </p:pic>
      <p:sp>
        <p:nvSpPr>
          <p:cNvPr id="18" name="Text 13"/>
          <p:cNvSpPr txBox="1"/>
          <p:nvPr/>
        </p:nvSpPr>
        <p:spPr>
          <a:xfrm>
            <a:off x="6912864" y="1536192"/>
            <a:ext cx="1673352" cy="512064"/>
          </a:xfrm>
          <a:prstGeom prst="rect">
            <a:avLst/>
          </a:prstGeom>
          <a:noFill/>
          <a:ln/>
        </p:spPr>
        <p:txBody>
          <a:bodyPr wrap="square" lIns="0" tIns="0" rIns="0" bIns="0" rtlCol="0" anchor="ctr">
            <a:normAutofit/>
          </a:bodyPr>
          <a:lstStyle/>
          <a:p>
            <a:pPr indent="0" marL="0">
              <a:buNone/>
            </a:pPr>
            <a:r>
              <a:rPr lang="en-US" sz="1600" b="1" dirty="0">
                <a:solidFill>
                  <a:schemeClr val="tx2"/>
                </a:solidFill>
              </a:rPr>
              <a:t>Sigstore services</a:t>
            </a:r>
            <a:endParaRPr lang="en-US" sz="1600" dirty="0"/>
          </a:p>
        </p:txBody>
      </p:sp>
      <p:sp>
        <p:nvSpPr>
          <p:cNvPr id="19" name="Text 14"/>
          <p:cNvSpPr txBox="1"/>
          <p:nvPr/>
        </p:nvSpPr>
        <p:spPr>
          <a:xfrm>
            <a:off x="6345936" y="2121408"/>
            <a:ext cx="2240280" cy="1399032"/>
          </a:xfrm>
          <a:prstGeom prst="rect">
            <a:avLst/>
          </a:prstGeom>
          <a:noFill/>
          <a:ln/>
        </p:spPr>
        <p:txBody>
          <a:bodyPr wrap="square" lIns="0" tIns="0" rIns="0" bIns="0" rtlCol="0" anchor="t"/>
          <a:lstStyle/>
          <a:p>
            <a:pPr indent="0" marL="0">
              <a:buNone/>
            </a:pPr>
            <a:r>
              <a:rPr lang="en-US" sz="1400" dirty="0">
                <a:solidFill>
                  <a:schemeClr val="tx1"/>
                </a:solidFill>
              </a:rPr>
              <a:t>The signing infrastructure</a:t>
            </a:r>
            <a:endParaRPr lang="en-US" sz="1400" dirty="0"/>
          </a:p>
        </p:txBody>
      </p:sp>
      <p:sp>
        <p:nvSpPr>
          <p:cNvPr id="20" name="Text 15"/>
          <p:cNvSpPr txBox="1"/>
          <p:nvPr/>
        </p:nvSpPr>
        <p:spPr>
          <a:xfrm>
            <a:off x="7717536" y="2788920"/>
            <a:ext cx="914400" cy="731520"/>
          </a:xfrm>
          <a:prstGeom prst="rect">
            <a:avLst/>
          </a:prstGeom>
          <a:noFill/>
          <a:ln/>
        </p:spPr>
        <p:txBody>
          <a:bodyPr wrap="square" lIns="0" tIns="0" rIns="0" bIns="0" rtlCol="0" anchor="ctr"/>
          <a:lstStyle/>
          <a:p>
            <a:pPr algn="r" indent="0" marL="0">
              <a:buNone/>
            </a:pPr>
            <a:r>
              <a:rPr lang="en-US" sz="4000" b="1" dirty="0">
                <a:solidFill>
                  <a:schemeClr val="accent1"/>
                </a:solidFill>
              </a:rPr>
              <a:t>6</a:t>
            </a:r>
            <a:endParaRPr lang="en-US" sz="4000" dirty="0"/>
          </a:p>
        </p:txBody>
      </p:sp>
      <p:sp>
        <p:nvSpPr>
          <p:cNvPr id="21" name="card Identity, trust &amp; storage"/>
          <p:cNvSpPr/>
          <p:nvPr/>
        </p:nvSpPr>
        <p:spPr>
          <a:xfrm>
            <a:off x="8970264" y="1371600"/>
            <a:ext cx="2606040" cy="2286000"/>
          </a:xfrm>
          <a:prstGeom prst="roundRect">
            <a:avLst>
              <a:gd name="adj" fmla="val 3200"/>
            </a:avLst>
          </a:prstGeom>
          <a:solidFill>
            <a:schemeClr val="bg2"/>
          </a:solidFill>
          <a:ln w="12700">
            <a:solidFill>
              <a:schemeClr val="bg2"/>
            </a:solidFill>
            <a:prstDash val="solid"/>
          </a:ln>
        </p:spPr>
      </p:sp>
      <p:sp>
        <p:nvSpPr>
          <p:cNvPr id="22" name="Shape 17"/>
          <p:cNvSpPr/>
          <p:nvPr/>
        </p:nvSpPr>
        <p:spPr>
          <a:xfrm>
            <a:off x="9153144" y="1554480"/>
            <a:ext cx="475488" cy="475488"/>
          </a:xfrm>
          <a:prstGeom prst="ellipse">
            <a:avLst/>
          </a:prstGeom>
          <a:solidFill>
            <a:schemeClr val="accent1"/>
          </a:solidFill>
          <a:ln w="12700">
            <a:solidFill>
              <a:schemeClr val="accent1"/>
            </a:solidFill>
            <a:prstDash val="solid"/>
          </a:ln>
        </p:spPr>
      </p:sp>
      <p:pic>
        <p:nvPicPr>
          <p:cNvPr id="23" name="Image 3" descr="preencoded.png">    </p:cNvPr>
          <p:cNvPicPr>
            <a:picLocks noChangeAspect="1"/>
          </p:cNvPicPr>
          <p:nvPr/>
        </p:nvPicPr>
        <p:blipFill>
          <a:blip r:embed="rId4"/>
          <a:stretch>
            <a:fillRect/>
          </a:stretch>
        </p:blipFill>
        <p:spPr>
          <a:xfrm>
            <a:off x="9257751" y="1659087"/>
            <a:ext cx="266273" cy="266273"/>
          </a:xfrm>
          <a:prstGeom prst="rect">
            <a:avLst/>
          </a:prstGeom>
        </p:spPr>
      </p:pic>
      <p:sp>
        <p:nvSpPr>
          <p:cNvPr id="24" name="Text 18"/>
          <p:cNvSpPr txBox="1"/>
          <p:nvPr/>
        </p:nvSpPr>
        <p:spPr>
          <a:xfrm>
            <a:off x="9720072" y="1536192"/>
            <a:ext cx="1673352" cy="512064"/>
          </a:xfrm>
          <a:prstGeom prst="rect">
            <a:avLst/>
          </a:prstGeom>
          <a:noFill/>
          <a:ln/>
        </p:spPr>
        <p:txBody>
          <a:bodyPr wrap="square" lIns="0" tIns="0" rIns="0" bIns="0" rtlCol="0" anchor="ctr">
            <a:normAutofit/>
          </a:bodyPr>
          <a:lstStyle/>
          <a:p>
            <a:pPr indent="0" marL="0">
              <a:buNone/>
            </a:pPr>
            <a:r>
              <a:rPr lang="en-US" sz="1600" b="1" dirty="0">
                <a:solidFill>
                  <a:schemeClr val="tx2"/>
                </a:solidFill>
              </a:rPr>
              <a:t>Identity, trust &amp; storage</a:t>
            </a:r>
            <a:endParaRPr lang="en-US" sz="1600" dirty="0"/>
          </a:p>
        </p:txBody>
      </p:sp>
      <p:sp>
        <p:nvSpPr>
          <p:cNvPr id="25" name="Text 19"/>
          <p:cNvSpPr txBox="1"/>
          <p:nvPr/>
        </p:nvSpPr>
        <p:spPr>
          <a:xfrm>
            <a:off x="9153144" y="2121408"/>
            <a:ext cx="2240280" cy="1399032"/>
          </a:xfrm>
          <a:prstGeom prst="rect">
            <a:avLst/>
          </a:prstGeom>
          <a:noFill/>
          <a:ln/>
        </p:spPr>
        <p:txBody>
          <a:bodyPr wrap="square" lIns="0" tIns="0" rIns="0" bIns="0" rtlCol="0" anchor="t"/>
          <a:lstStyle/>
          <a:p>
            <a:pPr indent="0" marL="0">
              <a:buNone/>
            </a:pPr>
            <a:r>
              <a:rPr lang="en-US" sz="1400" dirty="0">
                <a:solidFill>
                  <a:schemeClr val="tx1"/>
                </a:solidFill>
              </a:rPr>
              <a:t>Who signs, what to trust, where artifacts live</a:t>
            </a:r>
            <a:endParaRPr lang="en-US" sz="1400" dirty="0"/>
          </a:p>
        </p:txBody>
      </p:sp>
      <p:sp>
        <p:nvSpPr>
          <p:cNvPr id="26" name="Text 20"/>
          <p:cNvSpPr txBox="1"/>
          <p:nvPr/>
        </p:nvSpPr>
        <p:spPr>
          <a:xfrm>
            <a:off x="10524744" y="2788920"/>
            <a:ext cx="914400" cy="731520"/>
          </a:xfrm>
          <a:prstGeom prst="rect">
            <a:avLst/>
          </a:prstGeom>
          <a:noFill/>
          <a:ln/>
        </p:spPr>
        <p:txBody>
          <a:bodyPr wrap="square" lIns="0" tIns="0" rIns="0" bIns="0" rtlCol="0" anchor="ctr"/>
          <a:lstStyle/>
          <a:p>
            <a:pPr algn="r" indent="0" marL="0">
              <a:buNone/>
            </a:pPr>
            <a:r>
              <a:rPr lang="en-US" sz="4000" b="1" dirty="0">
                <a:solidFill>
                  <a:schemeClr val="accent1"/>
                </a:solidFill>
              </a:rPr>
              <a:t>4</a:t>
            </a:r>
            <a:endParaRPr lang="en-US" sz="4000" dirty="0"/>
          </a:p>
        </p:txBody>
      </p:sp>
      <p:sp>
        <p:nvSpPr>
          <p:cNvPr id="27" name="card Policy enforcement"/>
          <p:cNvSpPr/>
          <p:nvPr/>
        </p:nvSpPr>
        <p:spPr>
          <a:xfrm>
            <a:off x="548640" y="3886200"/>
            <a:ext cx="2606040" cy="2286000"/>
          </a:xfrm>
          <a:prstGeom prst="roundRect">
            <a:avLst>
              <a:gd name="adj" fmla="val 3200"/>
            </a:avLst>
          </a:prstGeom>
          <a:solidFill>
            <a:schemeClr val="bg2"/>
          </a:solidFill>
          <a:ln w="12700">
            <a:solidFill>
              <a:schemeClr val="bg2"/>
            </a:solidFill>
            <a:prstDash val="solid"/>
          </a:ln>
        </p:spPr>
      </p:sp>
      <p:sp>
        <p:nvSpPr>
          <p:cNvPr id="28" name="Shape 22"/>
          <p:cNvSpPr/>
          <p:nvPr/>
        </p:nvSpPr>
        <p:spPr>
          <a:xfrm>
            <a:off x="731520" y="4069080"/>
            <a:ext cx="475488" cy="475488"/>
          </a:xfrm>
          <a:prstGeom prst="ellipse">
            <a:avLst/>
          </a:prstGeom>
          <a:solidFill>
            <a:schemeClr val="accent1"/>
          </a:solidFill>
          <a:ln w="12700">
            <a:solidFill>
              <a:schemeClr val="accent1"/>
            </a:solidFill>
            <a:prstDash val="solid"/>
          </a:ln>
        </p:spPr>
      </p:sp>
      <p:pic>
        <p:nvPicPr>
          <p:cNvPr id="29" name="Image 4" descr="preencoded.png">    </p:cNvPr>
          <p:cNvPicPr>
            <a:picLocks noChangeAspect="1"/>
          </p:cNvPicPr>
          <p:nvPr/>
        </p:nvPicPr>
        <p:blipFill>
          <a:blip r:embed="rId5"/>
          <a:stretch>
            <a:fillRect/>
          </a:stretch>
        </p:blipFill>
        <p:spPr>
          <a:xfrm>
            <a:off x="836127" y="4173687"/>
            <a:ext cx="266273" cy="266273"/>
          </a:xfrm>
          <a:prstGeom prst="rect">
            <a:avLst/>
          </a:prstGeom>
        </p:spPr>
      </p:pic>
      <p:sp>
        <p:nvSpPr>
          <p:cNvPr id="30" name="Text 23"/>
          <p:cNvSpPr txBox="1"/>
          <p:nvPr/>
        </p:nvSpPr>
        <p:spPr>
          <a:xfrm>
            <a:off x="1298448" y="4050792"/>
            <a:ext cx="1673352" cy="512064"/>
          </a:xfrm>
          <a:prstGeom prst="rect">
            <a:avLst/>
          </a:prstGeom>
          <a:noFill/>
          <a:ln/>
        </p:spPr>
        <p:txBody>
          <a:bodyPr wrap="square" lIns="0" tIns="0" rIns="0" bIns="0" rtlCol="0" anchor="ctr">
            <a:normAutofit/>
          </a:bodyPr>
          <a:lstStyle/>
          <a:p>
            <a:pPr indent="0" marL="0">
              <a:buNone/>
            </a:pPr>
            <a:r>
              <a:rPr lang="en-US" sz="1600" b="1" dirty="0">
                <a:solidFill>
                  <a:schemeClr val="tx2"/>
                </a:solidFill>
              </a:rPr>
              <a:t>Policy enforcement</a:t>
            </a:r>
            <a:endParaRPr lang="en-US" sz="1600" dirty="0"/>
          </a:p>
        </p:txBody>
      </p:sp>
      <p:sp>
        <p:nvSpPr>
          <p:cNvPr id="31" name="Text 24"/>
          <p:cNvSpPr txBox="1"/>
          <p:nvPr/>
        </p:nvSpPr>
        <p:spPr>
          <a:xfrm>
            <a:off x="731520" y="4636008"/>
            <a:ext cx="2240280" cy="1399032"/>
          </a:xfrm>
          <a:prstGeom prst="rect">
            <a:avLst/>
          </a:prstGeom>
          <a:noFill/>
          <a:ln/>
        </p:spPr>
        <p:txBody>
          <a:bodyPr wrap="square" lIns="0" tIns="0" rIns="0" bIns="0" rtlCol="0" anchor="t"/>
          <a:lstStyle/>
          <a:p>
            <a:pPr indent="0" marL="0">
              <a:buNone/>
            </a:pPr>
            <a:r>
              <a:rPr lang="en-US" sz="1400" dirty="0">
                <a:solidFill>
                  <a:schemeClr val="tx1"/>
                </a:solidFill>
              </a:rPr>
              <a:t>Stop unsigned images</a:t>
            </a:r>
            <a:endParaRPr lang="en-US" sz="1400" dirty="0"/>
          </a:p>
        </p:txBody>
      </p:sp>
      <p:sp>
        <p:nvSpPr>
          <p:cNvPr id="32" name="Text 25"/>
          <p:cNvSpPr txBox="1"/>
          <p:nvPr/>
        </p:nvSpPr>
        <p:spPr>
          <a:xfrm>
            <a:off x="2103120" y="5303520"/>
            <a:ext cx="914400" cy="731520"/>
          </a:xfrm>
          <a:prstGeom prst="rect">
            <a:avLst/>
          </a:prstGeom>
          <a:noFill/>
          <a:ln/>
        </p:spPr>
        <p:txBody>
          <a:bodyPr wrap="square" lIns="0" tIns="0" rIns="0" bIns="0" rtlCol="0" anchor="ctr"/>
          <a:lstStyle/>
          <a:p>
            <a:pPr algn="r" indent="0" marL="0">
              <a:buNone/>
            </a:pPr>
            <a:r>
              <a:rPr lang="en-US" sz="4000" b="1" dirty="0">
                <a:solidFill>
                  <a:schemeClr val="accent1"/>
                </a:solidFill>
              </a:rPr>
              <a:t>3</a:t>
            </a:r>
            <a:endParaRPr lang="en-US" sz="4000" dirty="0"/>
          </a:p>
        </p:txBody>
      </p:sp>
      <p:sp>
        <p:nvSpPr>
          <p:cNvPr id="33" name="card Helper container images"/>
          <p:cNvSpPr/>
          <p:nvPr/>
        </p:nvSpPr>
        <p:spPr>
          <a:xfrm>
            <a:off x="3355848" y="3886200"/>
            <a:ext cx="2606040" cy="2286000"/>
          </a:xfrm>
          <a:prstGeom prst="roundRect">
            <a:avLst>
              <a:gd name="adj" fmla="val 3200"/>
            </a:avLst>
          </a:prstGeom>
          <a:solidFill>
            <a:schemeClr val="bg2"/>
          </a:solidFill>
          <a:ln w="12700">
            <a:solidFill>
              <a:schemeClr val="bg2"/>
            </a:solidFill>
            <a:prstDash val="solid"/>
          </a:ln>
        </p:spPr>
      </p:sp>
      <p:sp>
        <p:nvSpPr>
          <p:cNvPr id="34" name="Shape 27"/>
          <p:cNvSpPr/>
          <p:nvPr/>
        </p:nvSpPr>
        <p:spPr>
          <a:xfrm>
            <a:off x="3538728" y="4069080"/>
            <a:ext cx="475488" cy="475488"/>
          </a:xfrm>
          <a:prstGeom prst="ellipse">
            <a:avLst/>
          </a:prstGeom>
          <a:solidFill>
            <a:schemeClr val="accent1"/>
          </a:solidFill>
          <a:ln w="12700">
            <a:solidFill>
              <a:schemeClr val="accent1"/>
            </a:solidFill>
            <a:prstDash val="solid"/>
          </a:ln>
        </p:spPr>
      </p:sp>
      <p:pic>
        <p:nvPicPr>
          <p:cNvPr id="35" name="Image 5" descr="preencoded.png">    </p:cNvPr>
          <p:cNvPicPr>
            <a:picLocks noChangeAspect="1"/>
          </p:cNvPicPr>
          <p:nvPr/>
        </p:nvPicPr>
        <p:blipFill>
          <a:blip r:embed="rId6"/>
          <a:stretch>
            <a:fillRect/>
          </a:stretch>
        </p:blipFill>
        <p:spPr>
          <a:xfrm>
            <a:off x="3643335" y="4173687"/>
            <a:ext cx="266273" cy="266273"/>
          </a:xfrm>
          <a:prstGeom prst="rect">
            <a:avLst/>
          </a:prstGeom>
        </p:spPr>
      </p:pic>
      <p:sp>
        <p:nvSpPr>
          <p:cNvPr id="36" name="Text 28"/>
          <p:cNvSpPr txBox="1"/>
          <p:nvPr/>
        </p:nvSpPr>
        <p:spPr>
          <a:xfrm>
            <a:off x="4105656" y="4050792"/>
            <a:ext cx="1673352" cy="512064"/>
          </a:xfrm>
          <a:prstGeom prst="rect">
            <a:avLst/>
          </a:prstGeom>
          <a:noFill/>
          <a:ln/>
        </p:spPr>
        <p:txBody>
          <a:bodyPr wrap="square" lIns="0" tIns="0" rIns="0" bIns="0" rtlCol="0" anchor="ctr">
            <a:normAutofit/>
          </a:bodyPr>
          <a:lstStyle/>
          <a:p>
            <a:pPr indent="0" marL="0">
              <a:buNone/>
            </a:pPr>
            <a:r>
              <a:rPr lang="en-US" sz="1600" b="1" dirty="0">
                <a:solidFill>
                  <a:schemeClr val="tx2"/>
                </a:solidFill>
              </a:rPr>
              <a:t>Helper container images</a:t>
            </a:r>
            <a:endParaRPr lang="en-US" sz="1600" dirty="0"/>
          </a:p>
        </p:txBody>
      </p:sp>
      <p:sp>
        <p:nvSpPr>
          <p:cNvPr id="37" name="Text 29"/>
          <p:cNvSpPr txBox="1"/>
          <p:nvPr/>
        </p:nvSpPr>
        <p:spPr>
          <a:xfrm>
            <a:off x="3538728" y="4636008"/>
            <a:ext cx="2240280" cy="1399032"/>
          </a:xfrm>
          <a:prstGeom prst="rect">
            <a:avLst/>
          </a:prstGeom>
          <a:noFill/>
          <a:ln/>
        </p:spPr>
        <p:txBody>
          <a:bodyPr wrap="square" lIns="0" tIns="0" rIns="0" bIns="0" rtlCol="0" anchor="t"/>
          <a:lstStyle/>
          <a:p>
            <a:pPr indent="0" marL="0">
              <a:buNone/>
            </a:pPr>
            <a:r>
              <a:rPr lang="en-US" sz="1400" dirty="0">
                <a:solidFill>
                  <a:schemeClr val="tx1"/>
                </a:solidFill>
              </a:rPr>
              <a:t>Short-lived jobs and utilities</a:t>
            </a:r>
            <a:endParaRPr lang="en-US" sz="1400" dirty="0"/>
          </a:p>
        </p:txBody>
      </p:sp>
      <p:sp>
        <p:nvSpPr>
          <p:cNvPr id="38" name="Text 30"/>
          <p:cNvSpPr txBox="1"/>
          <p:nvPr/>
        </p:nvSpPr>
        <p:spPr>
          <a:xfrm>
            <a:off x="4910328" y="5303520"/>
            <a:ext cx="914400" cy="731520"/>
          </a:xfrm>
          <a:prstGeom prst="rect">
            <a:avLst/>
          </a:prstGeom>
          <a:noFill/>
          <a:ln/>
        </p:spPr>
        <p:txBody>
          <a:bodyPr wrap="square" lIns="0" tIns="0" rIns="0" bIns="0" rtlCol="0" anchor="ctr"/>
          <a:lstStyle/>
          <a:p>
            <a:pPr algn="r" indent="0" marL="0">
              <a:buNone/>
            </a:pPr>
            <a:r>
              <a:rPr lang="en-US" sz="4000" b="1" dirty="0">
                <a:solidFill>
                  <a:schemeClr val="accent1"/>
                </a:solidFill>
              </a:rPr>
              <a:t>6</a:t>
            </a:r>
            <a:endParaRPr lang="en-US" sz="4000" dirty="0"/>
          </a:p>
        </p:txBody>
      </p:sp>
      <p:sp>
        <p:nvSpPr>
          <p:cNvPr id="39" name="card Build &amp; test tools"/>
          <p:cNvSpPr/>
          <p:nvPr/>
        </p:nvSpPr>
        <p:spPr>
          <a:xfrm>
            <a:off x="6163056" y="3886200"/>
            <a:ext cx="2606040" cy="2286000"/>
          </a:xfrm>
          <a:prstGeom prst="roundRect">
            <a:avLst>
              <a:gd name="adj" fmla="val 3200"/>
            </a:avLst>
          </a:prstGeom>
          <a:solidFill>
            <a:schemeClr val="bg2"/>
          </a:solidFill>
          <a:ln w="12700">
            <a:solidFill>
              <a:schemeClr val="bg2"/>
            </a:solidFill>
            <a:prstDash val="solid"/>
          </a:ln>
        </p:spPr>
      </p:sp>
      <p:sp>
        <p:nvSpPr>
          <p:cNvPr id="40" name="Shape 32"/>
          <p:cNvSpPr/>
          <p:nvPr/>
        </p:nvSpPr>
        <p:spPr>
          <a:xfrm>
            <a:off x="6345936" y="4069080"/>
            <a:ext cx="475488" cy="475488"/>
          </a:xfrm>
          <a:prstGeom prst="ellipse">
            <a:avLst/>
          </a:prstGeom>
          <a:solidFill>
            <a:schemeClr val="accent1"/>
          </a:solidFill>
          <a:ln w="12700">
            <a:solidFill>
              <a:schemeClr val="accent1"/>
            </a:solidFill>
            <a:prstDash val="solid"/>
          </a:ln>
        </p:spPr>
      </p:sp>
      <p:pic>
        <p:nvPicPr>
          <p:cNvPr id="41" name="Image 6" descr="preencoded.png">    </p:cNvPr>
          <p:cNvPicPr>
            <a:picLocks noChangeAspect="1"/>
          </p:cNvPicPr>
          <p:nvPr/>
        </p:nvPicPr>
        <p:blipFill>
          <a:blip r:embed="rId7"/>
          <a:stretch>
            <a:fillRect/>
          </a:stretch>
        </p:blipFill>
        <p:spPr>
          <a:xfrm>
            <a:off x="6450543" y="4173687"/>
            <a:ext cx="266273" cy="266273"/>
          </a:xfrm>
          <a:prstGeom prst="rect">
            <a:avLst/>
          </a:prstGeom>
        </p:spPr>
      </p:pic>
      <p:sp>
        <p:nvSpPr>
          <p:cNvPr id="42" name="Text 33"/>
          <p:cNvSpPr txBox="1"/>
          <p:nvPr/>
        </p:nvSpPr>
        <p:spPr>
          <a:xfrm>
            <a:off x="6912864" y="4050792"/>
            <a:ext cx="1673352" cy="512064"/>
          </a:xfrm>
          <a:prstGeom prst="rect">
            <a:avLst/>
          </a:prstGeom>
          <a:noFill/>
          <a:ln/>
        </p:spPr>
        <p:txBody>
          <a:bodyPr wrap="square" lIns="0" tIns="0" rIns="0" bIns="0" rtlCol="0" anchor="ctr">
            <a:normAutofit/>
          </a:bodyPr>
          <a:lstStyle/>
          <a:p>
            <a:pPr indent="0" marL="0">
              <a:buNone/>
            </a:pPr>
            <a:r>
              <a:rPr lang="en-US" sz="1600" b="1" dirty="0">
                <a:solidFill>
                  <a:schemeClr val="tx2"/>
                </a:solidFill>
              </a:rPr>
              <a:t>Build &amp; test tools</a:t>
            </a:r>
            <a:endParaRPr lang="en-US" sz="1600" dirty="0"/>
          </a:p>
        </p:txBody>
      </p:sp>
      <p:sp>
        <p:nvSpPr>
          <p:cNvPr id="43" name="Text 34"/>
          <p:cNvSpPr txBox="1"/>
          <p:nvPr/>
        </p:nvSpPr>
        <p:spPr>
          <a:xfrm>
            <a:off x="6345936" y="4636008"/>
            <a:ext cx="2240280" cy="1399032"/>
          </a:xfrm>
          <a:prstGeom prst="rect">
            <a:avLst/>
          </a:prstGeom>
          <a:noFill/>
          <a:ln/>
        </p:spPr>
        <p:txBody>
          <a:bodyPr wrap="square" lIns="0" tIns="0" rIns="0" bIns="0" rtlCol="0" anchor="t"/>
          <a:lstStyle/>
          <a:p>
            <a:pPr indent="0" marL="0">
              <a:buNone/>
            </a:pPr>
            <a:r>
              <a:rPr lang="en-US" sz="1400" dirty="0">
                <a:solidFill>
                  <a:schemeClr val="tx1"/>
                </a:solidFill>
              </a:rPr>
              <a:t>Used to validate the kit</a:t>
            </a:r>
            <a:endParaRPr lang="en-US" sz="1400" dirty="0"/>
          </a:p>
        </p:txBody>
      </p:sp>
      <p:sp>
        <p:nvSpPr>
          <p:cNvPr id="44" name="Text 35"/>
          <p:cNvSpPr txBox="1"/>
          <p:nvPr/>
        </p:nvSpPr>
        <p:spPr>
          <a:xfrm>
            <a:off x="7717536" y="5303520"/>
            <a:ext cx="914400" cy="731520"/>
          </a:xfrm>
          <a:prstGeom prst="rect">
            <a:avLst/>
          </a:prstGeom>
          <a:noFill/>
          <a:ln/>
        </p:spPr>
        <p:txBody>
          <a:bodyPr wrap="square" lIns="0" tIns="0" rIns="0" bIns="0" rtlCol="0" anchor="ctr"/>
          <a:lstStyle/>
          <a:p>
            <a:pPr algn="r" indent="0" marL="0">
              <a:buNone/>
            </a:pPr>
            <a:r>
              <a:rPr lang="en-US" sz="4000" b="1" dirty="0">
                <a:solidFill>
                  <a:schemeClr val="accent1"/>
                </a:solidFill>
              </a:rPr>
              <a:t>8</a:t>
            </a:r>
            <a:endParaRPr lang="en-US" sz="4000" dirty="0"/>
          </a:p>
        </p:txBody>
      </p:sp>
      <p:sp>
        <p:nvSpPr>
          <p:cNvPr id="45" name="card Kit scripts"/>
          <p:cNvSpPr/>
          <p:nvPr/>
        </p:nvSpPr>
        <p:spPr>
          <a:xfrm>
            <a:off x="8970264" y="3886200"/>
            <a:ext cx="2606040" cy="2286000"/>
          </a:xfrm>
          <a:prstGeom prst="roundRect">
            <a:avLst>
              <a:gd name="adj" fmla="val 3200"/>
            </a:avLst>
          </a:prstGeom>
          <a:solidFill>
            <a:schemeClr val="bg2"/>
          </a:solidFill>
          <a:ln w="12700">
            <a:solidFill>
              <a:schemeClr val="bg2"/>
            </a:solidFill>
            <a:prstDash val="solid"/>
          </a:ln>
        </p:spPr>
      </p:sp>
      <p:sp>
        <p:nvSpPr>
          <p:cNvPr id="46" name="Shape 37"/>
          <p:cNvSpPr/>
          <p:nvPr/>
        </p:nvSpPr>
        <p:spPr>
          <a:xfrm>
            <a:off x="9153144" y="4069080"/>
            <a:ext cx="475488" cy="475488"/>
          </a:xfrm>
          <a:prstGeom prst="ellipse">
            <a:avLst/>
          </a:prstGeom>
          <a:solidFill>
            <a:schemeClr val="accent2"/>
          </a:solidFill>
          <a:ln w="12700">
            <a:solidFill>
              <a:schemeClr val="accent2"/>
            </a:solidFill>
            <a:prstDash val="solid"/>
          </a:ln>
        </p:spPr>
      </p:sp>
      <p:pic>
        <p:nvPicPr>
          <p:cNvPr id="47" name="Image 7" descr="preencoded.png">    </p:cNvPr>
          <p:cNvPicPr>
            <a:picLocks noChangeAspect="1"/>
          </p:cNvPicPr>
          <p:nvPr/>
        </p:nvPicPr>
        <p:blipFill>
          <a:blip r:embed="rId8"/>
          <a:stretch>
            <a:fillRect/>
          </a:stretch>
        </p:blipFill>
        <p:spPr>
          <a:xfrm>
            <a:off x="9257751" y="4173687"/>
            <a:ext cx="266273" cy="266273"/>
          </a:xfrm>
          <a:prstGeom prst="rect">
            <a:avLst/>
          </a:prstGeom>
        </p:spPr>
      </p:pic>
      <p:sp>
        <p:nvSpPr>
          <p:cNvPr id="48" name="Text 38"/>
          <p:cNvSpPr txBox="1"/>
          <p:nvPr/>
        </p:nvSpPr>
        <p:spPr>
          <a:xfrm>
            <a:off x="9720072" y="4050792"/>
            <a:ext cx="1673352" cy="512064"/>
          </a:xfrm>
          <a:prstGeom prst="rect">
            <a:avLst/>
          </a:prstGeom>
          <a:noFill/>
          <a:ln/>
        </p:spPr>
        <p:txBody>
          <a:bodyPr wrap="square" lIns="0" tIns="0" rIns="0" bIns="0" rtlCol="0" anchor="ctr">
            <a:normAutofit/>
          </a:bodyPr>
          <a:lstStyle/>
          <a:p>
            <a:pPr indent="0" marL="0">
              <a:buNone/>
            </a:pPr>
            <a:r>
              <a:rPr lang="en-US" sz="1600" b="1" dirty="0">
                <a:solidFill>
                  <a:schemeClr val="tx2"/>
                </a:solidFill>
              </a:rPr>
              <a:t>Kit scripts</a:t>
            </a:r>
            <a:endParaRPr lang="en-US" sz="1600" dirty="0"/>
          </a:p>
        </p:txBody>
      </p:sp>
      <p:sp>
        <p:nvSpPr>
          <p:cNvPr id="49" name="Text 39"/>
          <p:cNvSpPr txBox="1"/>
          <p:nvPr/>
        </p:nvSpPr>
        <p:spPr>
          <a:xfrm>
            <a:off x="9153144" y="4636008"/>
            <a:ext cx="2240280" cy="1399032"/>
          </a:xfrm>
          <a:prstGeom prst="rect">
            <a:avLst/>
          </a:prstGeom>
          <a:noFill/>
          <a:ln/>
        </p:spPr>
        <p:txBody>
          <a:bodyPr wrap="square" lIns="0" tIns="0" rIns="0" bIns="0" rtlCol="0" anchor="t"/>
          <a:lstStyle/>
          <a:p>
            <a:pPr indent="0" marL="0">
              <a:buNone/>
            </a:pPr>
            <a:r>
              <a:rPr lang="en-US" sz="1400" dirty="0">
                <a:solidFill>
                  <a:schemeClr val="tx1"/>
                </a:solidFill>
              </a:rPr>
              <a:t>00–13 install steps plus operations helpers</a:t>
            </a:r>
            <a:endParaRPr lang="en-US" sz="1400" dirty="0"/>
          </a:p>
        </p:txBody>
      </p:sp>
      <p:sp>
        <p:nvSpPr>
          <p:cNvPr id="50" name="Text 40"/>
          <p:cNvSpPr txBox="1"/>
          <p:nvPr/>
        </p:nvSpPr>
        <p:spPr>
          <a:xfrm>
            <a:off x="10524744" y="5303520"/>
            <a:ext cx="914400" cy="731520"/>
          </a:xfrm>
          <a:prstGeom prst="rect">
            <a:avLst/>
          </a:prstGeom>
          <a:noFill/>
          <a:ln/>
        </p:spPr>
        <p:txBody>
          <a:bodyPr wrap="square" lIns="0" tIns="0" rIns="0" bIns="0" rtlCol="0" anchor="ctr"/>
          <a:lstStyle/>
          <a:p>
            <a:pPr algn="r" indent="0" marL="0">
              <a:buNone/>
            </a:pPr>
            <a:r>
              <a:rPr lang="en-US" sz="4000" b="1" dirty="0">
                <a:solidFill>
                  <a:schemeClr val="accent2"/>
                </a:solidFill>
              </a:rPr>
              <a:t>21</a:t>
            </a:r>
            <a:endParaRPr lang="en-US" sz="4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8EAD"/>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How the tools work together on one signature</a:t>
            </a:r>
            <a:endParaRPr lang="en-US" sz="3200" dirty="0"/>
          </a:p>
        </p:txBody>
      </p:sp>
      <p:sp>
        <p:nvSpPr>
          <p:cNvPr id="3" name="Shape 1"/>
          <p:cNvSpPr/>
          <p:nvPr/>
        </p:nvSpPr>
        <p:spPr>
          <a:xfrm>
            <a:off x="548640" y="1554480"/>
            <a:ext cx="1463040" cy="4206240"/>
          </a:xfrm>
          <a:prstGeom prst="roundRect">
            <a:avLst>
              <a:gd name="adj" fmla="val 5000"/>
            </a:avLst>
          </a:prstGeom>
          <a:solidFill>
            <a:srgbClr val="DCEBEE"/>
          </a:solidFill>
          <a:ln w="12700">
            <a:solidFill>
              <a:srgbClr val="DCEBEE"/>
            </a:solidFill>
            <a:prstDash val="solid"/>
          </a:ln>
        </p:spPr>
      </p:sp>
      <p:sp>
        <p:nvSpPr>
          <p:cNvPr id="4" name="Text 2"/>
          <p:cNvSpPr txBox="1"/>
          <p:nvPr/>
        </p:nvSpPr>
        <p:spPr>
          <a:xfrm>
            <a:off x="548640" y="1691640"/>
            <a:ext cx="1463040" cy="411480"/>
          </a:xfrm>
          <a:prstGeom prst="rect">
            <a:avLst/>
          </a:prstGeom>
          <a:noFill/>
          <a:ln/>
        </p:spPr>
        <p:txBody>
          <a:bodyPr wrap="square" lIns="0" tIns="0" rIns="0" bIns="0" rtlCol="0" anchor="ctr"/>
          <a:lstStyle/>
          <a:p>
            <a:pPr algn="ctr" indent="0" marL="0">
              <a:buNone/>
            </a:pPr>
            <a:r>
              <a:rPr lang="en-US" sz="1600" b="1" dirty="0">
                <a:solidFill>
                  <a:schemeClr val="accent4"/>
                </a:solidFill>
              </a:rPr>
              <a:t>1</a:t>
            </a:r>
            <a:endParaRPr lang="en-US" sz="1600" dirty="0"/>
          </a:p>
        </p:txBody>
      </p:sp>
      <p:sp>
        <p:nvSpPr>
          <p:cNvPr id="5" name="Shape 3"/>
          <p:cNvSpPr/>
          <p:nvPr/>
        </p:nvSpPr>
        <p:spPr>
          <a:xfrm>
            <a:off x="868680" y="2148840"/>
            <a:ext cx="822960" cy="82296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051560" y="2331720"/>
            <a:ext cx="457200" cy="457200"/>
          </a:xfrm>
          <a:prstGeom prst="rect">
            <a:avLst/>
          </a:prstGeom>
        </p:spPr>
      </p:pic>
      <p:sp>
        <p:nvSpPr>
          <p:cNvPr id="7" name="Text 4"/>
          <p:cNvSpPr txBox="1"/>
          <p:nvPr/>
        </p:nvSpPr>
        <p:spPr>
          <a:xfrm>
            <a:off x="640080" y="3108960"/>
            <a:ext cx="1280160" cy="457200"/>
          </a:xfrm>
          <a:prstGeom prst="rect">
            <a:avLst/>
          </a:prstGeom>
          <a:noFill/>
          <a:ln/>
        </p:spPr>
        <p:txBody>
          <a:bodyPr wrap="square" lIns="0" tIns="0" rIns="0" bIns="0" rtlCol="0" anchor="ctr"/>
          <a:lstStyle/>
          <a:p>
            <a:pPr algn="ctr" indent="0" marL="0">
              <a:buNone/>
            </a:pPr>
            <a:r>
              <a:rPr lang="en-US" sz="1800" b="1" dirty="0">
                <a:solidFill>
                  <a:schemeClr val="tx2"/>
                </a:solidFill>
              </a:rPr>
              <a:t>Login</a:t>
            </a:r>
            <a:endParaRPr lang="en-US" sz="1800" dirty="0"/>
          </a:p>
        </p:txBody>
      </p:sp>
      <p:sp>
        <p:nvSpPr>
          <p:cNvPr id="8" name="Text 5"/>
          <p:cNvSpPr txBox="1"/>
          <p:nvPr/>
        </p:nvSpPr>
        <p:spPr>
          <a:xfrm>
            <a:off x="640080" y="3566160"/>
            <a:ext cx="1280160" cy="640080"/>
          </a:xfrm>
          <a:prstGeom prst="rect">
            <a:avLst/>
          </a:prstGeom>
          <a:noFill/>
          <a:ln/>
        </p:spPr>
        <p:txBody>
          <a:bodyPr wrap="square" lIns="0" tIns="0" rIns="0" bIns="0" rtlCol="0" anchor="t"/>
          <a:lstStyle/>
          <a:p>
            <a:pPr algn="ctr" indent="0" marL="0">
              <a:buNone/>
            </a:pPr>
            <a:r>
              <a:rPr lang="en-US" sz="1300" b="1" dirty="0">
                <a:solidFill>
                  <a:schemeClr val="accent1"/>
                </a:solidFill>
              </a:rPr>
              <a:t>Keycloak</a:t>
            </a:r>
            <a:endParaRPr lang="en-US" sz="1300" dirty="0"/>
          </a:p>
        </p:txBody>
      </p:sp>
      <p:sp>
        <p:nvSpPr>
          <p:cNvPr id="9" name="Text 6"/>
          <p:cNvSpPr txBox="1"/>
          <p:nvPr/>
        </p:nvSpPr>
        <p:spPr>
          <a:xfrm>
            <a:off x="658368" y="4251960"/>
            <a:ext cx="1243584" cy="1371600"/>
          </a:xfrm>
          <a:prstGeom prst="rect">
            <a:avLst/>
          </a:prstGeom>
          <a:noFill/>
          <a:ln/>
        </p:spPr>
        <p:txBody>
          <a:bodyPr wrap="square" lIns="0" tIns="0" rIns="0" bIns="0" rtlCol="0" anchor="t"/>
          <a:lstStyle/>
          <a:p>
            <a:pPr algn="ctr" indent="0" marL="0">
              <a:buNone/>
            </a:pPr>
            <a:r>
              <a:rPr lang="en-US" sz="1200" dirty="0">
                <a:solidFill>
                  <a:schemeClr val="tx1"/>
                </a:solidFill>
              </a:rPr>
              <a:t>Developer or CI gets an OIDC token</a:t>
            </a:r>
            <a:endParaRPr lang="en-US" sz="1200" dirty="0"/>
          </a:p>
        </p:txBody>
      </p:sp>
      <p:sp>
        <p:nvSpPr>
          <p:cNvPr id="10" name="Shape 7"/>
          <p:cNvSpPr/>
          <p:nvPr/>
        </p:nvSpPr>
        <p:spPr>
          <a:xfrm>
            <a:off x="2167128" y="1554480"/>
            <a:ext cx="1463040" cy="4206240"/>
          </a:xfrm>
          <a:prstGeom prst="roundRect">
            <a:avLst>
              <a:gd name="adj" fmla="val 5000"/>
            </a:avLst>
          </a:prstGeom>
          <a:solidFill>
            <a:schemeClr val="bg2"/>
          </a:solidFill>
          <a:ln w="12700">
            <a:solidFill>
              <a:schemeClr val="bg2"/>
            </a:solidFill>
            <a:prstDash val="solid"/>
          </a:ln>
        </p:spPr>
      </p:sp>
      <p:sp>
        <p:nvSpPr>
          <p:cNvPr id="11" name="Text 8"/>
          <p:cNvSpPr txBox="1"/>
          <p:nvPr/>
        </p:nvSpPr>
        <p:spPr>
          <a:xfrm>
            <a:off x="2167128" y="1691640"/>
            <a:ext cx="1463040" cy="411480"/>
          </a:xfrm>
          <a:prstGeom prst="rect">
            <a:avLst/>
          </a:prstGeom>
          <a:noFill/>
          <a:ln/>
        </p:spPr>
        <p:txBody>
          <a:bodyPr wrap="square" lIns="0" tIns="0" rIns="0" bIns="0" rtlCol="0" anchor="ctr"/>
          <a:lstStyle/>
          <a:p>
            <a:pPr algn="ctr" indent="0" marL="0">
              <a:buNone/>
            </a:pPr>
            <a:r>
              <a:rPr lang="en-US" sz="1600" b="1" dirty="0">
                <a:solidFill>
                  <a:schemeClr val="accent4"/>
                </a:solidFill>
              </a:rPr>
              <a:t>2</a:t>
            </a:r>
            <a:endParaRPr lang="en-US" sz="1600" dirty="0"/>
          </a:p>
        </p:txBody>
      </p:sp>
      <p:sp>
        <p:nvSpPr>
          <p:cNvPr id="12" name="Shape 9"/>
          <p:cNvSpPr/>
          <p:nvPr/>
        </p:nvSpPr>
        <p:spPr>
          <a:xfrm>
            <a:off x="2487168" y="2148840"/>
            <a:ext cx="822960" cy="822960"/>
          </a:xfrm>
          <a:prstGeom prst="ellipse">
            <a:avLst/>
          </a:prstGeom>
          <a:solidFill>
            <a:schemeClr val="accent1"/>
          </a:solidFill>
          <a:ln w="12700">
            <a:solidFill>
              <a:schemeClr val="accent1"/>
            </a:solidFill>
            <a:prstDash val="solid"/>
          </a:ln>
        </p:spPr>
      </p:sp>
      <p:pic>
        <p:nvPicPr>
          <p:cNvPr id="13" name="Image 1" descr="preencoded.png">    </p:cNvPr>
          <p:cNvPicPr>
            <a:picLocks noChangeAspect="1"/>
          </p:cNvPicPr>
          <p:nvPr/>
        </p:nvPicPr>
        <p:blipFill>
          <a:blip r:embed="rId2"/>
          <a:stretch>
            <a:fillRect/>
          </a:stretch>
        </p:blipFill>
        <p:spPr>
          <a:xfrm>
            <a:off x="2670048" y="2331720"/>
            <a:ext cx="457200" cy="457200"/>
          </a:xfrm>
          <a:prstGeom prst="rect">
            <a:avLst/>
          </a:prstGeom>
        </p:spPr>
      </p:pic>
      <p:sp>
        <p:nvSpPr>
          <p:cNvPr id="14" name="Text 10"/>
          <p:cNvSpPr txBox="1"/>
          <p:nvPr/>
        </p:nvSpPr>
        <p:spPr>
          <a:xfrm>
            <a:off x="2258568" y="3108960"/>
            <a:ext cx="1280160" cy="457200"/>
          </a:xfrm>
          <a:prstGeom prst="rect">
            <a:avLst/>
          </a:prstGeom>
          <a:noFill/>
          <a:ln/>
        </p:spPr>
        <p:txBody>
          <a:bodyPr wrap="square" lIns="0" tIns="0" rIns="0" bIns="0" rtlCol="0" anchor="ctr"/>
          <a:lstStyle/>
          <a:p>
            <a:pPr algn="ctr" indent="0" marL="0">
              <a:buNone/>
            </a:pPr>
            <a:r>
              <a:rPr lang="en-US" sz="1800" b="1" dirty="0">
                <a:solidFill>
                  <a:schemeClr val="tx2"/>
                </a:solidFill>
              </a:rPr>
              <a:t>Certify</a:t>
            </a:r>
            <a:endParaRPr lang="en-US" sz="1800" dirty="0"/>
          </a:p>
        </p:txBody>
      </p:sp>
      <p:sp>
        <p:nvSpPr>
          <p:cNvPr id="15" name="Text 11"/>
          <p:cNvSpPr txBox="1"/>
          <p:nvPr/>
        </p:nvSpPr>
        <p:spPr>
          <a:xfrm>
            <a:off x="2258568" y="3566160"/>
            <a:ext cx="1280160" cy="640080"/>
          </a:xfrm>
          <a:prstGeom prst="rect">
            <a:avLst/>
          </a:prstGeom>
          <a:noFill/>
          <a:ln/>
        </p:spPr>
        <p:txBody>
          <a:bodyPr wrap="square" lIns="0" tIns="0" rIns="0" bIns="0" rtlCol="0" anchor="t"/>
          <a:lstStyle/>
          <a:p>
            <a:pPr algn="ctr" indent="0" marL="0">
              <a:buNone/>
            </a:pPr>
            <a:r>
              <a:rPr lang="en-US" sz="1300" b="1" dirty="0">
                <a:solidFill>
                  <a:schemeClr val="accent1"/>
                </a:solidFill>
              </a:rPr>
              <a:t>Fulcio</a:t>
            </a:r>
            <a:endParaRPr lang="en-US" sz="1300" dirty="0"/>
          </a:p>
        </p:txBody>
      </p:sp>
      <p:sp>
        <p:nvSpPr>
          <p:cNvPr id="16" name="Text 12"/>
          <p:cNvSpPr txBox="1"/>
          <p:nvPr/>
        </p:nvSpPr>
        <p:spPr>
          <a:xfrm>
            <a:off x="2276856" y="4251960"/>
            <a:ext cx="1243584" cy="1371600"/>
          </a:xfrm>
          <a:prstGeom prst="rect">
            <a:avLst/>
          </a:prstGeom>
          <a:noFill/>
          <a:ln/>
        </p:spPr>
        <p:txBody>
          <a:bodyPr wrap="square" lIns="0" tIns="0" rIns="0" bIns="0" rtlCol="0" anchor="t"/>
          <a:lstStyle/>
          <a:p>
            <a:pPr algn="ctr" indent="0" marL="0">
              <a:buNone/>
            </a:pPr>
            <a:r>
              <a:rPr lang="en-US" sz="1200" dirty="0">
                <a:solidFill>
                  <a:schemeClr val="tx1"/>
                </a:solidFill>
              </a:rPr>
              <a:t>Token → 10-minute certificate</a:t>
            </a:r>
            <a:endParaRPr lang="en-US" sz="1200" dirty="0"/>
          </a:p>
        </p:txBody>
      </p:sp>
      <p:sp>
        <p:nvSpPr>
          <p:cNvPr id="17" name="Shape 13"/>
          <p:cNvSpPr/>
          <p:nvPr/>
        </p:nvSpPr>
        <p:spPr>
          <a:xfrm>
            <a:off x="3785616" y="1554480"/>
            <a:ext cx="1463040" cy="4206240"/>
          </a:xfrm>
          <a:prstGeom prst="roundRect">
            <a:avLst>
              <a:gd name="adj" fmla="val 5000"/>
            </a:avLst>
          </a:prstGeom>
          <a:solidFill>
            <a:srgbClr val="DCEBEE"/>
          </a:solidFill>
          <a:ln w="12700">
            <a:solidFill>
              <a:srgbClr val="DCEBEE"/>
            </a:solidFill>
            <a:prstDash val="solid"/>
          </a:ln>
        </p:spPr>
      </p:sp>
      <p:sp>
        <p:nvSpPr>
          <p:cNvPr id="18" name="Text 14"/>
          <p:cNvSpPr txBox="1"/>
          <p:nvPr/>
        </p:nvSpPr>
        <p:spPr>
          <a:xfrm>
            <a:off x="3785616" y="1691640"/>
            <a:ext cx="1463040" cy="411480"/>
          </a:xfrm>
          <a:prstGeom prst="rect">
            <a:avLst/>
          </a:prstGeom>
          <a:noFill/>
          <a:ln/>
        </p:spPr>
        <p:txBody>
          <a:bodyPr wrap="square" lIns="0" tIns="0" rIns="0" bIns="0" rtlCol="0" anchor="ctr"/>
          <a:lstStyle/>
          <a:p>
            <a:pPr algn="ctr" indent="0" marL="0">
              <a:buNone/>
            </a:pPr>
            <a:r>
              <a:rPr lang="en-US" sz="1600" b="1" dirty="0">
                <a:solidFill>
                  <a:schemeClr val="accent4"/>
                </a:solidFill>
              </a:rPr>
              <a:t>3</a:t>
            </a:r>
            <a:endParaRPr lang="en-US" sz="1600" dirty="0"/>
          </a:p>
        </p:txBody>
      </p:sp>
      <p:sp>
        <p:nvSpPr>
          <p:cNvPr id="19" name="Shape 15"/>
          <p:cNvSpPr/>
          <p:nvPr/>
        </p:nvSpPr>
        <p:spPr>
          <a:xfrm>
            <a:off x="4105656" y="2148840"/>
            <a:ext cx="822960" cy="822960"/>
          </a:xfrm>
          <a:prstGeom prst="ellipse">
            <a:avLst/>
          </a:prstGeom>
          <a:solidFill>
            <a:schemeClr val="accent1"/>
          </a:solidFill>
          <a:ln w="12700">
            <a:solidFill>
              <a:schemeClr val="accent1"/>
            </a:solidFill>
            <a:prstDash val="solid"/>
          </a:ln>
        </p:spPr>
      </p:sp>
      <p:pic>
        <p:nvPicPr>
          <p:cNvPr id="20" name="Image 2" descr="preencoded.png">    </p:cNvPr>
          <p:cNvPicPr>
            <a:picLocks noChangeAspect="1"/>
          </p:cNvPicPr>
          <p:nvPr/>
        </p:nvPicPr>
        <p:blipFill>
          <a:blip r:embed="rId3"/>
          <a:stretch>
            <a:fillRect/>
          </a:stretch>
        </p:blipFill>
        <p:spPr>
          <a:xfrm>
            <a:off x="4288536" y="2331720"/>
            <a:ext cx="457200" cy="457200"/>
          </a:xfrm>
          <a:prstGeom prst="rect">
            <a:avLst/>
          </a:prstGeom>
        </p:spPr>
      </p:pic>
      <p:sp>
        <p:nvSpPr>
          <p:cNvPr id="21" name="Text 16"/>
          <p:cNvSpPr txBox="1"/>
          <p:nvPr/>
        </p:nvSpPr>
        <p:spPr>
          <a:xfrm>
            <a:off x="3877056" y="3108960"/>
            <a:ext cx="1280160" cy="457200"/>
          </a:xfrm>
          <a:prstGeom prst="rect">
            <a:avLst/>
          </a:prstGeom>
          <a:noFill/>
          <a:ln/>
        </p:spPr>
        <p:txBody>
          <a:bodyPr wrap="square" lIns="0" tIns="0" rIns="0" bIns="0" rtlCol="0" anchor="ctr"/>
          <a:lstStyle/>
          <a:p>
            <a:pPr algn="ctr" indent="0" marL="0">
              <a:buNone/>
            </a:pPr>
            <a:r>
              <a:rPr lang="en-US" sz="1800" b="1" dirty="0">
                <a:solidFill>
                  <a:schemeClr val="tx2"/>
                </a:solidFill>
              </a:rPr>
              <a:t>Witness</a:t>
            </a:r>
            <a:endParaRPr lang="en-US" sz="1800" dirty="0"/>
          </a:p>
        </p:txBody>
      </p:sp>
      <p:sp>
        <p:nvSpPr>
          <p:cNvPr id="22" name="Text 17"/>
          <p:cNvSpPr txBox="1"/>
          <p:nvPr/>
        </p:nvSpPr>
        <p:spPr>
          <a:xfrm>
            <a:off x="3877056" y="3566160"/>
            <a:ext cx="1280160" cy="640080"/>
          </a:xfrm>
          <a:prstGeom prst="rect">
            <a:avLst/>
          </a:prstGeom>
          <a:noFill/>
          <a:ln/>
        </p:spPr>
        <p:txBody>
          <a:bodyPr wrap="square" lIns="0" tIns="0" rIns="0" bIns="0" rtlCol="0" anchor="t"/>
          <a:lstStyle/>
          <a:p>
            <a:pPr algn="ctr" indent="0" marL="0">
              <a:buNone/>
            </a:pPr>
            <a:r>
              <a:rPr lang="en-US" sz="1300" b="1" dirty="0">
                <a:solidFill>
                  <a:schemeClr val="accent1"/>
                </a:solidFill>
              </a:rPr>
              <a:t>CT log + Trillian</a:t>
            </a:r>
            <a:endParaRPr lang="en-US" sz="1300" dirty="0"/>
          </a:p>
        </p:txBody>
      </p:sp>
      <p:sp>
        <p:nvSpPr>
          <p:cNvPr id="23" name="Text 18"/>
          <p:cNvSpPr txBox="1"/>
          <p:nvPr/>
        </p:nvSpPr>
        <p:spPr>
          <a:xfrm>
            <a:off x="3895344" y="4251960"/>
            <a:ext cx="1243584" cy="1371600"/>
          </a:xfrm>
          <a:prstGeom prst="rect">
            <a:avLst/>
          </a:prstGeom>
          <a:noFill/>
          <a:ln/>
        </p:spPr>
        <p:txBody>
          <a:bodyPr wrap="square" lIns="0" tIns="0" rIns="0" bIns="0" rtlCol="0" anchor="t"/>
          <a:lstStyle/>
          <a:p>
            <a:pPr algn="ctr" indent="0" marL="0">
              <a:buNone/>
            </a:pPr>
            <a:r>
              <a:rPr lang="en-US" sz="1200" dirty="0">
                <a:solidFill>
                  <a:schemeClr val="tx1"/>
                </a:solidFill>
              </a:rPr>
              <a:t>Certificate logged, SCT returned</a:t>
            </a:r>
            <a:endParaRPr lang="en-US" sz="1200" dirty="0"/>
          </a:p>
        </p:txBody>
      </p:sp>
      <p:sp>
        <p:nvSpPr>
          <p:cNvPr id="24" name="Shape 19"/>
          <p:cNvSpPr/>
          <p:nvPr/>
        </p:nvSpPr>
        <p:spPr>
          <a:xfrm>
            <a:off x="5404104" y="1554480"/>
            <a:ext cx="1463040" cy="4206240"/>
          </a:xfrm>
          <a:prstGeom prst="roundRect">
            <a:avLst>
              <a:gd name="adj" fmla="val 5000"/>
            </a:avLst>
          </a:prstGeom>
          <a:solidFill>
            <a:schemeClr val="bg2"/>
          </a:solidFill>
          <a:ln w="12700">
            <a:solidFill>
              <a:schemeClr val="bg2"/>
            </a:solidFill>
            <a:prstDash val="solid"/>
          </a:ln>
        </p:spPr>
      </p:sp>
      <p:sp>
        <p:nvSpPr>
          <p:cNvPr id="25" name="Text 20"/>
          <p:cNvSpPr txBox="1"/>
          <p:nvPr/>
        </p:nvSpPr>
        <p:spPr>
          <a:xfrm>
            <a:off x="5404104" y="1691640"/>
            <a:ext cx="1463040" cy="411480"/>
          </a:xfrm>
          <a:prstGeom prst="rect">
            <a:avLst/>
          </a:prstGeom>
          <a:noFill/>
          <a:ln/>
        </p:spPr>
        <p:txBody>
          <a:bodyPr wrap="square" lIns="0" tIns="0" rIns="0" bIns="0" rtlCol="0" anchor="ctr"/>
          <a:lstStyle/>
          <a:p>
            <a:pPr algn="ctr" indent="0" marL="0">
              <a:buNone/>
            </a:pPr>
            <a:r>
              <a:rPr lang="en-US" sz="1600" b="1" dirty="0">
                <a:solidFill>
                  <a:schemeClr val="accent4"/>
                </a:solidFill>
              </a:rPr>
              <a:t>4</a:t>
            </a:r>
            <a:endParaRPr lang="en-US" sz="1600" dirty="0"/>
          </a:p>
        </p:txBody>
      </p:sp>
      <p:sp>
        <p:nvSpPr>
          <p:cNvPr id="26" name="Shape 21"/>
          <p:cNvSpPr/>
          <p:nvPr/>
        </p:nvSpPr>
        <p:spPr>
          <a:xfrm>
            <a:off x="5724144" y="2148840"/>
            <a:ext cx="822960" cy="822960"/>
          </a:xfrm>
          <a:prstGeom prst="ellipse">
            <a:avLst/>
          </a:prstGeom>
          <a:solidFill>
            <a:schemeClr val="accent1"/>
          </a:solidFill>
          <a:ln w="12700">
            <a:solidFill>
              <a:schemeClr val="accent1"/>
            </a:solidFill>
            <a:prstDash val="solid"/>
          </a:ln>
        </p:spPr>
      </p:sp>
      <p:pic>
        <p:nvPicPr>
          <p:cNvPr id="27" name="Image 3" descr="preencoded.png">    </p:cNvPr>
          <p:cNvPicPr>
            <a:picLocks noChangeAspect="1"/>
          </p:cNvPicPr>
          <p:nvPr/>
        </p:nvPicPr>
        <p:blipFill>
          <a:blip r:embed="rId4"/>
          <a:stretch>
            <a:fillRect/>
          </a:stretch>
        </p:blipFill>
        <p:spPr>
          <a:xfrm>
            <a:off x="5907024" y="2331720"/>
            <a:ext cx="457200" cy="457200"/>
          </a:xfrm>
          <a:prstGeom prst="rect">
            <a:avLst/>
          </a:prstGeom>
        </p:spPr>
      </p:pic>
      <p:sp>
        <p:nvSpPr>
          <p:cNvPr id="28" name="Text 22"/>
          <p:cNvSpPr txBox="1"/>
          <p:nvPr/>
        </p:nvSpPr>
        <p:spPr>
          <a:xfrm>
            <a:off x="5495544" y="3108960"/>
            <a:ext cx="1280160" cy="457200"/>
          </a:xfrm>
          <a:prstGeom prst="rect">
            <a:avLst/>
          </a:prstGeom>
          <a:noFill/>
          <a:ln/>
        </p:spPr>
        <p:txBody>
          <a:bodyPr wrap="square" lIns="0" tIns="0" rIns="0" bIns="0" rtlCol="0" anchor="ctr"/>
          <a:lstStyle/>
          <a:p>
            <a:pPr algn="ctr" indent="0" marL="0">
              <a:buNone/>
            </a:pPr>
            <a:r>
              <a:rPr lang="en-US" sz="1800" b="1" dirty="0">
                <a:solidFill>
                  <a:schemeClr val="tx2"/>
                </a:solidFill>
              </a:rPr>
              <a:t>Sign</a:t>
            </a:r>
            <a:endParaRPr lang="en-US" sz="1800" dirty="0"/>
          </a:p>
        </p:txBody>
      </p:sp>
      <p:sp>
        <p:nvSpPr>
          <p:cNvPr id="29" name="Text 23"/>
          <p:cNvSpPr txBox="1"/>
          <p:nvPr/>
        </p:nvSpPr>
        <p:spPr>
          <a:xfrm>
            <a:off x="5495544" y="3566160"/>
            <a:ext cx="1280160" cy="640080"/>
          </a:xfrm>
          <a:prstGeom prst="rect">
            <a:avLst/>
          </a:prstGeom>
          <a:noFill/>
          <a:ln/>
        </p:spPr>
        <p:txBody>
          <a:bodyPr wrap="square" lIns="0" tIns="0" rIns="0" bIns="0" rtlCol="0" anchor="t"/>
          <a:lstStyle/>
          <a:p>
            <a:pPr algn="ctr" indent="0" marL="0">
              <a:buNone/>
            </a:pPr>
            <a:r>
              <a:rPr lang="en-US" sz="1300" b="1" dirty="0">
                <a:solidFill>
                  <a:schemeClr val="accent1"/>
                </a:solidFill>
              </a:rPr>
              <a:t>cosign</a:t>
            </a:r>
            <a:endParaRPr lang="en-US" sz="1300" dirty="0"/>
          </a:p>
        </p:txBody>
      </p:sp>
      <p:sp>
        <p:nvSpPr>
          <p:cNvPr id="30" name="Text 24"/>
          <p:cNvSpPr txBox="1"/>
          <p:nvPr/>
        </p:nvSpPr>
        <p:spPr>
          <a:xfrm>
            <a:off x="5513832" y="4251960"/>
            <a:ext cx="1243584" cy="1371600"/>
          </a:xfrm>
          <a:prstGeom prst="rect">
            <a:avLst/>
          </a:prstGeom>
          <a:noFill/>
          <a:ln/>
        </p:spPr>
        <p:txBody>
          <a:bodyPr wrap="square" lIns="0" tIns="0" rIns="0" bIns="0" rtlCol="0" anchor="t"/>
          <a:lstStyle/>
          <a:p>
            <a:pPr algn="ctr" indent="0" marL="0">
              <a:buNone/>
            </a:pPr>
            <a:r>
              <a:rPr lang="en-US" sz="1200" dirty="0">
                <a:solidFill>
                  <a:schemeClr val="tx1"/>
                </a:solidFill>
              </a:rPr>
              <a:t>Image digest signed with ephemeral key</a:t>
            </a:r>
            <a:endParaRPr lang="en-US" sz="1200" dirty="0"/>
          </a:p>
        </p:txBody>
      </p:sp>
      <p:sp>
        <p:nvSpPr>
          <p:cNvPr id="31" name="Shape 25"/>
          <p:cNvSpPr/>
          <p:nvPr/>
        </p:nvSpPr>
        <p:spPr>
          <a:xfrm>
            <a:off x="7022592" y="1554480"/>
            <a:ext cx="1463040" cy="4206240"/>
          </a:xfrm>
          <a:prstGeom prst="roundRect">
            <a:avLst>
              <a:gd name="adj" fmla="val 5000"/>
            </a:avLst>
          </a:prstGeom>
          <a:solidFill>
            <a:srgbClr val="DCEBEE"/>
          </a:solidFill>
          <a:ln w="12700">
            <a:solidFill>
              <a:srgbClr val="DCEBEE"/>
            </a:solidFill>
            <a:prstDash val="solid"/>
          </a:ln>
        </p:spPr>
      </p:sp>
      <p:sp>
        <p:nvSpPr>
          <p:cNvPr id="32" name="Text 26"/>
          <p:cNvSpPr txBox="1"/>
          <p:nvPr/>
        </p:nvSpPr>
        <p:spPr>
          <a:xfrm>
            <a:off x="7022592" y="1691640"/>
            <a:ext cx="1463040" cy="411480"/>
          </a:xfrm>
          <a:prstGeom prst="rect">
            <a:avLst/>
          </a:prstGeom>
          <a:noFill/>
          <a:ln/>
        </p:spPr>
        <p:txBody>
          <a:bodyPr wrap="square" lIns="0" tIns="0" rIns="0" bIns="0" rtlCol="0" anchor="ctr"/>
          <a:lstStyle/>
          <a:p>
            <a:pPr algn="ctr" indent="0" marL="0">
              <a:buNone/>
            </a:pPr>
            <a:r>
              <a:rPr lang="en-US" sz="1600" b="1" dirty="0">
                <a:solidFill>
                  <a:schemeClr val="accent4"/>
                </a:solidFill>
              </a:rPr>
              <a:t>5</a:t>
            </a:r>
            <a:endParaRPr lang="en-US" sz="1600" dirty="0"/>
          </a:p>
        </p:txBody>
      </p:sp>
      <p:sp>
        <p:nvSpPr>
          <p:cNvPr id="33" name="Shape 27"/>
          <p:cNvSpPr/>
          <p:nvPr/>
        </p:nvSpPr>
        <p:spPr>
          <a:xfrm>
            <a:off x="7342632" y="2148840"/>
            <a:ext cx="822960" cy="822960"/>
          </a:xfrm>
          <a:prstGeom prst="ellipse">
            <a:avLst/>
          </a:prstGeom>
          <a:solidFill>
            <a:schemeClr val="accent1"/>
          </a:solidFill>
          <a:ln w="12700">
            <a:solidFill>
              <a:schemeClr val="accent1"/>
            </a:solidFill>
            <a:prstDash val="solid"/>
          </a:ln>
        </p:spPr>
      </p:sp>
      <p:pic>
        <p:nvPicPr>
          <p:cNvPr id="34" name="Image 4" descr="preencoded.png">    </p:cNvPr>
          <p:cNvPicPr>
            <a:picLocks noChangeAspect="1"/>
          </p:cNvPicPr>
          <p:nvPr/>
        </p:nvPicPr>
        <p:blipFill>
          <a:blip r:embed="rId5"/>
          <a:stretch>
            <a:fillRect/>
          </a:stretch>
        </p:blipFill>
        <p:spPr>
          <a:xfrm>
            <a:off x="7525512" y="2331720"/>
            <a:ext cx="457200" cy="457200"/>
          </a:xfrm>
          <a:prstGeom prst="rect">
            <a:avLst/>
          </a:prstGeom>
        </p:spPr>
      </p:pic>
      <p:sp>
        <p:nvSpPr>
          <p:cNvPr id="35" name="Text 28"/>
          <p:cNvSpPr txBox="1"/>
          <p:nvPr/>
        </p:nvSpPr>
        <p:spPr>
          <a:xfrm>
            <a:off x="7114032" y="3108960"/>
            <a:ext cx="1280160" cy="457200"/>
          </a:xfrm>
          <a:prstGeom prst="rect">
            <a:avLst/>
          </a:prstGeom>
          <a:noFill/>
          <a:ln/>
        </p:spPr>
        <p:txBody>
          <a:bodyPr wrap="square" lIns="0" tIns="0" rIns="0" bIns="0" rtlCol="0" anchor="ctr"/>
          <a:lstStyle/>
          <a:p>
            <a:pPr algn="ctr" indent="0" marL="0">
              <a:buNone/>
            </a:pPr>
            <a:r>
              <a:rPr lang="en-US" sz="1800" b="1" dirty="0">
                <a:solidFill>
                  <a:schemeClr val="tx2"/>
                </a:solidFill>
              </a:rPr>
              <a:t>Record</a:t>
            </a:r>
            <a:endParaRPr lang="en-US" sz="1800" dirty="0"/>
          </a:p>
        </p:txBody>
      </p:sp>
      <p:sp>
        <p:nvSpPr>
          <p:cNvPr id="36" name="Text 29"/>
          <p:cNvSpPr txBox="1"/>
          <p:nvPr/>
        </p:nvSpPr>
        <p:spPr>
          <a:xfrm>
            <a:off x="7114032" y="3566160"/>
            <a:ext cx="1280160" cy="640080"/>
          </a:xfrm>
          <a:prstGeom prst="rect">
            <a:avLst/>
          </a:prstGeom>
          <a:noFill/>
          <a:ln/>
        </p:spPr>
        <p:txBody>
          <a:bodyPr wrap="square" lIns="0" tIns="0" rIns="0" bIns="0" rtlCol="0" anchor="t"/>
          <a:lstStyle/>
          <a:p>
            <a:pPr algn="ctr" indent="0" marL="0">
              <a:buNone/>
            </a:pPr>
            <a:r>
              <a:rPr lang="en-US" sz="1300" b="1" dirty="0">
                <a:solidFill>
                  <a:schemeClr val="accent1"/>
                </a:solidFill>
              </a:rPr>
              <a:t>Rekor + Trillian</a:t>
            </a:r>
            <a:endParaRPr lang="en-US" sz="1300" dirty="0"/>
          </a:p>
        </p:txBody>
      </p:sp>
      <p:sp>
        <p:nvSpPr>
          <p:cNvPr id="37" name="Text 30"/>
          <p:cNvSpPr txBox="1"/>
          <p:nvPr/>
        </p:nvSpPr>
        <p:spPr>
          <a:xfrm>
            <a:off x="7132320" y="4251960"/>
            <a:ext cx="1243584" cy="1371600"/>
          </a:xfrm>
          <a:prstGeom prst="rect">
            <a:avLst/>
          </a:prstGeom>
          <a:noFill/>
          <a:ln/>
        </p:spPr>
        <p:txBody>
          <a:bodyPr wrap="square" lIns="0" tIns="0" rIns="0" bIns="0" rtlCol="0" anchor="t"/>
          <a:lstStyle/>
          <a:p>
            <a:pPr algn="ctr" indent="0" marL="0">
              <a:buNone/>
            </a:pPr>
            <a:r>
              <a:rPr lang="en-US" sz="1200" dirty="0">
                <a:solidFill>
                  <a:schemeClr val="tx1"/>
                </a:solidFill>
              </a:rPr>
              <a:t>Signature logged, inclusion proof returned</a:t>
            </a:r>
            <a:endParaRPr lang="en-US" sz="1200" dirty="0"/>
          </a:p>
        </p:txBody>
      </p:sp>
      <p:sp>
        <p:nvSpPr>
          <p:cNvPr id="38" name="Shape 31"/>
          <p:cNvSpPr/>
          <p:nvPr/>
        </p:nvSpPr>
        <p:spPr>
          <a:xfrm>
            <a:off x="8641080" y="1554480"/>
            <a:ext cx="1463040" cy="4206240"/>
          </a:xfrm>
          <a:prstGeom prst="roundRect">
            <a:avLst>
              <a:gd name="adj" fmla="val 5000"/>
            </a:avLst>
          </a:prstGeom>
          <a:solidFill>
            <a:schemeClr val="bg2"/>
          </a:solidFill>
          <a:ln w="12700">
            <a:solidFill>
              <a:schemeClr val="bg2"/>
            </a:solidFill>
            <a:prstDash val="solid"/>
          </a:ln>
        </p:spPr>
      </p:sp>
      <p:sp>
        <p:nvSpPr>
          <p:cNvPr id="39" name="Text 32"/>
          <p:cNvSpPr txBox="1"/>
          <p:nvPr/>
        </p:nvSpPr>
        <p:spPr>
          <a:xfrm>
            <a:off x="8641080" y="1691640"/>
            <a:ext cx="1463040" cy="411480"/>
          </a:xfrm>
          <a:prstGeom prst="rect">
            <a:avLst/>
          </a:prstGeom>
          <a:noFill/>
          <a:ln/>
        </p:spPr>
        <p:txBody>
          <a:bodyPr wrap="square" lIns="0" tIns="0" rIns="0" bIns="0" rtlCol="0" anchor="ctr"/>
          <a:lstStyle/>
          <a:p>
            <a:pPr algn="ctr" indent="0" marL="0">
              <a:buNone/>
            </a:pPr>
            <a:r>
              <a:rPr lang="en-US" sz="1600" b="1" dirty="0">
                <a:solidFill>
                  <a:schemeClr val="accent4"/>
                </a:solidFill>
              </a:rPr>
              <a:t>6</a:t>
            </a:r>
            <a:endParaRPr lang="en-US" sz="1600" dirty="0"/>
          </a:p>
        </p:txBody>
      </p:sp>
      <p:sp>
        <p:nvSpPr>
          <p:cNvPr id="40" name="Shape 33"/>
          <p:cNvSpPr/>
          <p:nvPr/>
        </p:nvSpPr>
        <p:spPr>
          <a:xfrm>
            <a:off x="8961120" y="2148840"/>
            <a:ext cx="822960" cy="822960"/>
          </a:xfrm>
          <a:prstGeom prst="ellipse">
            <a:avLst/>
          </a:prstGeom>
          <a:solidFill>
            <a:schemeClr val="accent1"/>
          </a:solidFill>
          <a:ln w="12700">
            <a:solidFill>
              <a:schemeClr val="accent1"/>
            </a:solidFill>
            <a:prstDash val="solid"/>
          </a:ln>
        </p:spPr>
      </p:sp>
      <p:pic>
        <p:nvPicPr>
          <p:cNvPr id="41" name="Image 5" descr="preencoded.png">    </p:cNvPr>
          <p:cNvPicPr>
            <a:picLocks noChangeAspect="1"/>
          </p:cNvPicPr>
          <p:nvPr/>
        </p:nvPicPr>
        <p:blipFill>
          <a:blip r:embed="rId6"/>
          <a:stretch>
            <a:fillRect/>
          </a:stretch>
        </p:blipFill>
        <p:spPr>
          <a:xfrm>
            <a:off x="9144000" y="2331720"/>
            <a:ext cx="457200" cy="457200"/>
          </a:xfrm>
          <a:prstGeom prst="rect">
            <a:avLst/>
          </a:prstGeom>
        </p:spPr>
      </p:pic>
      <p:sp>
        <p:nvSpPr>
          <p:cNvPr id="42" name="Text 34"/>
          <p:cNvSpPr txBox="1"/>
          <p:nvPr/>
        </p:nvSpPr>
        <p:spPr>
          <a:xfrm>
            <a:off x="8732520" y="3108960"/>
            <a:ext cx="1280160" cy="457200"/>
          </a:xfrm>
          <a:prstGeom prst="rect">
            <a:avLst/>
          </a:prstGeom>
          <a:noFill/>
          <a:ln/>
        </p:spPr>
        <p:txBody>
          <a:bodyPr wrap="square" lIns="0" tIns="0" rIns="0" bIns="0" rtlCol="0" anchor="ctr"/>
          <a:lstStyle/>
          <a:p>
            <a:pPr algn="ctr" indent="0" marL="0">
              <a:buNone/>
            </a:pPr>
            <a:r>
              <a:rPr lang="en-US" sz="1800" b="1" dirty="0">
                <a:solidFill>
                  <a:schemeClr val="tx2"/>
                </a:solidFill>
              </a:rPr>
              <a:t>Store</a:t>
            </a:r>
            <a:endParaRPr lang="en-US" sz="1800" dirty="0"/>
          </a:p>
        </p:txBody>
      </p:sp>
      <p:sp>
        <p:nvSpPr>
          <p:cNvPr id="43" name="Text 35"/>
          <p:cNvSpPr txBox="1"/>
          <p:nvPr/>
        </p:nvSpPr>
        <p:spPr>
          <a:xfrm>
            <a:off x="8732520" y="3566160"/>
            <a:ext cx="1280160" cy="640080"/>
          </a:xfrm>
          <a:prstGeom prst="rect">
            <a:avLst/>
          </a:prstGeom>
          <a:noFill/>
          <a:ln/>
        </p:spPr>
        <p:txBody>
          <a:bodyPr wrap="square" lIns="0" tIns="0" rIns="0" bIns="0" rtlCol="0" anchor="t"/>
          <a:lstStyle/>
          <a:p>
            <a:pPr algn="ctr" indent="0" marL="0">
              <a:buNone/>
            </a:pPr>
            <a:r>
              <a:rPr lang="en-US" sz="1300" b="1" dirty="0">
                <a:solidFill>
                  <a:schemeClr val="accent1"/>
                </a:solidFill>
              </a:rPr>
              <a:t>Registry</a:t>
            </a:r>
            <a:endParaRPr lang="en-US" sz="1300" dirty="0"/>
          </a:p>
        </p:txBody>
      </p:sp>
      <p:sp>
        <p:nvSpPr>
          <p:cNvPr id="44" name="Text 36"/>
          <p:cNvSpPr txBox="1"/>
          <p:nvPr/>
        </p:nvSpPr>
        <p:spPr>
          <a:xfrm>
            <a:off x="8750808" y="4251960"/>
            <a:ext cx="1243584" cy="1371600"/>
          </a:xfrm>
          <a:prstGeom prst="rect">
            <a:avLst/>
          </a:prstGeom>
          <a:noFill/>
          <a:ln/>
        </p:spPr>
        <p:txBody>
          <a:bodyPr wrap="square" lIns="0" tIns="0" rIns="0" bIns="0" rtlCol="0" anchor="t"/>
          <a:lstStyle/>
          <a:p>
            <a:pPr algn="ctr" indent="0" marL="0">
              <a:buNone/>
            </a:pPr>
            <a:r>
              <a:rPr lang="en-US" sz="1200" dirty="0">
                <a:solidFill>
                  <a:schemeClr val="tx1"/>
                </a:solidFill>
              </a:rPr>
              <a:t>Bundle attached next to the image</a:t>
            </a:r>
            <a:endParaRPr lang="en-US" sz="1200" dirty="0"/>
          </a:p>
        </p:txBody>
      </p:sp>
      <p:sp>
        <p:nvSpPr>
          <p:cNvPr id="45" name="Shape 37"/>
          <p:cNvSpPr/>
          <p:nvPr/>
        </p:nvSpPr>
        <p:spPr>
          <a:xfrm>
            <a:off x="10259568" y="1554480"/>
            <a:ext cx="1463040" cy="4206240"/>
          </a:xfrm>
          <a:prstGeom prst="roundRect">
            <a:avLst>
              <a:gd name="adj" fmla="val 5000"/>
            </a:avLst>
          </a:prstGeom>
          <a:solidFill>
            <a:srgbClr val="DCEBEE"/>
          </a:solidFill>
          <a:ln w="12700">
            <a:solidFill>
              <a:srgbClr val="DCEBEE"/>
            </a:solidFill>
            <a:prstDash val="solid"/>
          </a:ln>
        </p:spPr>
      </p:sp>
      <p:sp>
        <p:nvSpPr>
          <p:cNvPr id="46" name="Text 38"/>
          <p:cNvSpPr txBox="1"/>
          <p:nvPr/>
        </p:nvSpPr>
        <p:spPr>
          <a:xfrm>
            <a:off x="10259568" y="1691640"/>
            <a:ext cx="1463040" cy="411480"/>
          </a:xfrm>
          <a:prstGeom prst="rect">
            <a:avLst/>
          </a:prstGeom>
          <a:noFill/>
          <a:ln/>
        </p:spPr>
        <p:txBody>
          <a:bodyPr wrap="square" lIns="0" tIns="0" rIns="0" bIns="0" rtlCol="0" anchor="ctr"/>
          <a:lstStyle/>
          <a:p>
            <a:pPr algn="ctr" indent="0" marL="0">
              <a:buNone/>
            </a:pPr>
            <a:r>
              <a:rPr lang="en-US" sz="1600" b="1" dirty="0">
                <a:solidFill>
                  <a:schemeClr val="accent4"/>
                </a:solidFill>
              </a:rPr>
              <a:t>7</a:t>
            </a:r>
            <a:endParaRPr lang="en-US" sz="1600" dirty="0"/>
          </a:p>
        </p:txBody>
      </p:sp>
      <p:sp>
        <p:nvSpPr>
          <p:cNvPr id="47" name="Shape 39"/>
          <p:cNvSpPr/>
          <p:nvPr/>
        </p:nvSpPr>
        <p:spPr>
          <a:xfrm>
            <a:off x="10579608" y="2148840"/>
            <a:ext cx="822960" cy="822960"/>
          </a:xfrm>
          <a:prstGeom prst="ellipse">
            <a:avLst/>
          </a:prstGeom>
          <a:solidFill>
            <a:schemeClr val="accent1"/>
          </a:solidFill>
          <a:ln w="12700">
            <a:solidFill>
              <a:schemeClr val="accent1"/>
            </a:solidFill>
            <a:prstDash val="solid"/>
          </a:ln>
        </p:spPr>
      </p:sp>
      <p:pic>
        <p:nvPicPr>
          <p:cNvPr id="48" name="Image 6" descr="preencoded.png">    </p:cNvPr>
          <p:cNvPicPr>
            <a:picLocks noChangeAspect="1"/>
          </p:cNvPicPr>
          <p:nvPr/>
        </p:nvPicPr>
        <p:blipFill>
          <a:blip r:embed="rId7"/>
          <a:stretch>
            <a:fillRect/>
          </a:stretch>
        </p:blipFill>
        <p:spPr>
          <a:xfrm>
            <a:off x="10762488" y="2331720"/>
            <a:ext cx="457200" cy="457200"/>
          </a:xfrm>
          <a:prstGeom prst="rect">
            <a:avLst/>
          </a:prstGeom>
        </p:spPr>
      </p:pic>
      <p:sp>
        <p:nvSpPr>
          <p:cNvPr id="49" name="Text 40"/>
          <p:cNvSpPr txBox="1"/>
          <p:nvPr/>
        </p:nvSpPr>
        <p:spPr>
          <a:xfrm>
            <a:off x="10351008" y="3108960"/>
            <a:ext cx="1280160" cy="457200"/>
          </a:xfrm>
          <a:prstGeom prst="rect">
            <a:avLst/>
          </a:prstGeom>
          <a:noFill/>
          <a:ln/>
        </p:spPr>
        <p:txBody>
          <a:bodyPr wrap="square" lIns="0" tIns="0" rIns="0" bIns="0" rtlCol="0" anchor="ctr"/>
          <a:lstStyle/>
          <a:p>
            <a:pPr algn="ctr" indent="0" marL="0">
              <a:buNone/>
            </a:pPr>
            <a:r>
              <a:rPr lang="en-US" sz="1800" b="1" dirty="0">
                <a:solidFill>
                  <a:schemeClr val="tx2"/>
                </a:solidFill>
              </a:rPr>
              <a:t>Enforce</a:t>
            </a:r>
            <a:endParaRPr lang="en-US" sz="1800" dirty="0"/>
          </a:p>
        </p:txBody>
      </p:sp>
      <p:sp>
        <p:nvSpPr>
          <p:cNvPr id="50" name="Text 41"/>
          <p:cNvSpPr txBox="1"/>
          <p:nvPr/>
        </p:nvSpPr>
        <p:spPr>
          <a:xfrm>
            <a:off x="10351008" y="3566160"/>
            <a:ext cx="1280160" cy="640080"/>
          </a:xfrm>
          <a:prstGeom prst="rect">
            <a:avLst/>
          </a:prstGeom>
          <a:noFill/>
          <a:ln/>
        </p:spPr>
        <p:txBody>
          <a:bodyPr wrap="square" lIns="0" tIns="0" rIns="0" bIns="0" rtlCol="0" anchor="t"/>
          <a:lstStyle/>
          <a:p>
            <a:pPr algn="ctr" indent="0" marL="0">
              <a:buNone/>
            </a:pPr>
            <a:r>
              <a:rPr lang="en-US" sz="1300" b="1" dirty="0">
                <a:solidFill>
                  <a:schemeClr val="accent1"/>
                </a:solidFill>
              </a:rPr>
              <a:t>Kyverno + TUF</a:t>
            </a:r>
            <a:endParaRPr lang="en-US" sz="1300" dirty="0"/>
          </a:p>
        </p:txBody>
      </p:sp>
      <p:sp>
        <p:nvSpPr>
          <p:cNvPr id="51" name="Text 42"/>
          <p:cNvSpPr txBox="1"/>
          <p:nvPr/>
        </p:nvSpPr>
        <p:spPr>
          <a:xfrm>
            <a:off x="10369296" y="4251960"/>
            <a:ext cx="1243584" cy="1371600"/>
          </a:xfrm>
          <a:prstGeom prst="rect">
            <a:avLst/>
          </a:prstGeom>
          <a:noFill/>
          <a:ln/>
        </p:spPr>
        <p:txBody>
          <a:bodyPr wrap="square" lIns="0" tIns="0" rIns="0" bIns="0" rtlCol="0" anchor="t"/>
          <a:lstStyle/>
          <a:p>
            <a:pPr algn="ctr" indent="0" marL="0">
              <a:buNone/>
            </a:pPr>
            <a:r>
              <a:rPr lang="en-US" sz="1200" dirty="0">
                <a:solidFill>
                  <a:schemeClr val="tx1"/>
                </a:solidFill>
              </a:rPr>
              <a:t>Only signed images admitted</a:t>
            </a:r>
            <a:endParaRPr lang="en-US" sz="1200" dirty="0"/>
          </a:p>
        </p:txBody>
      </p:sp>
      <p:sp>
        <p:nvSpPr>
          <p:cNvPr id="52" name="Text 43"/>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400" i="1" dirty="0">
                <a:solidFill>
                  <a:schemeClr val="accent4"/>
                </a:solidFill>
              </a:rPr>
              <a:t>Verification later needs only trusted_root.json — no service has to be online.</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8EAD"/>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7315200" cy="1097280"/>
          </a:xfrm>
          <a:prstGeom prst="rect">
            <a:avLst/>
          </a:prstGeom>
          <a:noFill/>
          <a:ln/>
        </p:spPr>
        <p:txBody>
          <a:bodyPr wrap="square" rtlCol="0" anchor="b"/>
          <a:lstStyle/>
          <a:p>
            <a:pPr algn="l" indent="0" marL="0">
              <a:buNone/>
            </a:pPr>
            <a:r>
              <a:rPr lang="en-US" sz="4000" b="1" dirty="0">
                <a:solidFill>
                  <a:schemeClr val="bg1"/>
                </a:solidFill>
              </a:rPr>
              <a:t>Workstation tools</a:t>
            </a:r>
            <a:endParaRPr lang="en-US" sz="4000" dirty="0"/>
          </a:p>
        </p:txBody>
      </p:sp>
      <p:sp>
        <p:nvSpPr>
          <p:cNvPr id="3" name="Text 0"/>
          <p:cNvSpPr/>
          <p:nvPr>
            <p:ph idx="101" type="body" hasCustomPrompt="1"/>
          </p:nvPr>
        </p:nvSpPr>
        <p:spPr>
          <a:xfrm>
            <a:off x="731520" y="3566160"/>
            <a:ext cx="7315200" cy="1280160"/>
          </a:xfrm>
          <a:prstGeom prst="rect">
            <a:avLst/>
          </a:prstGeom>
          <a:noFill/>
          <a:ln/>
        </p:spPr>
        <p:txBody>
          <a:bodyPr wrap="square" rtlCol="0" anchor="t"/>
          <a:lstStyle/>
          <a:p>
            <a:pPr indent="0" marL="0">
              <a:buNone/>
            </a:pPr>
            <a:r>
              <a:rPr lang="en-US" sz="1800" dirty="0">
                <a:solidFill>
                  <a:srgbClr val="9BC4CB"/>
                </a:solidFill>
              </a:rPr>
              <a:t>Command-line tools you run on the laptop (Linux or WSL2). All except the OS basics are downloaded once by 01-build-offline-bundle.sh into bundle/bin, so nothing is installed from the internet on the offline machine.</a:t>
            </a:r>
            <a:endParaRPr lang="en-US" sz="1800" dirty="0"/>
          </a:p>
        </p:txBody>
      </p:sp>
      <p:sp>
        <p:nvSpPr>
          <p:cNvPr id="4" name="Shape 2"/>
          <p:cNvSpPr/>
          <p:nvPr/>
        </p:nvSpPr>
        <p:spPr>
          <a:xfrm>
            <a:off x="8778240" y="2011680"/>
            <a:ext cx="2560320" cy="256032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464040" y="2697480"/>
            <a:ext cx="1188720" cy="1188720"/>
          </a:xfrm>
          <a:prstGeom prst="rect">
            <a:avLst/>
          </a:prstGeom>
        </p:spPr>
      </p:pic>
      <p:sp>
        <p:nvSpPr>
          <p:cNvPr id="6" name="Text 3"/>
          <p:cNvSpPr txBox="1"/>
          <p:nvPr/>
        </p:nvSpPr>
        <p:spPr>
          <a:xfrm>
            <a:off x="8778240" y="4754880"/>
            <a:ext cx="2560320" cy="457200"/>
          </a:xfrm>
          <a:prstGeom prst="rect">
            <a:avLst/>
          </a:prstGeom>
          <a:noFill/>
          <a:ln/>
        </p:spPr>
        <p:txBody>
          <a:bodyPr wrap="square" lIns="0" tIns="0" rIns="0" bIns="0" rtlCol="0" anchor="ctr"/>
          <a:lstStyle/>
          <a:p>
            <a:pPr algn="ctr" indent="0" marL="0">
              <a:buNone/>
            </a:pPr>
            <a:r>
              <a:rPr lang="en-US" sz="1800" b="1" dirty="0">
                <a:solidFill>
                  <a:srgbClr val="9BC4CB"/>
                </a:solidFill>
              </a:rPr>
              <a:t>12 tools</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BC4C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Workstation tools: what each one is for</a:t>
            </a:r>
            <a:endParaRPr lang="en-US" sz="3200" dirty="0"/>
          </a:p>
        </p:txBody>
      </p:sp>
      <p:sp>
        <p:nvSpPr>
          <p:cNvPr id="3" name="card Docker (Engine / Desktop)"/>
          <p:cNvSpPr/>
          <p:nvPr/>
        </p:nvSpPr>
        <p:spPr>
          <a:xfrm>
            <a:off x="548640" y="1325880"/>
            <a:ext cx="2594610" cy="1496568"/>
          </a:xfrm>
          <a:prstGeom prst="roundRect">
            <a:avLst>
              <a:gd name="adj" fmla="val 4888"/>
            </a:avLst>
          </a:prstGeom>
          <a:solidFill>
            <a:schemeClr val="bg2"/>
          </a:solidFill>
          <a:ln w="12700">
            <a:solidFill>
              <a:schemeClr val="bg2"/>
            </a:solidFill>
            <a:prstDash val="solid"/>
          </a:ln>
        </p:spPr>
      </p:sp>
      <p:sp>
        <p:nvSpPr>
          <p:cNvPr id="4" name="Shape 2"/>
          <p:cNvSpPr/>
          <p:nvPr/>
        </p:nvSpPr>
        <p:spPr>
          <a:xfrm>
            <a:off x="731520" y="1508760"/>
            <a:ext cx="457200" cy="45720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32104" y="1609344"/>
            <a:ext cx="256032" cy="256032"/>
          </a:xfrm>
          <a:prstGeom prst="rect">
            <a:avLst/>
          </a:prstGeom>
        </p:spPr>
      </p:pic>
      <p:sp>
        <p:nvSpPr>
          <p:cNvPr id="6" name="Text 3"/>
          <p:cNvSpPr txBox="1"/>
          <p:nvPr/>
        </p:nvSpPr>
        <p:spPr>
          <a:xfrm>
            <a:off x="1280160" y="1490472"/>
            <a:ext cx="1680210" cy="493776"/>
          </a:xfrm>
          <a:prstGeom prst="rect">
            <a:avLst/>
          </a:prstGeom>
          <a:noFill/>
          <a:ln/>
        </p:spPr>
        <p:txBody>
          <a:bodyPr wrap="square" lIns="0" tIns="0" rIns="0" bIns="0" rtlCol="0" anchor="ctr">
            <a:normAutofit/>
          </a:bodyPr>
          <a:lstStyle/>
          <a:p>
            <a:pPr indent="0" marL="0">
              <a:buNone/>
            </a:pPr>
            <a:r>
              <a:rPr lang="en-US" sz="1400" b="1" dirty="0">
                <a:solidFill>
                  <a:schemeClr val="tx2"/>
                </a:solidFill>
              </a:rPr>
              <a:t>Docker (Engine / Desktop)</a:t>
            </a:r>
            <a:endParaRPr lang="en-US" sz="1400" dirty="0"/>
          </a:p>
        </p:txBody>
      </p:sp>
      <p:sp>
        <p:nvSpPr>
          <p:cNvPr id="7" name="Text 4"/>
          <p:cNvSpPr txBox="1"/>
          <p:nvPr/>
        </p:nvSpPr>
        <p:spPr>
          <a:xfrm>
            <a:off x="731520" y="2039112"/>
            <a:ext cx="2228850" cy="274320"/>
          </a:xfrm>
          <a:prstGeom prst="rect">
            <a:avLst/>
          </a:prstGeom>
          <a:noFill/>
          <a:ln/>
        </p:spPr>
        <p:txBody>
          <a:bodyPr wrap="square" lIns="0" tIns="0" rIns="0" bIns="0" rtlCol="0" anchor="ctr"/>
          <a:lstStyle/>
          <a:p>
            <a:pPr indent="0" marL="0">
              <a:buNone/>
            </a:pPr>
            <a:r>
              <a:rPr lang="en-US" sz="1100" b="1" dirty="0">
                <a:solidFill>
                  <a:schemeClr val="accent1"/>
                </a:solidFill>
              </a:rPr>
              <a:t>24+ / Desktop 4.30+</a:t>
            </a:r>
            <a:endParaRPr lang="en-US" sz="1100" dirty="0"/>
          </a:p>
        </p:txBody>
      </p:sp>
      <p:sp>
        <p:nvSpPr>
          <p:cNvPr id="8" name="Text 5"/>
          <p:cNvSpPr txBox="1"/>
          <p:nvPr/>
        </p:nvSpPr>
        <p:spPr>
          <a:xfrm>
            <a:off x="731520" y="2350008"/>
            <a:ext cx="2228850" cy="353568"/>
          </a:xfrm>
          <a:prstGeom prst="rect">
            <a:avLst/>
          </a:prstGeom>
          <a:noFill/>
          <a:ln/>
        </p:spPr>
        <p:txBody>
          <a:bodyPr wrap="square" lIns="0" tIns="0" rIns="0" bIns="0" rtlCol="0" anchor="t"/>
          <a:lstStyle/>
          <a:p>
            <a:pPr indent="0" marL="0">
              <a:buNone/>
            </a:pPr>
            <a:r>
              <a:rPr lang="en-US" sz="1200" dirty="0">
                <a:solidFill>
                  <a:schemeClr val="tx1"/>
                </a:solidFill>
              </a:rPr>
              <a:t>Runs every container: kind node, mirror, TUF builder</a:t>
            </a:r>
            <a:endParaRPr lang="en-US" sz="1200" dirty="0"/>
          </a:p>
        </p:txBody>
      </p:sp>
      <p:sp>
        <p:nvSpPr>
          <p:cNvPr id="9" name="card WSL2 (Windows only)"/>
          <p:cNvSpPr/>
          <p:nvPr/>
        </p:nvSpPr>
        <p:spPr>
          <a:xfrm>
            <a:off x="3371850" y="1325880"/>
            <a:ext cx="2594610" cy="1496568"/>
          </a:xfrm>
          <a:prstGeom prst="roundRect">
            <a:avLst>
              <a:gd name="adj" fmla="val 4888"/>
            </a:avLst>
          </a:prstGeom>
          <a:solidFill>
            <a:schemeClr val="bg2"/>
          </a:solidFill>
          <a:ln w="12700">
            <a:solidFill>
              <a:schemeClr val="bg2"/>
            </a:solidFill>
            <a:prstDash val="solid"/>
          </a:ln>
        </p:spPr>
      </p:sp>
      <p:sp>
        <p:nvSpPr>
          <p:cNvPr id="10" name="Shape 7"/>
          <p:cNvSpPr/>
          <p:nvPr/>
        </p:nvSpPr>
        <p:spPr>
          <a:xfrm>
            <a:off x="3554730" y="1508760"/>
            <a:ext cx="457200" cy="45720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3655314" y="1609344"/>
            <a:ext cx="256032" cy="256032"/>
          </a:xfrm>
          <a:prstGeom prst="rect">
            <a:avLst/>
          </a:prstGeom>
        </p:spPr>
      </p:pic>
      <p:sp>
        <p:nvSpPr>
          <p:cNvPr id="12" name="Text 8"/>
          <p:cNvSpPr txBox="1"/>
          <p:nvPr/>
        </p:nvSpPr>
        <p:spPr>
          <a:xfrm>
            <a:off x="4103370" y="1490472"/>
            <a:ext cx="1680210" cy="493776"/>
          </a:xfrm>
          <a:prstGeom prst="rect">
            <a:avLst/>
          </a:prstGeom>
          <a:noFill/>
          <a:ln/>
        </p:spPr>
        <p:txBody>
          <a:bodyPr wrap="square" lIns="0" tIns="0" rIns="0" bIns="0" rtlCol="0" anchor="ctr">
            <a:normAutofit/>
          </a:bodyPr>
          <a:lstStyle/>
          <a:p>
            <a:pPr indent="0" marL="0">
              <a:buNone/>
            </a:pPr>
            <a:r>
              <a:rPr lang="en-US" sz="1400" b="1" dirty="0">
                <a:solidFill>
                  <a:schemeClr val="tx2"/>
                </a:solidFill>
              </a:rPr>
              <a:t>WSL2 (Windows only)</a:t>
            </a:r>
            <a:endParaRPr lang="en-US" sz="1400" dirty="0"/>
          </a:p>
        </p:txBody>
      </p:sp>
      <p:sp>
        <p:nvSpPr>
          <p:cNvPr id="13" name="Text 9"/>
          <p:cNvSpPr txBox="1"/>
          <p:nvPr/>
        </p:nvSpPr>
        <p:spPr>
          <a:xfrm>
            <a:off x="3554730" y="2039112"/>
            <a:ext cx="2228850" cy="274320"/>
          </a:xfrm>
          <a:prstGeom prst="rect">
            <a:avLst/>
          </a:prstGeom>
          <a:noFill/>
          <a:ln/>
        </p:spPr>
        <p:txBody>
          <a:bodyPr wrap="square" lIns="0" tIns="0" rIns="0" bIns="0" rtlCol="0" anchor="ctr"/>
          <a:lstStyle/>
          <a:p>
            <a:pPr indent="0" marL="0">
              <a:buNone/>
            </a:pPr>
            <a:r>
              <a:rPr lang="en-US" sz="1100" b="1" dirty="0">
                <a:solidFill>
                  <a:schemeClr val="accent1"/>
                </a:solidFill>
              </a:rPr>
              <a:t>Ubuntu 22.04/24.04</a:t>
            </a:r>
            <a:endParaRPr lang="en-US" sz="1100" dirty="0"/>
          </a:p>
        </p:txBody>
      </p:sp>
      <p:sp>
        <p:nvSpPr>
          <p:cNvPr id="14" name="Text 10"/>
          <p:cNvSpPr txBox="1"/>
          <p:nvPr/>
        </p:nvSpPr>
        <p:spPr>
          <a:xfrm>
            <a:off x="3554730" y="2350008"/>
            <a:ext cx="2228850" cy="353568"/>
          </a:xfrm>
          <a:prstGeom prst="rect">
            <a:avLst/>
          </a:prstGeom>
          <a:noFill/>
          <a:ln/>
        </p:spPr>
        <p:txBody>
          <a:bodyPr wrap="square" lIns="0" tIns="0" rIns="0" bIns="0" rtlCol="0" anchor="t"/>
          <a:lstStyle/>
          <a:p>
            <a:pPr indent="0" marL="0">
              <a:buNone/>
            </a:pPr>
            <a:r>
              <a:rPr lang="en-US" sz="1200" dirty="0">
                <a:solidFill>
                  <a:schemeClr val="tx1"/>
                </a:solidFill>
              </a:rPr>
              <a:t>Linux shell on Windows so the bash scripts run unchanged</a:t>
            </a:r>
            <a:endParaRPr lang="en-US" sz="1200" dirty="0"/>
          </a:p>
        </p:txBody>
      </p:sp>
      <p:sp>
        <p:nvSpPr>
          <p:cNvPr id="15" name="card kind"/>
          <p:cNvSpPr/>
          <p:nvPr/>
        </p:nvSpPr>
        <p:spPr>
          <a:xfrm>
            <a:off x="6195060" y="1325880"/>
            <a:ext cx="2594610" cy="1496568"/>
          </a:xfrm>
          <a:prstGeom prst="roundRect">
            <a:avLst>
              <a:gd name="adj" fmla="val 4888"/>
            </a:avLst>
          </a:prstGeom>
          <a:solidFill>
            <a:schemeClr val="bg2"/>
          </a:solidFill>
          <a:ln w="12700">
            <a:solidFill>
              <a:schemeClr val="bg2"/>
            </a:solidFill>
            <a:prstDash val="solid"/>
          </a:ln>
        </p:spPr>
      </p:sp>
      <p:sp>
        <p:nvSpPr>
          <p:cNvPr id="16" name="Shape 12"/>
          <p:cNvSpPr/>
          <p:nvPr/>
        </p:nvSpPr>
        <p:spPr>
          <a:xfrm>
            <a:off x="6377940" y="1508760"/>
            <a:ext cx="457200" cy="457200"/>
          </a:xfrm>
          <a:prstGeom prst="ellipse">
            <a:avLst/>
          </a:prstGeom>
          <a:solidFill>
            <a:schemeClr val="accent1"/>
          </a:solidFill>
          <a:ln w="12700">
            <a:solidFill>
              <a:schemeClr val="accent1"/>
            </a:solidFill>
            <a:prstDash val="solid"/>
          </a:ln>
        </p:spPr>
      </p:sp>
      <p:pic>
        <p:nvPicPr>
          <p:cNvPr id="17" name="Image 2" descr="preencoded.png">    </p:cNvPr>
          <p:cNvPicPr>
            <a:picLocks noChangeAspect="1"/>
          </p:cNvPicPr>
          <p:nvPr/>
        </p:nvPicPr>
        <p:blipFill>
          <a:blip r:embed="rId3"/>
          <a:stretch>
            <a:fillRect/>
          </a:stretch>
        </p:blipFill>
        <p:spPr>
          <a:xfrm>
            <a:off x="6478524" y="1609344"/>
            <a:ext cx="256032" cy="256032"/>
          </a:xfrm>
          <a:prstGeom prst="rect">
            <a:avLst/>
          </a:prstGeom>
        </p:spPr>
      </p:pic>
      <p:sp>
        <p:nvSpPr>
          <p:cNvPr id="18" name="Text 13"/>
          <p:cNvSpPr txBox="1"/>
          <p:nvPr/>
        </p:nvSpPr>
        <p:spPr>
          <a:xfrm>
            <a:off x="6926580" y="1490472"/>
            <a:ext cx="1680210" cy="493776"/>
          </a:xfrm>
          <a:prstGeom prst="rect">
            <a:avLst/>
          </a:prstGeom>
          <a:noFill/>
          <a:ln/>
        </p:spPr>
        <p:txBody>
          <a:bodyPr wrap="square" lIns="0" tIns="0" rIns="0" bIns="0" rtlCol="0" anchor="ctr">
            <a:normAutofit/>
          </a:bodyPr>
          <a:lstStyle/>
          <a:p>
            <a:pPr indent="0" marL="0">
              <a:buNone/>
            </a:pPr>
            <a:r>
              <a:rPr lang="en-US" sz="1400" b="1" dirty="0">
                <a:solidFill>
                  <a:schemeClr val="tx2"/>
                </a:solidFill>
              </a:rPr>
              <a:t>kind</a:t>
            </a:r>
            <a:endParaRPr lang="en-US" sz="1400" dirty="0"/>
          </a:p>
        </p:txBody>
      </p:sp>
      <p:sp>
        <p:nvSpPr>
          <p:cNvPr id="19" name="Text 14"/>
          <p:cNvSpPr txBox="1"/>
          <p:nvPr/>
        </p:nvSpPr>
        <p:spPr>
          <a:xfrm>
            <a:off x="6377940" y="2039112"/>
            <a:ext cx="2228850" cy="274320"/>
          </a:xfrm>
          <a:prstGeom prst="rect">
            <a:avLst/>
          </a:prstGeom>
          <a:noFill/>
          <a:ln/>
        </p:spPr>
        <p:txBody>
          <a:bodyPr wrap="square" lIns="0" tIns="0" rIns="0" bIns="0" rtlCol="0" anchor="ctr"/>
          <a:lstStyle/>
          <a:p>
            <a:pPr indent="0" marL="0">
              <a:buNone/>
            </a:pPr>
            <a:r>
              <a:rPr lang="en-US" sz="1100" b="1" dirty="0">
                <a:solidFill>
                  <a:schemeClr val="accent1"/>
                </a:solidFill>
              </a:rPr>
              <a:t>v0.33.0</a:t>
            </a:r>
            <a:endParaRPr lang="en-US" sz="1100" dirty="0"/>
          </a:p>
        </p:txBody>
      </p:sp>
      <p:sp>
        <p:nvSpPr>
          <p:cNvPr id="20" name="Text 15"/>
          <p:cNvSpPr txBox="1"/>
          <p:nvPr/>
        </p:nvSpPr>
        <p:spPr>
          <a:xfrm>
            <a:off x="6377940" y="2350008"/>
            <a:ext cx="2228850" cy="353568"/>
          </a:xfrm>
          <a:prstGeom prst="rect">
            <a:avLst/>
          </a:prstGeom>
          <a:noFill/>
          <a:ln/>
        </p:spPr>
        <p:txBody>
          <a:bodyPr wrap="square" lIns="0" tIns="0" rIns="0" bIns="0" rtlCol="0" anchor="t"/>
          <a:lstStyle/>
          <a:p>
            <a:pPr indent="0" marL="0">
              <a:buNone/>
            </a:pPr>
            <a:r>
              <a:rPr lang="en-US" sz="1200" dirty="0">
                <a:solidFill>
                  <a:schemeClr val="tx1"/>
                </a:solidFill>
              </a:rPr>
              <a:t>A real Kubernetes v1.37 cluster inside Docker</a:t>
            </a:r>
            <a:endParaRPr lang="en-US" sz="1200" dirty="0"/>
          </a:p>
        </p:txBody>
      </p:sp>
      <p:sp>
        <p:nvSpPr>
          <p:cNvPr id="21" name="card kubectl"/>
          <p:cNvSpPr/>
          <p:nvPr/>
        </p:nvSpPr>
        <p:spPr>
          <a:xfrm>
            <a:off x="9018270" y="1325880"/>
            <a:ext cx="2594610" cy="1496568"/>
          </a:xfrm>
          <a:prstGeom prst="roundRect">
            <a:avLst>
              <a:gd name="adj" fmla="val 4888"/>
            </a:avLst>
          </a:prstGeom>
          <a:solidFill>
            <a:schemeClr val="bg2"/>
          </a:solidFill>
          <a:ln w="12700">
            <a:solidFill>
              <a:schemeClr val="bg2"/>
            </a:solidFill>
            <a:prstDash val="solid"/>
          </a:ln>
        </p:spPr>
      </p:sp>
      <p:sp>
        <p:nvSpPr>
          <p:cNvPr id="22" name="Shape 17"/>
          <p:cNvSpPr/>
          <p:nvPr/>
        </p:nvSpPr>
        <p:spPr>
          <a:xfrm>
            <a:off x="9201150" y="1508760"/>
            <a:ext cx="457200" cy="457200"/>
          </a:xfrm>
          <a:prstGeom prst="ellipse">
            <a:avLst/>
          </a:prstGeom>
          <a:solidFill>
            <a:schemeClr val="accent1"/>
          </a:solidFill>
          <a:ln w="12700">
            <a:solidFill>
              <a:schemeClr val="accent1"/>
            </a:solidFill>
            <a:prstDash val="solid"/>
          </a:ln>
        </p:spPr>
      </p:sp>
      <p:pic>
        <p:nvPicPr>
          <p:cNvPr id="23" name="Image 3" descr="preencoded.png">    </p:cNvPr>
          <p:cNvPicPr>
            <a:picLocks noChangeAspect="1"/>
          </p:cNvPicPr>
          <p:nvPr/>
        </p:nvPicPr>
        <p:blipFill>
          <a:blip r:embed="rId4"/>
          <a:stretch>
            <a:fillRect/>
          </a:stretch>
        </p:blipFill>
        <p:spPr>
          <a:xfrm>
            <a:off x="9301734" y="1609344"/>
            <a:ext cx="256032" cy="256032"/>
          </a:xfrm>
          <a:prstGeom prst="rect">
            <a:avLst/>
          </a:prstGeom>
        </p:spPr>
      </p:pic>
      <p:sp>
        <p:nvSpPr>
          <p:cNvPr id="24" name="Text 18"/>
          <p:cNvSpPr txBox="1"/>
          <p:nvPr/>
        </p:nvSpPr>
        <p:spPr>
          <a:xfrm>
            <a:off x="9749790" y="1490472"/>
            <a:ext cx="1680210" cy="493776"/>
          </a:xfrm>
          <a:prstGeom prst="rect">
            <a:avLst/>
          </a:prstGeom>
          <a:noFill/>
          <a:ln/>
        </p:spPr>
        <p:txBody>
          <a:bodyPr wrap="square" lIns="0" tIns="0" rIns="0" bIns="0" rtlCol="0" anchor="ctr">
            <a:normAutofit/>
          </a:bodyPr>
          <a:lstStyle/>
          <a:p>
            <a:pPr indent="0" marL="0">
              <a:buNone/>
            </a:pPr>
            <a:r>
              <a:rPr lang="en-US" sz="1400" b="1" dirty="0">
                <a:solidFill>
                  <a:schemeClr val="tx2"/>
                </a:solidFill>
              </a:rPr>
              <a:t>kubectl</a:t>
            </a:r>
            <a:endParaRPr lang="en-US" sz="1400" dirty="0"/>
          </a:p>
        </p:txBody>
      </p:sp>
      <p:sp>
        <p:nvSpPr>
          <p:cNvPr id="25" name="Text 19"/>
          <p:cNvSpPr txBox="1"/>
          <p:nvPr/>
        </p:nvSpPr>
        <p:spPr>
          <a:xfrm>
            <a:off x="9201150" y="2039112"/>
            <a:ext cx="2228850" cy="274320"/>
          </a:xfrm>
          <a:prstGeom prst="rect">
            <a:avLst/>
          </a:prstGeom>
          <a:noFill/>
          <a:ln/>
        </p:spPr>
        <p:txBody>
          <a:bodyPr wrap="square" lIns="0" tIns="0" rIns="0" bIns="0" rtlCol="0" anchor="ctr"/>
          <a:lstStyle/>
          <a:p>
            <a:pPr indent="0" marL="0">
              <a:buNone/>
            </a:pPr>
            <a:r>
              <a:rPr lang="en-US" sz="1100" b="1" dirty="0">
                <a:solidFill>
                  <a:schemeClr val="accent1"/>
                </a:solidFill>
              </a:rPr>
              <a:t>v1.37.0</a:t>
            </a:r>
            <a:endParaRPr lang="en-US" sz="1100" dirty="0"/>
          </a:p>
        </p:txBody>
      </p:sp>
      <p:sp>
        <p:nvSpPr>
          <p:cNvPr id="26" name="Text 20"/>
          <p:cNvSpPr txBox="1"/>
          <p:nvPr/>
        </p:nvSpPr>
        <p:spPr>
          <a:xfrm>
            <a:off x="9201150" y="2350008"/>
            <a:ext cx="2228850" cy="353568"/>
          </a:xfrm>
          <a:prstGeom prst="rect">
            <a:avLst/>
          </a:prstGeom>
          <a:noFill/>
          <a:ln/>
        </p:spPr>
        <p:txBody>
          <a:bodyPr wrap="square" lIns="0" tIns="0" rIns="0" bIns="0" rtlCol="0" anchor="t"/>
          <a:lstStyle/>
          <a:p>
            <a:pPr indent="0" marL="0">
              <a:buNone/>
            </a:pPr>
            <a:r>
              <a:rPr lang="en-US" sz="1200" dirty="0">
                <a:solidFill>
                  <a:schemeClr val="tx1"/>
                </a:solidFill>
              </a:rPr>
              <a:t>Talks to the cluster: secrets, manifests, logs</a:t>
            </a:r>
            <a:endParaRPr lang="en-US" sz="1200" dirty="0"/>
          </a:p>
        </p:txBody>
      </p:sp>
      <p:sp>
        <p:nvSpPr>
          <p:cNvPr id="27" name="card Helm"/>
          <p:cNvSpPr/>
          <p:nvPr/>
        </p:nvSpPr>
        <p:spPr>
          <a:xfrm>
            <a:off x="548640" y="3023616"/>
            <a:ext cx="2594610" cy="1496568"/>
          </a:xfrm>
          <a:prstGeom prst="roundRect">
            <a:avLst>
              <a:gd name="adj" fmla="val 4888"/>
            </a:avLst>
          </a:prstGeom>
          <a:solidFill>
            <a:schemeClr val="bg2"/>
          </a:solidFill>
          <a:ln w="12700">
            <a:solidFill>
              <a:schemeClr val="bg2"/>
            </a:solidFill>
            <a:prstDash val="solid"/>
          </a:ln>
        </p:spPr>
      </p:sp>
      <p:sp>
        <p:nvSpPr>
          <p:cNvPr id="28" name="Shape 22"/>
          <p:cNvSpPr/>
          <p:nvPr/>
        </p:nvSpPr>
        <p:spPr>
          <a:xfrm>
            <a:off x="731520" y="3206496"/>
            <a:ext cx="457200" cy="457200"/>
          </a:xfrm>
          <a:prstGeom prst="ellipse">
            <a:avLst/>
          </a:prstGeom>
          <a:solidFill>
            <a:schemeClr val="accent1"/>
          </a:solidFill>
          <a:ln w="12700">
            <a:solidFill>
              <a:schemeClr val="accent1"/>
            </a:solidFill>
            <a:prstDash val="solid"/>
          </a:ln>
        </p:spPr>
      </p:sp>
      <p:pic>
        <p:nvPicPr>
          <p:cNvPr id="29" name="Image 4" descr="preencoded.png">    </p:cNvPr>
          <p:cNvPicPr>
            <a:picLocks noChangeAspect="1"/>
          </p:cNvPicPr>
          <p:nvPr/>
        </p:nvPicPr>
        <p:blipFill>
          <a:blip r:embed="rId5"/>
          <a:stretch>
            <a:fillRect/>
          </a:stretch>
        </p:blipFill>
        <p:spPr>
          <a:xfrm>
            <a:off x="832104" y="3307080"/>
            <a:ext cx="256032" cy="256032"/>
          </a:xfrm>
          <a:prstGeom prst="rect">
            <a:avLst/>
          </a:prstGeom>
        </p:spPr>
      </p:pic>
      <p:sp>
        <p:nvSpPr>
          <p:cNvPr id="30" name="Text 23"/>
          <p:cNvSpPr txBox="1"/>
          <p:nvPr/>
        </p:nvSpPr>
        <p:spPr>
          <a:xfrm>
            <a:off x="1280160" y="3188208"/>
            <a:ext cx="1680210" cy="493776"/>
          </a:xfrm>
          <a:prstGeom prst="rect">
            <a:avLst/>
          </a:prstGeom>
          <a:noFill/>
          <a:ln/>
        </p:spPr>
        <p:txBody>
          <a:bodyPr wrap="square" lIns="0" tIns="0" rIns="0" bIns="0" rtlCol="0" anchor="ctr">
            <a:normAutofit/>
          </a:bodyPr>
          <a:lstStyle/>
          <a:p>
            <a:pPr indent="0" marL="0">
              <a:buNone/>
            </a:pPr>
            <a:r>
              <a:rPr lang="en-US" sz="1400" b="1" dirty="0">
                <a:solidFill>
                  <a:schemeClr val="tx2"/>
                </a:solidFill>
              </a:rPr>
              <a:t>Helm</a:t>
            </a:r>
            <a:endParaRPr lang="en-US" sz="1400" dirty="0"/>
          </a:p>
        </p:txBody>
      </p:sp>
      <p:sp>
        <p:nvSpPr>
          <p:cNvPr id="31" name="Text 24"/>
          <p:cNvSpPr txBox="1"/>
          <p:nvPr/>
        </p:nvSpPr>
        <p:spPr>
          <a:xfrm>
            <a:off x="731520" y="3736848"/>
            <a:ext cx="2228850" cy="274320"/>
          </a:xfrm>
          <a:prstGeom prst="rect">
            <a:avLst/>
          </a:prstGeom>
          <a:noFill/>
          <a:ln/>
        </p:spPr>
        <p:txBody>
          <a:bodyPr wrap="square" lIns="0" tIns="0" rIns="0" bIns="0" rtlCol="0" anchor="ctr"/>
          <a:lstStyle/>
          <a:p>
            <a:pPr indent="0" marL="0">
              <a:buNone/>
            </a:pPr>
            <a:r>
              <a:rPr lang="en-US" sz="1100" b="1" dirty="0">
                <a:solidFill>
                  <a:schemeClr val="accent1"/>
                </a:solidFill>
              </a:rPr>
              <a:t>v3.16.2</a:t>
            </a:r>
            <a:endParaRPr lang="en-US" sz="1100" dirty="0"/>
          </a:p>
        </p:txBody>
      </p:sp>
      <p:sp>
        <p:nvSpPr>
          <p:cNvPr id="32" name="Text 25"/>
          <p:cNvSpPr txBox="1"/>
          <p:nvPr/>
        </p:nvSpPr>
        <p:spPr>
          <a:xfrm>
            <a:off x="731520" y="4047744"/>
            <a:ext cx="2228850" cy="353568"/>
          </a:xfrm>
          <a:prstGeom prst="rect">
            <a:avLst/>
          </a:prstGeom>
          <a:noFill/>
          <a:ln/>
        </p:spPr>
        <p:txBody>
          <a:bodyPr wrap="square" lIns="0" tIns="0" rIns="0" bIns="0" rtlCol="0" anchor="t"/>
          <a:lstStyle/>
          <a:p>
            <a:pPr indent="0" marL="0">
              <a:buNone/>
            </a:pPr>
            <a:r>
              <a:rPr lang="en-US" sz="1200" dirty="0">
                <a:solidFill>
                  <a:schemeClr val="tx1"/>
                </a:solidFill>
              </a:rPr>
              <a:t>Installs the pinned Sigstore, Traefik and Kyverno charts</a:t>
            </a:r>
            <a:endParaRPr lang="en-US" sz="1200" dirty="0"/>
          </a:p>
        </p:txBody>
      </p:sp>
      <p:sp>
        <p:nvSpPr>
          <p:cNvPr id="33" name="card crane"/>
          <p:cNvSpPr/>
          <p:nvPr/>
        </p:nvSpPr>
        <p:spPr>
          <a:xfrm>
            <a:off x="3371850" y="3023616"/>
            <a:ext cx="2594610" cy="1496568"/>
          </a:xfrm>
          <a:prstGeom prst="roundRect">
            <a:avLst>
              <a:gd name="adj" fmla="val 4888"/>
            </a:avLst>
          </a:prstGeom>
          <a:solidFill>
            <a:schemeClr val="bg2"/>
          </a:solidFill>
          <a:ln w="12700">
            <a:solidFill>
              <a:schemeClr val="bg2"/>
            </a:solidFill>
            <a:prstDash val="solid"/>
          </a:ln>
        </p:spPr>
      </p:sp>
      <p:sp>
        <p:nvSpPr>
          <p:cNvPr id="34" name="Shape 27"/>
          <p:cNvSpPr/>
          <p:nvPr/>
        </p:nvSpPr>
        <p:spPr>
          <a:xfrm>
            <a:off x="3554730" y="3206496"/>
            <a:ext cx="457200" cy="457200"/>
          </a:xfrm>
          <a:prstGeom prst="ellipse">
            <a:avLst/>
          </a:prstGeom>
          <a:solidFill>
            <a:schemeClr val="accent1"/>
          </a:solidFill>
          <a:ln w="12700">
            <a:solidFill>
              <a:schemeClr val="accent1"/>
            </a:solidFill>
            <a:prstDash val="solid"/>
          </a:ln>
        </p:spPr>
      </p:sp>
      <p:pic>
        <p:nvPicPr>
          <p:cNvPr id="35" name="Image 5" descr="preencoded.png">    </p:cNvPr>
          <p:cNvPicPr>
            <a:picLocks noChangeAspect="1"/>
          </p:cNvPicPr>
          <p:nvPr/>
        </p:nvPicPr>
        <p:blipFill>
          <a:blip r:embed="rId6"/>
          <a:stretch>
            <a:fillRect/>
          </a:stretch>
        </p:blipFill>
        <p:spPr>
          <a:xfrm>
            <a:off x="3655314" y="3307080"/>
            <a:ext cx="256032" cy="256032"/>
          </a:xfrm>
          <a:prstGeom prst="rect">
            <a:avLst/>
          </a:prstGeom>
        </p:spPr>
      </p:pic>
      <p:sp>
        <p:nvSpPr>
          <p:cNvPr id="36" name="Text 28"/>
          <p:cNvSpPr txBox="1"/>
          <p:nvPr/>
        </p:nvSpPr>
        <p:spPr>
          <a:xfrm>
            <a:off x="4103370" y="3188208"/>
            <a:ext cx="1680210" cy="493776"/>
          </a:xfrm>
          <a:prstGeom prst="rect">
            <a:avLst/>
          </a:prstGeom>
          <a:noFill/>
          <a:ln/>
        </p:spPr>
        <p:txBody>
          <a:bodyPr wrap="square" lIns="0" tIns="0" rIns="0" bIns="0" rtlCol="0" anchor="ctr">
            <a:normAutofit/>
          </a:bodyPr>
          <a:lstStyle/>
          <a:p>
            <a:pPr indent="0" marL="0">
              <a:buNone/>
            </a:pPr>
            <a:r>
              <a:rPr lang="en-US" sz="1400" b="1" dirty="0">
                <a:solidFill>
                  <a:schemeClr val="tx2"/>
                </a:solidFill>
              </a:rPr>
              <a:t>crane</a:t>
            </a:r>
            <a:endParaRPr lang="en-US" sz="1400" dirty="0"/>
          </a:p>
        </p:txBody>
      </p:sp>
      <p:sp>
        <p:nvSpPr>
          <p:cNvPr id="37" name="Text 29"/>
          <p:cNvSpPr txBox="1"/>
          <p:nvPr/>
        </p:nvSpPr>
        <p:spPr>
          <a:xfrm>
            <a:off x="3554730" y="3736848"/>
            <a:ext cx="2228850" cy="274320"/>
          </a:xfrm>
          <a:prstGeom prst="rect">
            <a:avLst/>
          </a:prstGeom>
          <a:noFill/>
          <a:ln/>
        </p:spPr>
        <p:txBody>
          <a:bodyPr wrap="square" lIns="0" tIns="0" rIns="0" bIns="0" rtlCol="0" anchor="ctr"/>
          <a:lstStyle/>
          <a:p>
            <a:pPr indent="0" marL="0">
              <a:buNone/>
            </a:pPr>
            <a:r>
              <a:rPr lang="en-US" sz="1100" b="1" dirty="0">
                <a:solidFill>
                  <a:schemeClr val="accent1"/>
                </a:solidFill>
              </a:rPr>
              <a:t>v0.22.1 (go-containerregistry)</a:t>
            </a:r>
            <a:endParaRPr lang="en-US" sz="1100" dirty="0"/>
          </a:p>
        </p:txBody>
      </p:sp>
      <p:sp>
        <p:nvSpPr>
          <p:cNvPr id="38" name="Text 30"/>
          <p:cNvSpPr txBox="1"/>
          <p:nvPr/>
        </p:nvSpPr>
        <p:spPr>
          <a:xfrm>
            <a:off x="3554730" y="4047744"/>
            <a:ext cx="2228850" cy="353568"/>
          </a:xfrm>
          <a:prstGeom prst="rect">
            <a:avLst/>
          </a:prstGeom>
          <a:noFill/>
          <a:ln/>
        </p:spPr>
        <p:txBody>
          <a:bodyPr wrap="square" lIns="0" tIns="0" rIns="0" bIns="0" rtlCol="0" anchor="t"/>
          <a:lstStyle/>
          <a:p>
            <a:pPr indent="0" marL="0">
              <a:buNone/>
            </a:pPr>
            <a:r>
              <a:rPr lang="en-US" sz="1200" dirty="0">
                <a:solidFill>
                  <a:schemeClr val="tx1"/>
                </a:solidFill>
              </a:rPr>
              <a:t>Builds the image mirror; digests and pushes</a:t>
            </a:r>
            <a:endParaRPr lang="en-US" sz="1200" dirty="0"/>
          </a:p>
        </p:txBody>
      </p:sp>
      <p:sp>
        <p:nvSpPr>
          <p:cNvPr id="39" name="card cosign"/>
          <p:cNvSpPr/>
          <p:nvPr/>
        </p:nvSpPr>
        <p:spPr>
          <a:xfrm>
            <a:off x="6195060" y="3023616"/>
            <a:ext cx="2594610" cy="1496568"/>
          </a:xfrm>
          <a:prstGeom prst="roundRect">
            <a:avLst>
              <a:gd name="adj" fmla="val 4888"/>
            </a:avLst>
          </a:prstGeom>
          <a:solidFill>
            <a:schemeClr val="bg2"/>
          </a:solidFill>
          <a:ln w="12700">
            <a:solidFill>
              <a:schemeClr val="bg2"/>
            </a:solidFill>
            <a:prstDash val="solid"/>
          </a:ln>
        </p:spPr>
      </p:sp>
      <p:sp>
        <p:nvSpPr>
          <p:cNvPr id="40" name="Shape 32"/>
          <p:cNvSpPr/>
          <p:nvPr/>
        </p:nvSpPr>
        <p:spPr>
          <a:xfrm>
            <a:off x="6377940" y="3206496"/>
            <a:ext cx="457200" cy="457200"/>
          </a:xfrm>
          <a:prstGeom prst="ellipse">
            <a:avLst/>
          </a:prstGeom>
          <a:solidFill>
            <a:schemeClr val="accent1"/>
          </a:solidFill>
          <a:ln w="12700">
            <a:solidFill>
              <a:schemeClr val="accent1"/>
            </a:solidFill>
            <a:prstDash val="solid"/>
          </a:ln>
        </p:spPr>
      </p:sp>
      <p:pic>
        <p:nvPicPr>
          <p:cNvPr id="41" name="Image 6" descr="preencoded.png">    </p:cNvPr>
          <p:cNvPicPr>
            <a:picLocks noChangeAspect="1"/>
          </p:cNvPicPr>
          <p:nvPr/>
        </p:nvPicPr>
        <p:blipFill>
          <a:blip r:embed="rId7"/>
          <a:stretch>
            <a:fillRect/>
          </a:stretch>
        </p:blipFill>
        <p:spPr>
          <a:xfrm>
            <a:off x="6478524" y="3307080"/>
            <a:ext cx="256032" cy="256032"/>
          </a:xfrm>
          <a:prstGeom prst="rect">
            <a:avLst/>
          </a:prstGeom>
        </p:spPr>
      </p:pic>
      <p:sp>
        <p:nvSpPr>
          <p:cNvPr id="42" name="Text 33"/>
          <p:cNvSpPr txBox="1"/>
          <p:nvPr/>
        </p:nvSpPr>
        <p:spPr>
          <a:xfrm>
            <a:off x="6926580" y="3188208"/>
            <a:ext cx="1680210" cy="493776"/>
          </a:xfrm>
          <a:prstGeom prst="rect">
            <a:avLst/>
          </a:prstGeom>
          <a:noFill/>
          <a:ln/>
        </p:spPr>
        <p:txBody>
          <a:bodyPr wrap="square" lIns="0" tIns="0" rIns="0" bIns="0" rtlCol="0" anchor="ctr">
            <a:normAutofit/>
          </a:bodyPr>
          <a:lstStyle/>
          <a:p>
            <a:pPr indent="0" marL="0">
              <a:buNone/>
            </a:pPr>
            <a:r>
              <a:rPr lang="en-US" sz="1400" b="1" dirty="0">
                <a:solidFill>
                  <a:schemeClr val="tx2"/>
                </a:solidFill>
              </a:rPr>
              <a:t>cosign</a:t>
            </a:r>
            <a:endParaRPr lang="en-US" sz="1400" dirty="0"/>
          </a:p>
        </p:txBody>
      </p:sp>
      <p:sp>
        <p:nvSpPr>
          <p:cNvPr id="43" name="Text 34"/>
          <p:cNvSpPr txBox="1"/>
          <p:nvPr/>
        </p:nvSpPr>
        <p:spPr>
          <a:xfrm>
            <a:off x="6377940" y="3736848"/>
            <a:ext cx="2228850" cy="274320"/>
          </a:xfrm>
          <a:prstGeom prst="rect">
            <a:avLst/>
          </a:prstGeom>
          <a:noFill/>
          <a:ln/>
        </p:spPr>
        <p:txBody>
          <a:bodyPr wrap="square" lIns="0" tIns="0" rIns="0" bIns="0" rtlCol="0" anchor="ctr"/>
          <a:lstStyle/>
          <a:p>
            <a:pPr indent="0" marL="0">
              <a:buNone/>
            </a:pPr>
            <a:r>
              <a:rPr lang="en-US" sz="1100" b="1" dirty="0">
                <a:solidFill>
                  <a:schemeClr val="accent1"/>
                </a:solidFill>
              </a:rPr>
              <a:t>v3.1.3</a:t>
            </a:r>
            <a:endParaRPr lang="en-US" sz="1100" dirty="0"/>
          </a:p>
        </p:txBody>
      </p:sp>
      <p:sp>
        <p:nvSpPr>
          <p:cNvPr id="44" name="Text 35"/>
          <p:cNvSpPr txBox="1"/>
          <p:nvPr/>
        </p:nvSpPr>
        <p:spPr>
          <a:xfrm>
            <a:off x="6377940" y="4047744"/>
            <a:ext cx="2228850" cy="353568"/>
          </a:xfrm>
          <a:prstGeom prst="rect">
            <a:avLst/>
          </a:prstGeom>
          <a:noFill/>
          <a:ln/>
        </p:spPr>
        <p:txBody>
          <a:bodyPr wrap="square" lIns="0" tIns="0" rIns="0" bIns="0" rtlCol="0" anchor="t"/>
          <a:lstStyle/>
          <a:p>
            <a:pPr indent="0" marL="0">
              <a:buNone/>
            </a:pPr>
            <a:r>
              <a:rPr lang="en-US" sz="1200" dirty="0">
                <a:solidFill>
                  <a:schemeClr val="tx1"/>
                </a:solidFill>
              </a:rPr>
              <a:t>Keyless sign, verify, attest; builds trust files</a:t>
            </a:r>
            <a:endParaRPr lang="en-US" sz="1200" dirty="0"/>
          </a:p>
        </p:txBody>
      </p:sp>
      <p:sp>
        <p:nvSpPr>
          <p:cNvPr id="45" name="card jq"/>
          <p:cNvSpPr/>
          <p:nvPr/>
        </p:nvSpPr>
        <p:spPr>
          <a:xfrm>
            <a:off x="9018270" y="3023616"/>
            <a:ext cx="2594610" cy="1496568"/>
          </a:xfrm>
          <a:prstGeom prst="roundRect">
            <a:avLst>
              <a:gd name="adj" fmla="val 4888"/>
            </a:avLst>
          </a:prstGeom>
          <a:solidFill>
            <a:schemeClr val="bg2"/>
          </a:solidFill>
          <a:ln w="12700">
            <a:solidFill>
              <a:schemeClr val="bg2"/>
            </a:solidFill>
            <a:prstDash val="solid"/>
          </a:ln>
        </p:spPr>
      </p:sp>
      <p:sp>
        <p:nvSpPr>
          <p:cNvPr id="46" name="Shape 37"/>
          <p:cNvSpPr/>
          <p:nvPr/>
        </p:nvSpPr>
        <p:spPr>
          <a:xfrm>
            <a:off x="9201150" y="3206496"/>
            <a:ext cx="457200" cy="457200"/>
          </a:xfrm>
          <a:prstGeom prst="ellipse">
            <a:avLst/>
          </a:prstGeom>
          <a:solidFill>
            <a:schemeClr val="accent1"/>
          </a:solidFill>
          <a:ln w="12700">
            <a:solidFill>
              <a:schemeClr val="accent1"/>
            </a:solidFill>
            <a:prstDash val="solid"/>
          </a:ln>
        </p:spPr>
      </p:sp>
      <p:pic>
        <p:nvPicPr>
          <p:cNvPr id="47" name="Image 7" descr="preencoded.png">    </p:cNvPr>
          <p:cNvPicPr>
            <a:picLocks noChangeAspect="1"/>
          </p:cNvPicPr>
          <p:nvPr/>
        </p:nvPicPr>
        <p:blipFill>
          <a:blip r:embed="rId8"/>
          <a:stretch>
            <a:fillRect/>
          </a:stretch>
        </p:blipFill>
        <p:spPr>
          <a:xfrm>
            <a:off x="9301734" y="3307080"/>
            <a:ext cx="256032" cy="256032"/>
          </a:xfrm>
          <a:prstGeom prst="rect">
            <a:avLst/>
          </a:prstGeom>
        </p:spPr>
      </p:pic>
      <p:sp>
        <p:nvSpPr>
          <p:cNvPr id="48" name="Text 38"/>
          <p:cNvSpPr txBox="1"/>
          <p:nvPr/>
        </p:nvSpPr>
        <p:spPr>
          <a:xfrm>
            <a:off x="9749790" y="3188208"/>
            <a:ext cx="1680210" cy="493776"/>
          </a:xfrm>
          <a:prstGeom prst="rect">
            <a:avLst/>
          </a:prstGeom>
          <a:noFill/>
          <a:ln/>
        </p:spPr>
        <p:txBody>
          <a:bodyPr wrap="square" lIns="0" tIns="0" rIns="0" bIns="0" rtlCol="0" anchor="ctr">
            <a:normAutofit/>
          </a:bodyPr>
          <a:lstStyle/>
          <a:p>
            <a:pPr indent="0" marL="0">
              <a:buNone/>
            </a:pPr>
            <a:r>
              <a:rPr lang="en-US" sz="1400" b="1" dirty="0">
                <a:solidFill>
                  <a:schemeClr val="tx2"/>
                </a:solidFill>
              </a:rPr>
              <a:t>jq</a:t>
            </a:r>
            <a:endParaRPr lang="en-US" sz="1400" dirty="0"/>
          </a:p>
        </p:txBody>
      </p:sp>
      <p:sp>
        <p:nvSpPr>
          <p:cNvPr id="49" name="Text 39"/>
          <p:cNvSpPr txBox="1"/>
          <p:nvPr/>
        </p:nvSpPr>
        <p:spPr>
          <a:xfrm>
            <a:off x="9201150" y="3736848"/>
            <a:ext cx="2228850" cy="274320"/>
          </a:xfrm>
          <a:prstGeom prst="rect">
            <a:avLst/>
          </a:prstGeom>
          <a:noFill/>
          <a:ln/>
        </p:spPr>
        <p:txBody>
          <a:bodyPr wrap="square" lIns="0" tIns="0" rIns="0" bIns="0" rtlCol="0" anchor="ctr"/>
          <a:lstStyle/>
          <a:p>
            <a:pPr indent="0" marL="0">
              <a:buNone/>
            </a:pPr>
            <a:r>
              <a:rPr lang="en-US" sz="1100" b="1" dirty="0">
                <a:solidFill>
                  <a:schemeClr val="accent1"/>
                </a:solidFill>
              </a:rPr>
              <a:t>1.7.1</a:t>
            </a:r>
            <a:endParaRPr lang="en-US" sz="1100" dirty="0"/>
          </a:p>
        </p:txBody>
      </p:sp>
      <p:sp>
        <p:nvSpPr>
          <p:cNvPr id="50" name="Text 40"/>
          <p:cNvSpPr txBox="1"/>
          <p:nvPr/>
        </p:nvSpPr>
        <p:spPr>
          <a:xfrm>
            <a:off x="9201150" y="4047744"/>
            <a:ext cx="2228850" cy="353568"/>
          </a:xfrm>
          <a:prstGeom prst="rect">
            <a:avLst/>
          </a:prstGeom>
          <a:noFill/>
          <a:ln/>
        </p:spPr>
        <p:txBody>
          <a:bodyPr wrap="square" lIns="0" tIns="0" rIns="0" bIns="0" rtlCol="0" anchor="t"/>
          <a:lstStyle/>
          <a:p>
            <a:pPr indent="0" marL="0">
              <a:buNone/>
            </a:pPr>
            <a:r>
              <a:rPr lang="en-US" sz="1200" dirty="0">
                <a:solidFill>
                  <a:schemeClr val="tx1"/>
                </a:solidFill>
              </a:rPr>
              <a:t>Reads tokens, Rekor answers and JSON configs</a:t>
            </a:r>
            <a:endParaRPr lang="en-US" sz="1200" dirty="0"/>
          </a:p>
        </p:txBody>
      </p:sp>
      <p:sp>
        <p:nvSpPr>
          <p:cNvPr id="51" name="card OpenSSL"/>
          <p:cNvSpPr/>
          <p:nvPr/>
        </p:nvSpPr>
        <p:spPr>
          <a:xfrm>
            <a:off x="548640" y="4721352"/>
            <a:ext cx="2594610" cy="1496568"/>
          </a:xfrm>
          <a:prstGeom prst="roundRect">
            <a:avLst>
              <a:gd name="adj" fmla="val 4888"/>
            </a:avLst>
          </a:prstGeom>
          <a:solidFill>
            <a:schemeClr val="bg2"/>
          </a:solidFill>
          <a:ln w="12700">
            <a:solidFill>
              <a:schemeClr val="bg2"/>
            </a:solidFill>
            <a:prstDash val="solid"/>
          </a:ln>
        </p:spPr>
      </p:sp>
      <p:sp>
        <p:nvSpPr>
          <p:cNvPr id="52" name="Shape 42"/>
          <p:cNvSpPr/>
          <p:nvPr/>
        </p:nvSpPr>
        <p:spPr>
          <a:xfrm>
            <a:off x="731520" y="4904232"/>
            <a:ext cx="457200" cy="457200"/>
          </a:xfrm>
          <a:prstGeom prst="ellipse">
            <a:avLst/>
          </a:prstGeom>
          <a:solidFill>
            <a:schemeClr val="accent1"/>
          </a:solidFill>
          <a:ln w="12700">
            <a:solidFill>
              <a:schemeClr val="accent1"/>
            </a:solidFill>
            <a:prstDash val="solid"/>
          </a:ln>
        </p:spPr>
      </p:sp>
      <p:pic>
        <p:nvPicPr>
          <p:cNvPr id="53" name="Image 8" descr="preencoded.png">    </p:cNvPr>
          <p:cNvPicPr>
            <a:picLocks noChangeAspect="1"/>
          </p:cNvPicPr>
          <p:nvPr/>
        </p:nvPicPr>
        <p:blipFill>
          <a:blip r:embed="rId9"/>
          <a:stretch>
            <a:fillRect/>
          </a:stretch>
        </p:blipFill>
        <p:spPr>
          <a:xfrm>
            <a:off x="832104" y="5004816"/>
            <a:ext cx="256032" cy="256032"/>
          </a:xfrm>
          <a:prstGeom prst="rect">
            <a:avLst/>
          </a:prstGeom>
        </p:spPr>
      </p:pic>
      <p:sp>
        <p:nvSpPr>
          <p:cNvPr id="54" name="Text 43"/>
          <p:cNvSpPr txBox="1"/>
          <p:nvPr/>
        </p:nvSpPr>
        <p:spPr>
          <a:xfrm>
            <a:off x="1280160" y="4885944"/>
            <a:ext cx="1680210" cy="493776"/>
          </a:xfrm>
          <a:prstGeom prst="rect">
            <a:avLst/>
          </a:prstGeom>
          <a:noFill/>
          <a:ln/>
        </p:spPr>
        <p:txBody>
          <a:bodyPr wrap="square" lIns="0" tIns="0" rIns="0" bIns="0" rtlCol="0" anchor="ctr">
            <a:normAutofit/>
          </a:bodyPr>
          <a:lstStyle/>
          <a:p>
            <a:pPr indent="0" marL="0">
              <a:buNone/>
            </a:pPr>
            <a:r>
              <a:rPr lang="en-US" sz="1400" b="1" dirty="0">
                <a:solidFill>
                  <a:schemeClr val="tx2"/>
                </a:solidFill>
              </a:rPr>
              <a:t>OpenSSL</a:t>
            </a:r>
            <a:endParaRPr lang="en-US" sz="1400" dirty="0"/>
          </a:p>
        </p:txBody>
      </p:sp>
      <p:sp>
        <p:nvSpPr>
          <p:cNvPr id="55" name="Text 44"/>
          <p:cNvSpPr txBox="1"/>
          <p:nvPr/>
        </p:nvSpPr>
        <p:spPr>
          <a:xfrm>
            <a:off x="731520" y="5434584"/>
            <a:ext cx="2228850" cy="274320"/>
          </a:xfrm>
          <a:prstGeom prst="rect">
            <a:avLst/>
          </a:prstGeom>
          <a:noFill/>
          <a:ln/>
        </p:spPr>
        <p:txBody>
          <a:bodyPr wrap="square" lIns="0" tIns="0" rIns="0" bIns="0" rtlCol="0" anchor="ctr"/>
          <a:lstStyle/>
          <a:p>
            <a:pPr indent="0" marL="0">
              <a:buNone/>
            </a:pPr>
            <a:r>
              <a:rPr lang="en-US" sz="1100" b="1" dirty="0">
                <a:solidFill>
                  <a:schemeClr val="accent1"/>
                </a:solidFill>
              </a:rPr>
              <a:t>3.x (OS package)</a:t>
            </a:r>
            <a:endParaRPr lang="en-US" sz="1100" dirty="0"/>
          </a:p>
        </p:txBody>
      </p:sp>
      <p:sp>
        <p:nvSpPr>
          <p:cNvPr id="56" name="Text 45"/>
          <p:cNvSpPr txBox="1"/>
          <p:nvPr/>
        </p:nvSpPr>
        <p:spPr>
          <a:xfrm>
            <a:off x="731520" y="5745480"/>
            <a:ext cx="2228850" cy="353568"/>
          </a:xfrm>
          <a:prstGeom prst="rect">
            <a:avLst/>
          </a:prstGeom>
          <a:noFill/>
          <a:ln/>
        </p:spPr>
        <p:txBody>
          <a:bodyPr wrap="square" lIns="0" tIns="0" rIns="0" bIns="0" rtlCol="0" anchor="t"/>
          <a:lstStyle/>
          <a:p>
            <a:pPr indent="0" marL="0">
              <a:buNone/>
            </a:pPr>
            <a:r>
              <a:rPr lang="en-US" sz="1200" dirty="0">
                <a:solidFill>
                  <a:schemeClr val="tx1"/>
                </a:solidFill>
              </a:rPr>
              <a:t>Generates every key and certificate locally</a:t>
            </a:r>
            <a:endParaRPr lang="en-US" sz="1200" dirty="0"/>
          </a:p>
        </p:txBody>
      </p:sp>
      <p:sp>
        <p:nvSpPr>
          <p:cNvPr id="57" name="card curl"/>
          <p:cNvSpPr/>
          <p:nvPr/>
        </p:nvSpPr>
        <p:spPr>
          <a:xfrm>
            <a:off x="3371850" y="4721352"/>
            <a:ext cx="2594610" cy="1496568"/>
          </a:xfrm>
          <a:prstGeom prst="roundRect">
            <a:avLst>
              <a:gd name="adj" fmla="val 4888"/>
            </a:avLst>
          </a:prstGeom>
          <a:solidFill>
            <a:schemeClr val="bg2"/>
          </a:solidFill>
          <a:ln w="12700">
            <a:solidFill>
              <a:schemeClr val="bg2"/>
            </a:solidFill>
            <a:prstDash val="solid"/>
          </a:ln>
        </p:spPr>
      </p:sp>
      <p:sp>
        <p:nvSpPr>
          <p:cNvPr id="58" name="Shape 47"/>
          <p:cNvSpPr/>
          <p:nvPr/>
        </p:nvSpPr>
        <p:spPr>
          <a:xfrm>
            <a:off x="3554730" y="4904232"/>
            <a:ext cx="457200" cy="457200"/>
          </a:xfrm>
          <a:prstGeom prst="ellipse">
            <a:avLst/>
          </a:prstGeom>
          <a:solidFill>
            <a:schemeClr val="accent1"/>
          </a:solidFill>
          <a:ln w="12700">
            <a:solidFill>
              <a:schemeClr val="accent1"/>
            </a:solidFill>
            <a:prstDash val="solid"/>
          </a:ln>
        </p:spPr>
      </p:sp>
      <p:pic>
        <p:nvPicPr>
          <p:cNvPr id="59" name="Image 9" descr="preencoded.png">    </p:cNvPr>
          <p:cNvPicPr>
            <a:picLocks noChangeAspect="1"/>
          </p:cNvPicPr>
          <p:nvPr/>
        </p:nvPicPr>
        <p:blipFill>
          <a:blip r:embed="rId10"/>
          <a:stretch>
            <a:fillRect/>
          </a:stretch>
        </p:blipFill>
        <p:spPr>
          <a:xfrm>
            <a:off x="3655314" y="5004816"/>
            <a:ext cx="256032" cy="256032"/>
          </a:xfrm>
          <a:prstGeom prst="rect">
            <a:avLst/>
          </a:prstGeom>
        </p:spPr>
      </p:pic>
      <p:sp>
        <p:nvSpPr>
          <p:cNvPr id="60" name="Text 48"/>
          <p:cNvSpPr txBox="1"/>
          <p:nvPr/>
        </p:nvSpPr>
        <p:spPr>
          <a:xfrm>
            <a:off x="4103370" y="4885944"/>
            <a:ext cx="1680210" cy="493776"/>
          </a:xfrm>
          <a:prstGeom prst="rect">
            <a:avLst/>
          </a:prstGeom>
          <a:noFill/>
          <a:ln/>
        </p:spPr>
        <p:txBody>
          <a:bodyPr wrap="square" lIns="0" tIns="0" rIns="0" bIns="0" rtlCol="0" anchor="ctr">
            <a:normAutofit/>
          </a:bodyPr>
          <a:lstStyle/>
          <a:p>
            <a:pPr indent="0" marL="0">
              <a:buNone/>
            </a:pPr>
            <a:r>
              <a:rPr lang="en-US" sz="1400" b="1" dirty="0">
                <a:solidFill>
                  <a:schemeClr val="tx2"/>
                </a:solidFill>
              </a:rPr>
              <a:t>curl</a:t>
            </a:r>
            <a:endParaRPr lang="en-US" sz="1400" dirty="0"/>
          </a:p>
        </p:txBody>
      </p:sp>
      <p:sp>
        <p:nvSpPr>
          <p:cNvPr id="61" name="Text 49"/>
          <p:cNvSpPr txBox="1"/>
          <p:nvPr/>
        </p:nvSpPr>
        <p:spPr>
          <a:xfrm>
            <a:off x="3554730" y="5434584"/>
            <a:ext cx="2228850" cy="274320"/>
          </a:xfrm>
          <a:prstGeom prst="rect">
            <a:avLst/>
          </a:prstGeom>
          <a:noFill/>
          <a:ln/>
        </p:spPr>
        <p:txBody>
          <a:bodyPr wrap="square" lIns="0" tIns="0" rIns="0" bIns="0" rtlCol="0" anchor="ctr"/>
          <a:lstStyle/>
          <a:p>
            <a:pPr indent="0" marL="0">
              <a:buNone/>
            </a:pPr>
            <a:r>
              <a:rPr lang="en-US" sz="1100" b="1" dirty="0">
                <a:solidFill>
                  <a:schemeClr val="accent1"/>
                </a:solidFill>
              </a:rPr>
              <a:t>OS package</a:t>
            </a:r>
            <a:endParaRPr lang="en-US" sz="1100" dirty="0"/>
          </a:p>
        </p:txBody>
      </p:sp>
      <p:sp>
        <p:nvSpPr>
          <p:cNvPr id="62" name="Text 50"/>
          <p:cNvSpPr txBox="1"/>
          <p:nvPr/>
        </p:nvSpPr>
        <p:spPr>
          <a:xfrm>
            <a:off x="3554730" y="5745480"/>
            <a:ext cx="2228850" cy="353568"/>
          </a:xfrm>
          <a:prstGeom prst="rect">
            <a:avLst/>
          </a:prstGeom>
          <a:noFill/>
          <a:ln/>
        </p:spPr>
        <p:txBody>
          <a:bodyPr wrap="square" lIns="0" tIns="0" rIns="0" bIns="0" rtlCol="0" anchor="t"/>
          <a:lstStyle/>
          <a:p>
            <a:pPr indent="0" marL="0">
              <a:buNone/>
            </a:pPr>
            <a:r>
              <a:rPr lang="en-US" sz="1200" dirty="0">
                <a:solidFill>
                  <a:schemeClr val="tx1"/>
                </a:solidFill>
              </a:rPr>
              <a:t>TLS health checks and OIDC token requests</a:t>
            </a:r>
            <a:endParaRPr lang="en-US" sz="1200" dirty="0"/>
          </a:p>
        </p:txBody>
      </p:sp>
      <p:sp>
        <p:nvSpPr>
          <p:cNvPr id="63" name="card bash, perl, coreutils"/>
          <p:cNvSpPr/>
          <p:nvPr/>
        </p:nvSpPr>
        <p:spPr>
          <a:xfrm>
            <a:off x="6195060" y="4721352"/>
            <a:ext cx="2594610" cy="1496568"/>
          </a:xfrm>
          <a:prstGeom prst="roundRect">
            <a:avLst>
              <a:gd name="adj" fmla="val 4888"/>
            </a:avLst>
          </a:prstGeom>
          <a:solidFill>
            <a:schemeClr val="bg2"/>
          </a:solidFill>
          <a:ln w="12700">
            <a:solidFill>
              <a:schemeClr val="bg2"/>
            </a:solidFill>
            <a:prstDash val="solid"/>
          </a:ln>
        </p:spPr>
      </p:sp>
      <p:sp>
        <p:nvSpPr>
          <p:cNvPr id="64" name="Shape 52"/>
          <p:cNvSpPr/>
          <p:nvPr/>
        </p:nvSpPr>
        <p:spPr>
          <a:xfrm>
            <a:off x="6377940" y="4904232"/>
            <a:ext cx="457200" cy="457200"/>
          </a:xfrm>
          <a:prstGeom prst="ellipse">
            <a:avLst/>
          </a:prstGeom>
          <a:solidFill>
            <a:schemeClr val="accent1"/>
          </a:solidFill>
          <a:ln w="12700">
            <a:solidFill>
              <a:schemeClr val="accent1"/>
            </a:solidFill>
            <a:prstDash val="solid"/>
          </a:ln>
        </p:spPr>
      </p:sp>
      <p:pic>
        <p:nvPicPr>
          <p:cNvPr id="65" name="Image 10" descr="preencoded.png">    </p:cNvPr>
          <p:cNvPicPr>
            <a:picLocks noChangeAspect="1"/>
          </p:cNvPicPr>
          <p:nvPr/>
        </p:nvPicPr>
        <p:blipFill>
          <a:blip r:embed="rId11"/>
          <a:stretch>
            <a:fillRect/>
          </a:stretch>
        </p:blipFill>
        <p:spPr>
          <a:xfrm>
            <a:off x="6478524" y="5004816"/>
            <a:ext cx="256032" cy="256032"/>
          </a:xfrm>
          <a:prstGeom prst="rect">
            <a:avLst/>
          </a:prstGeom>
        </p:spPr>
      </p:pic>
      <p:sp>
        <p:nvSpPr>
          <p:cNvPr id="66" name="Text 53"/>
          <p:cNvSpPr txBox="1"/>
          <p:nvPr/>
        </p:nvSpPr>
        <p:spPr>
          <a:xfrm>
            <a:off x="6926580" y="4885944"/>
            <a:ext cx="1680210" cy="493776"/>
          </a:xfrm>
          <a:prstGeom prst="rect">
            <a:avLst/>
          </a:prstGeom>
          <a:noFill/>
          <a:ln/>
        </p:spPr>
        <p:txBody>
          <a:bodyPr wrap="square" lIns="0" tIns="0" rIns="0" bIns="0" rtlCol="0" anchor="ctr">
            <a:normAutofit/>
          </a:bodyPr>
          <a:lstStyle/>
          <a:p>
            <a:pPr indent="0" marL="0">
              <a:buNone/>
            </a:pPr>
            <a:r>
              <a:rPr lang="en-US" sz="1400" b="1" dirty="0">
                <a:solidFill>
                  <a:schemeClr val="tx2"/>
                </a:solidFill>
              </a:rPr>
              <a:t>bash, perl, coreutils</a:t>
            </a:r>
            <a:endParaRPr lang="en-US" sz="1400" dirty="0"/>
          </a:p>
        </p:txBody>
      </p:sp>
      <p:sp>
        <p:nvSpPr>
          <p:cNvPr id="67" name="Text 54"/>
          <p:cNvSpPr txBox="1"/>
          <p:nvPr/>
        </p:nvSpPr>
        <p:spPr>
          <a:xfrm>
            <a:off x="6377940" y="5434584"/>
            <a:ext cx="2228850" cy="274320"/>
          </a:xfrm>
          <a:prstGeom prst="rect">
            <a:avLst/>
          </a:prstGeom>
          <a:noFill/>
          <a:ln/>
        </p:spPr>
        <p:txBody>
          <a:bodyPr wrap="square" lIns="0" tIns="0" rIns="0" bIns="0" rtlCol="0" anchor="ctr"/>
          <a:lstStyle/>
          <a:p>
            <a:pPr indent="0" marL="0">
              <a:buNone/>
            </a:pPr>
            <a:r>
              <a:rPr lang="en-US" sz="1100" b="1" dirty="0">
                <a:solidFill>
                  <a:schemeClr val="accent1"/>
                </a:solidFill>
              </a:rPr>
              <a:t>OS packages</a:t>
            </a:r>
            <a:endParaRPr lang="en-US" sz="1100" dirty="0"/>
          </a:p>
        </p:txBody>
      </p:sp>
      <p:sp>
        <p:nvSpPr>
          <p:cNvPr id="68" name="Text 55"/>
          <p:cNvSpPr txBox="1"/>
          <p:nvPr/>
        </p:nvSpPr>
        <p:spPr>
          <a:xfrm>
            <a:off x="6377940" y="5745480"/>
            <a:ext cx="2228850" cy="353568"/>
          </a:xfrm>
          <a:prstGeom prst="rect">
            <a:avLst/>
          </a:prstGeom>
          <a:noFill/>
          <a:ln/>
        </p:spPr>
        <p:txBody>
          <a:bodyPr wrap="square" lIns="0" tIns="0" rIns="0" bIns="0" rtlCol="0" anchor="t"/>
          <a:lstStyle/>
          <a:p>
            <a:pPr indent="0" marL="0">
              <a:buNone/>
            </a:pPr>
            <a:r>
              <a:rPr lang="en-US" sz="1200" dirty="0">
                <a:solidFill>
                  <a:schemeClr val="tx1"/>
                </a:solidFill>
              </a:rPr>
              <a:t>Run scripts, render templates, verify checksums</a:t>
            </a:r>
            <a:endParaRPr lang="en-US" sz="1200" dirty="0"/>
          </a:p>
        </p:txBody>
      </p:sp>
      <p:sp>
        <p:nvSpPr>
          <p:cNvPr id="69" name="card PowerShell"/>
          <p:cNvSpPr/>
          <p:nvPr/>
        </p:nvSpPr>
        <p:spPr>
          <a:xfrm>
            <a:off x="9018270" y="4721352"/>
            <a:ext cx="2594610" cy="1496568"/>
          </a:xfrm>
          <a:prstGeom prst="roundRect">
            <a:avLst>
              <a:gd name="adj" fmla="val 4888"/>
            </a:avLst>
          </a:prstGeom>
          <a:solidFill>
            <a:schemeClr val="bg2"/>
          </a:solidFill>
          <a:ln w="12700">
            <a:solidFill>
              <a:schemeClr val="bg2"/>
            </a:solidFill>
            <a:prstDash val="solid"/>
          </a:ln>
        </p:spPr>
      </p:sp>
      <p:sp>
        <p:nvSpPr>
          <p:cNvPr id="70" name="Shape 57"/>
          <p:cNvSpPr/>
          <p:nvPr/>
        </p:nvSpPr>
        <p:spPr>
          <a:xfrm>
            <a:off x="9201150" y="4904232"/>
            <a:ext cx="457200" cy="457200"/>
          </a:xfrm>
          <a:prstGeom prst="ellipse">
            <a:avLst/>
          </a:prstGeom>
          <a:solidFill>
            <a:schemeClr val="accent1"/>
          </a:solidFill>
          <a:ln w="12700">
            <a:solidFill>
              <a:schemeClr val="accent1"/>
            </a:solidFill>
            <a:prstDash val="solid"/>
          </a:ln>
        </p:spPr>
      </p:sp>
      <p:pic>
        <p:nvPicPr>
          <p:cNvPr id="71" name="Image 11" descr="preencoded.png">    </p:cNvPr>
          <p:cNvPicPr>
            <a:picLocks noChangeAspect="1"/>
          </p:cNvPicPr>
          <p:nvPr/>
        </p:nvPicPr>
        <p:blipFill>
          <a:blip r:embed="rId12"/>
          <a:stretch>
            <a:fillRect/>
          </a:stretch>
        </p:blipFill>
        <p:spPr>
          <a:xfrm>
            <a:off x="9301734" y="5004816"/>
            <a:ext cx="256032" cy="256032"/>
          </a:xfrm>
          <a:prstGeom prst="rect">
            <a:avLst/>
          </a:prstGeom>
        </p:spPr>
      </p:pic>
      <p:sp>
        <p:nvSpPr>
          <p:cNvPr id="72" name="Text 58"/>
          <p:cNvSpPr txBox="1"/>
          <p:nvPr/>
        </p:nvSpPr>
        <p:spPr>
          <a:xfrm>
            <a:off x="9749790" y="4885944"/>
            <a:ext cx="1680210" cy="493776"/>
          </a:xfrm>
          <a:prstGeom prst="rect">
            <a:avLst/>
          </a:prstGeom>
          <a:noFill/>
          <a:ln/>
        </p:spPr>
        <p:txBody>
          <a:bodyPr wrap="square" lIns="0" tIns="0" rIns="0" bIns="0" rtlCol="0" anchor="ctr">
            <a:normAutofit/>
          </a:bodyPr>
          <a:lstStyle/>
          <a:p>
            <a:pPr indent="0" marL="0">
              <a:buNone/>
            </a:pPr>
            <a:r>
              <a:rPr lang="en-US" sz="1400" b="1" dirty="0">
                <a:solidFill>
                  <a:schemeClr val="tx2"/>
                </a:solidFill>
              </a:rPr>
              <a:t>PowerShell</a:t>
            </a:r>
            <a:endParaRPr lang="en-US" sz="1400" dirty="0"/>
          </a:p>
        </p:txBody>
      </p:sp>
      <p:sp>
        <p:nvSpPr>
          <p:cNvPr id="73" name="Text 59"/>
          <p:cNvSpPr txBox="1"/>
          <p:nvPr/>
        </p:nvSpPr>
        <p:spPr>
          <a:xfrm>
            <a:off x="9201150" y="5434584"/>
            <a:ext cx="2228850" cy="274320"/>
          </a:xfrm>
          <a:prstGeom prst="rect">
            <a:avLst/>
          </a:prstGeom>
          <a:noFill/>
          <a:ln/>
        </p:spPr>
        <p:txBody>
          <a:bodyPr wrap="square" lIns="0" tIns="0" rIns="0" bIns="0" rtlCol="0" anchor="ctr"/>
          <a:lstStyle/>
          <a:p>
            <a:pPr indent="0" marL="0">
              <a:buNone/>
            </a:pPr>
            <a:r>
              <a:rPr lang="en-US" sz="1100" b="1" dirty="0">
                <a:solidFill>
                  <a:schemeClr val="accent1"/>
                </a:solidFill>
              </a:rPr>
              <a:t>5.1+ (Windows)</a:t>
            </a:r>
            <a:endParaRPr lang="en-US" sz="1100" dirty="0"/>
          </a:p>
        </p:txBody>
      </p:sp>
      <p:sp>
        <p:nvSpPr>
          <p:cNvPr id="74" name="Text 60"/>
          <p:cNvSpPr txBox="1"/>
          <p:nvPr/>
        </p:nvSpPr>
        <p:spPr>
          <a:xfrm>
            <a:off x="9201150" y="5745480"/>
            <a:ext cx="2228850" cy="353568"/>
          </a:xfrm>
          <a:prstGeom prst="rect">
            <a:avLst/>
          </a:prstGeom>
          <a:noFill/>
          <a:ln/>
        </p:spPr>
        <p:txBody>
          <a:bodyPr wrap="square" lIns="0" tIns="0" rIns="0" bIns="0" rtlCol="0" anchor="t"/>
          <a:lstStyle/>
          <a:p>
            <a:pPr indent="0" marL="0">
              <a:buNone/>
            </a:pPr>
            <a:r>
              <a:rPr lang="en-US" sz="1200" dirty="0">
                <a:solidFill>
                  <a:schemeClr val="tx1"/>
                </a:solidFill>
              </a:rPr>
              <a:t>Windows hosts file and certificate trust</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8EAD"/>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7315200" cy="1097280"/>
          </a:xfrm>
          <a:prstGeom prst="rect">
            <a:avLst/>
          </a:prstGeom>
          <a:noFill/>
          <a:ln/>
        </p:spPr>
        <p:txBody>
          <a:bodyPr wrap="square" rtlCol="0" anchor="b"/>
          <a:lstStyle/>
          <a:p>
            <a:pPr algn="l" indent="0" marL="0">
              <a:buNone/>
            </a:pPr>
            <a:r>
              <a:rPr lang="en-US" sz="4000" b="1" dirty="0">
                <a:solidFill>
                  <a:schemeClr val="bg1"/>
                </a:solidFill>
              </a:rPr>
              <a:t>Cluster platform</a:t>
            </a:r>
            <a:endParaRPr lang="en-US" sz="4000" dirty="0"/>
          </a:p>
        </p:txBody>
      </p:sp>
      <p:sp>
        <p:nvSpPr>
          <p:cNvPr id="3" name="Text 0"/>
          <p:cNvSpPr/>
          <p:nvPr>
            <p:ph idx="101" type="body" hasCustomPrompt="1"/>
          </p:nvPr>
        </p:nvSpPr>
        <p:spPr>
          <a:xfrm>
            <a:off x="731520" y="3566160"/>
            <a:ext cx="7315200" cy="1280160"/>
          </a:xfrm>
          <a:prstGeom prst="rect">
            <a:avLst/>
          </a:prstGeom>
          <a:noFill/>
          <a:ln/>
        </p:spPr>
        <p:txBody>
          <a:bodyPr wrap="square" rtlCol="0" anchor="t"/>
          <a:lstStyle/>
          <a:p>
            <a:pPr indent="0" marL="0">
              <a:buNone/>
            </a:pPr>
            <a:r>
              <a:rPr lang="en-US" sz="1800" dirty="0">
                <a:solidFill>
                  <a:srgbClr val="9BC4CB"/>
                </a:solidFill>
              </a:rPr>
              <a:t>Infrastructure the Sigstore services need: networking, DNS, storage, ingress and the image supply. None of it is Sigstore-specific, but each piece solves a concrete offline problem.</a:t>
            </a:r>
            <a:endParaRPr lang="en-US" sz="1800" dirty="0"/>
          </a:p>
        </p:txBody>
      </p:sp>
      <p:sp>
        <p:nvSpPr>
          <p:cNvPr id="4" name="Shape 2"/>
          <p:cNvSpPr/>
          <p:nvPr/>
        </p:nvSpPr>
        <p:spPr>
          <a:xfrm>
            <a:off x="8778240" y="2011680"/>
            <a:ext cx="2560320" cy="256032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464040" y="2697480"/>
            <a:ext cx="1188720" cy="1188720"/>
          </a:xfrm>
          <a:prstGeom prst="rect">
            <a:avLst/>
          </a:prstGeom>
        </p:spPr>
      </p:pic>
      <p:sp>
        <p:nvSpPr>
          <p:cNvPr id="6" name="Text 3"/>
          <p:cNvSpPr txBox="1"/>
          <p:nvPr/>
        </p:nvSpPr>
        <p:spPr>
          <a:xfrm>
            <a:off x="8778240" y="4754880"/>
            <a:ext cx="2560320" cy="457200"/>
          </a:xfrm>
          <a:prstGeom prst="rect">
            <a:avLst/>
          </a:prstGeom>
          <a:noFill/>
          <a:ln/>
        </p:spPr>
        <p:txBody>
          <a:bodyPr wrap="square" lIns="0" tIns="0" rIns="0" bIns="0" rtlCol="0" anchor="ctr"/>
          <a:lstStyle/>
          <a:p>
            <a:pPr algn="ctr" indent="0" marL="0">
              <a:buNone/>
            </a:pPr>
            <a:r>
              <a:rPr lang="en-US" sz="1800" b="1" dirty="0">
                <a:solidFill>
                  <a:srgbClr val="9BC4CB"/>
                </a:solidFill>
              </a:rPr>
              <a:t>5 tools</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BC4C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Cluster platform: what each one is for</a:t>
            </a:r>
            <a:endParaRPr lang="en-US" sz="3200" dirty="0"/>
          </a:p>
        </p:txBody>
      </p:sp>
      <p:sp>
        <p:nvSpPr>
          <p:cNvPr id="3" name="card containerd (in the kind node)"/>
          <p:cNvSpPr/>
          <p:nvPr/>
        </p:nvSpPr>
        <p:spPr>
          <a:xfrm>
            <a:off x="548640" y="1325880"/>
            <a:ext cx="3535680" cy="2345436"/>
          </a:xfrm>
          <a:prstGeom prst="roundRect">
            <a:avLst>
              <a:gd name="adj" fmla="val 3119"/>
            </a:avLst>
          </a:prstGeom>
          <a:solidFill>
            <a:schemeClr val="bg2"/>
          </a:solidFill>
          <a:ln w="12700">
            <a:solidFill>
              <a:schemeClr val="bg2"/>
            </a:solidFill>
            <a:prstDash val="solid"/>
          </a:ln>
        </p:spPr>
      </p:sp>
      <p:sp>
        <p:nvSpPr>
          <p:cNvPr id="4" name="Shape 2"/>
          <p:cNvSpPr/>
          <p:nvPr/>
        </p:nvSpPr>
        <p:spPr>
          <a:xfrm>
            <a:off x="731520" y="1508760"/>
            <a:ext cx="640080" cy="64008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72338" y="1649578"/>
            <a:ext cx="358445" cy="358445"/>
          </a:xfrm>
          <a:prstGeom prst="rect">
            <a:avLst/>
          </a:prstGeom>
        </p:spPr>
      </p:pic>
      <p:sp>
        <p:nvSpPr>
          <p:cNvPr id="6" name="Text 3"/>
          <p:cNvSpPr txBox="1"/>
          <p:nvPr/>
        </p:nvSpPr>
        <p:spPr>
          <a:xfrm>
            <a:off x="1463040" y="1490472"/>
            <a:ext cx="2438400" cy="676656"/>
          </a:xfrm>
          <a:prstGeom prst="rect">
            <a:avLst/>
          </a:prstGeom>
          <a:noFill/>
          <a:ln/>
        </p:spPr>
        <p:txBody>
          <a:bodyPr wrap="square" lIns="0" tIns="0" rIns="0" bIns="0" rtlCol="0" anchor="ctr">
            <a:normAutofit/>
          </a:bodyPr>
          <a:lstStyle/>
          <a:p>
            <a:pPr indent="0" marL="0">
              <a:buNone/>
            </a:pPr>
            <a:r>
              <a:rPr lang="en-US" sz="1800" b="1" dirty="0">
                <a:solidFill>
                  <a:schemeClr val="tx2"/>
                </a:solidFill>
              </a:rPr>
              <a:t>containerd (in the kind node)</a:t>
            </a:r>
            <a:endParaRPr lang="en-US" sz="1800" dirty="0"/>
          </a:p>
        </p:txBody>
      </p:sp>
      <p:sp>
        <p:nvSpPr>
          <p:cNvPr id="7" name="Text 4"/>
          <p:cNvSpPr txBox="1"/>
          <p:nvPr/>
        </p:nvSpPr>
        <p:spPr>
          <a:xfrm>
            <a:off x="731520" y="2221992"/>
            <a:ext cx="3169920" cy="274320"/>
          </a:xfrm>
          <a:prstGeom prst="rect">
            <a:avLst/>
          </a:prstGeom>
          <a:noFill/>
          <a:ln/>
        </p:spPr>
        <p:txBody>
          <a:bodyPr wrap="square" lIns="0" tIns="0" rIns="0" bIns="0" rtlCol="0" anchor="ctr"/>
          <a:lstStyle/>
          <a:p>
            <a:pPr indent="0" marL="0">
              <a:buNone/>
            </a:pPr>
            <a:r>
              <a:rPr lang="en-US" sz="1100" b="1" dirty="0">
                <a:solidFill>
                  <a:schemeClr val="accent1"/>
                </a:solidFill>
              </a:rPr>
              <a:t>bundled in kindest/node</a:t>
            </a:r>
            <a:endParaRPr lang="en-US" sz="1100" dirty="0"/>
          </a:p>
        </p:txBody>
      </p:sp>
      <p:sp>
        <p:nvSpPr>
          <p:cNvPr id="8" name="Text 5"/>
          <p:cNvSpPr txBox="1"/>
          <p:nvPr/>
        </p:nvSpPr>
        <p:spPr>
          <a:xfrm>
            <a:off x="731520" y="2532888"/>
            <a:ext cx="3169920" cy="1019556"/>
          </a:xfrm>
          <a:prstGeom prst="rect">
            <a:avLst/>
          </a:prstGeom>
          <a:noFill/>
          <a:ln/>
        </p:spPr>
        <p:txBody>
          <a:bodyPr wrap="square" lIns="0" tIns="0" rIns="0" bIns="0" rtlCol="0" anchor="t"/>
          <a:lstStyle/>
          <a:p>
            <a:pPr indent="0" marL="0">
              <a:buNone/>
            </a:pPr>
            <a:r>
              <a:rPr lang="en-US" sz="1300" dirty="0">
                <a:solidFill>
                  <a:schemeClr val="tx1"/>
                </a:solidFill>
              </a:rPr>
              <a:t>Configured through hosts.toml files to fetch docker.io, ghcr.io, quay.io, gcr.io, registry.k8s.io and reg.kyverno.io images from the local mirror, and to trust the private registry's TLS certificate.</a:t>
            </a:r>
            <a:endParaRPr lang="en-US" sz="1300" dirty="0"/>
          </a:p>
        </p:txBody>
      </p:sp>
      <p:sp>
        <p:nvSpPr>
          <p:cNvPr id="9" name="card Offline image mirror (registry:2)"/>
          <p:cNvSpPr/>
          <p:nvPr/>
        </p:nvSpPr>
        <p:spPr>
          <a:xfrm>
            <a:off x="4312920" y="1325880"/>
            <a:ext cx="3535680" cy="2345436"/>
          </a:xfrm>
          <a:prstGeom prst="roundRect">
            <a:avLst>
              <a:gd name="adj" fmla="val 3119"/>
            </a:avLst>
          </a:prstGeom>
          <a:solidFill>
            <a:schemeClr val="bg2"/>
          </a:solidFill>
          <a:ln w="12700">
            <a:solidFill>
              <a:schemeClr val="bg2"/>
            </a:solidFill>
            <a:prstDash val="solid"/>
          </a:ln>
        </p:spPr>
      </p:sp>
      <p:sp>
        <p:nvSpPr>
          <p:cNvPr id="10" name="Shape 7"/>
          <p:cNvSpPr/>
          <p:nvPr/>
        </p:nvSpPr>
        <p:spPr>
          <a:xfrm>
            <a:off x="4495800" y="1508760"/>
            <a:ext cx="640080" cy="64008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636618" y="1649578"/>
            <a:ext cx="358445" cy="358445"/>
          </a:xfrm>
          <a:prstGeom prst="rect">
            <a:avLst/>
          </a:prstGeom>
        </p:spPr>
      </p:pic>
      <p:sp>
        <p:nvSpPr>
          <p:cNvPr id="12" name="Text 8"/>
          <p:cNvSpPr txBox="1"/>
          <p:nvPr/>
        </p:nvSpPr>
        <p:spPr>
          <a:xfrm>
            <a:off x="5227320" y="1490472"/>
            <a:ext cx="2438400" cy="676656"/>
          </a:xfrm>
          <a:prstGeom prst="rect">
            <a:avLst/>
          </a:prstGeom>
          <a:noFill/>
          <a:ln/>
        </p:spPr>
        <p:txBody>
          <a:bodyPr wrap="square" lIns="0" tIns="0" rIns="0" bIns="0" rtlCol="0" anchor="ctr">
            <a:normAutofit/>
          </a:bodyPr>
          <a:lstStyle/>
          <a:p>
            <a:pPr indent="0" marL="0">
              <a:buNone/>
            </a:pPr>
            <a:r>
              <a:rPr lang="en-US" sz="1800" b="1" dirty="0">
                <a:solidFill>
                  <a:schemeClr val="tx2"/>
                </a:solidFill>
              </a:rPr>
              <a:t>Offline image mirror (registry:2)</a:t>
            </a:r>
            <a:endParaRPr lang="en-US" sz="1800" dirty="0"/>
          </a:p>
        </p:txBody>
      </p:sp>
      <p:sp>
        <p:nvSpPr>
          <p:cNvPr id="13" name="Text 9"/>
          <p:cNvSpPr txBox="1"/>
          <p:nvPr/>
        </p:nvSpPr>
        <p:spPr>
          <a:xfrm>
            <a:off x="4495800" y="2221992"/>
            <a:ext cx="3169920" cy="274320"/>
          </a:xfrm>
          <a:prstGeom prst="rect">
            <a:avLst/>
          </a:prstGeom>
          <a:noFill/>
          <a:ln/>
        </p:spPr>
        <p:txBody>
          <a:bodyPr wrap="square" lIns="0" tIns="0" rIns="0" bIns="0" rtlCol="0" anchor="ctr"/>
          <a:lstStyle/>
          <a:p>
            <a:pPr indent="0" marL="0">
              <a:buNone/>
            </a:pPr>
            <a:r>
              <a:rPr lang="en-US" sz="1100" b="1" dirty="0">
                <a:solidFill>
                  <a:schemeClr val="accent1"/>
                </a:solidFill>
              </a:rPr>
              <a:t>2.8.3</a:t>
            </a:r>
            <a:endParaRPr lang="en-US" sz="1100" dirty="0"/>
          </a:p>
        </p:txBody>
      </p:sp>
      <p:sp>
        <p:nvSpPr>
          <p:cNvPr id="14" name="Text 10"/>
          <p:cNvSpPr txBox="1"/>
          <p:nvPr/>
        </p:nvSpPr>
        <p:spPr>
          <a:xfrm>
            <a:off x="4495800" y="2532888"/>
            <a:ext cx="3169920" cy="1019556"/>
          </a:xfrm>
          <a:prstGeom prst="rect">
            <a:avLst/>
          </a:prstGeom>
          <a:noFill/>
          <a:ln/>
        </p:spPr>
        <p:txBody>
          <a:bodyPr wrap="square" lIns="0" tIns="0" rIns="0" bIns="0" rtlCol="0" anchor="t"/>
          <a:lstStyle/>
          <a:p>
            <a:pPr indent="0" marL="0">
              <a:buNone/>
            </a:pPr>
            <a:r>
              <a:rPr lang="en-US" sz="1300" dirty="0">
                <a:solidFill>
                  <a:schemeClr val="tx1"/>
                </a:solidFill>
              </a:rPr>
              <a:t>Replaces the internet for image pulls.</a:t>
            </a:r>
            <a:endParaRPr lang="en-US" sz="1300" dirty="0"/>
          </a:p>
        </p:txBody>
      </p:sp>
      <p:sp>
        <p:nvSpPr>
          <p:cNvPr id="15" name="card Traefik"/>
          <p:cNvSpPr/>
          <p:nvPr/>
        </p:nvSpPr>
        <p:spPr>
          <a:xfrm>
            <a:off x="8077200" y="1325880"/>
            <a:ext cx="3535680" cy="2345436"/>
          </a:xfrm>
          <a:prstGeom prst="roundRect">
            <a:avLst>
              <a:gd name="adj" fmla="val 3119"/>
            </a:avLst>
          </a:prstGeom>
          <a:solidFill>
            <a:schemeClr val="bg2"/>
          </a:solidFill>
          <a:ln w="12700">
            <a:solidFill>
              <a:schemeClr val="bg2"/>
            </a:solidFill>
            <a:prstDash val="solid"/>
          </a:ln>
        </p:spPr>
      </p:sp>
      <p:sp>
        <p:nvSpPr>
          <p:cNvPr id="16" name="Shape 12"/>
          <p:cNvSpPr/>
          <p:nvPr/>
        </p:nvSpPr>
        <p:spPr>
          <a:xfrm>
            <a:off x="8260080" y="1508760"/>
            <a:ext cx="640080" cy="640080"/>
          </a:xfrm>
          <a:prstGeom prst="ellipse">
            <a:avLst/>
          </a:prstGeom>
          <a:solidFill>
            <a:schemeClr val="accent1"/>
          </a:solidFill>
          <a:ln w="12700">
            <a:solidFill>
              <a:schemeClr val="accent1"/>
            </a:solidFill>
            <a:prstDash val="solid"/>
          </a:ln>
        </p:spPr>
      </p:sp>
      <p:pic>
        <p:nvPicPr>
          <p:cNvPr id="17" name="Image 2" descr="preencoded.png">    </p:cNvPr>
          <p:cNvPicPr>
            <a:picLocks noChangeAspect="1"/>
          </p:cNvPicPr>
          <p:nvPr/>
        </p:nvPicPr>
        <p:blipFill>
          <a:blip r:embed="rId3"/>
          <a:stretch>
            <a:fillRect/>
          </a:stretch>
        </p:blipFill>
        <p:spPr>
          <a:xfrm>
            <a:off x="8400898" y="1649578"/>
            <a:ext cx="358445" cy="358445"/>
          </a:xfrm>
          <a:prstGeom prst="rect">
            <a:avLst/>
          </a:prstGeom>
        </p:spPr>
      </p:pic>
      <p:sp>
        <p:nvSpPr>
          <p:cNvPr id="18" name="Text 13"/>
          <p:cNvSpPr txBox="1"/>
          <p:nvPr/>
        </p:nvSpPr>
        <p:spPr>
          <a:xfrm>
            <a:off x="8991600" y="1490472"/>
            <a:ext cx="2438400" cy="676656"/>
          </a:xfrm>
          <a:prstGeom prst="rect">
            <a:avLst/>
          </a:prstGeom>
          <a:noFill/>
          <a:ln/>
        </p:spPr>
        <p:txBody>
          <a:bodyPr wrap="square" lIns="0" tIns="0" rIns="0" bIns="0" rtlCol="0" anchor="ctr">
            <a:normAutofit/>
          </a:bodyPr>
          <a:lstStyle/>
          <a:p>
            <a:pPr indent="0" marL="0">
              <a:buNone/>
            </a:pPr>
            <a:r>
              <a:rPr lang="en-US" sz="1800" b="1" dirty="0">
                <a:solidFill>
                  <a:schemeClr val="tx2"/>
                </a:solidFill>
              </a:rPr>
              <a:t>Traefik</a:t>
            </a:r>
            <a:endParaRPr lang="en-US" sz="1800" dirty="0"/>
          </a:p>
        </p:txBody>
      </p:sp>
      <p:sp>
        <p:nvSpPr>
          <p:cNvPr id="19" name="Text 14"/>
          <p:cNvSpPr txBox="1"/>
          <p:nvPr/>
        </p:nvSpPr>
        <p:spPr>
          <a:xfrm>
            <a:off x="8260080" y="2221992"/>
            <a:ext cx="3169920" cy="274320"/>
          </a:xfrm>
          <a:prstGeom prst="rect">
            <a:avLst/>
          </a:prstGeom>
          <a:noFill/>
          <a:ln/>
        </p:spPr>
        <p:txBody>
          <a:bodyPr wrap="square" lIns="0" tIns="0" rIns="0" bIns="0" rtlCol="0" anchor="ctr"/>
          <a:lstStyle/>
          <a:p>
            <a:pPr indent="0" marL="0">
              <a:buNone/>
            </a:pPr>
            <a:r>
              <a:rPr lang="en-US" sz="1100" b="1" dirty="0">
                <a:solidFill>
                  <a:schemeClr val="accent1"/>
                </a:solidFill>
              </a:rPr>
              <a:t>v3.7.14 (chart 42.0.0)</a:t>
            </a:r>
            <a:endParaRPr lang="en-US" sz="1100" dirty="0"/>
          </a:p>
        </p:txBody>
      </p:sp>
      <p:sp>
        <p:nvSpPr>
          <p:cNvPr id="20" name="Text 15"/>
          <p:cNvSpPr txBox="1"/>
          <p:nvPr/>
        </p:nvSpPr>
        <p:spPr>
          <a:xfrm>
            <a:off x="8260080" y="2532888"/>
            <a:ext cx="3169920" cy="1019556"/>
          </a:xfrm>
          <a:prstGeom prst="rect">
            <a:avLst/>
          </a:prstGeom>
          <a:noFill/>
          <a:ln/>
        </p:spPr>
        <p:txBody>
          <a:bodyPr wrap="square" lIns="0" tIns="0" rIns="0" bIns="0" rtlCol="0" anchor="t"/>
          <a:lstStyle/>
          <a:p>
            <a:pPr indent="0" marL="0">
              <a:buNone/>
            </a:pPr>
            <a:r>
              <a:rPr lang="en-US" sz="1300" dirty="0">
                <a:solidFill>
                  <a:schemeClr val="tx1"/>
                </a:solidFill>
              </a:rPr>
              <a:t>Single TLS front door for keycloak, fulcio, rekor, registry and tuf .sigstore.local.</a:t>
            </a:r>
            <a:endParaRPr lang="en-US" sz="1300" dirty="0"/>
          </a:p>
        </p:txBody>
      </p:sp>
      <p:sp>
        <p:nvSpPr>
          <p:cNvPr id="21" name="card CoreDNS"/>
          <p:cNvSpPr/>
          <p:nvPr/>
        </p:nvSpPr>
        <p:spPr>
          <a:xfrm>
            <a:off x="548640" y="3872484"/>
            <a:ext cx="3535680" cy="2345436"/>
          </a:xfrm>
          <a:prstGeom prst="roundRect">
            <a:avLst>
              <a:gd name="adj" fmla="val 3119"/>
            </a:avLst>
          </a:prstGeom>
          <a:solidFill>
            <a:schemeClr val="bg2"/>
          </a:solidFill>
          <a:ln w="12700">
            <a:solidFill>
              <a:schemeClr val="bg2"/>
            </a:solidFill>
            <a:prstDash val="solid"/>
          </a:ln>
        </p:spPr>
      </p:sp>
      <p:sp>
        <p:nvSpPr>
          <p:cNvPr id="22" name="Shape 17"/>
          <p:cNvSpPr/>
          <p:nvPr/>
        </p:nvSpPr>
        <p:spPr>
          <a:xfrm>
            <a:off x="731520" y="4055364"/>
            <a:ext cx="640080" cy="640080"/>
          </a:xfrm>
          <a:prstGeom prst="ellipse">
            <a:avLst/>
          </a:prstGeom>
          <a:solidFill>
            <a:schemeClr val="accent1"/>
          </a:solidFill>
          <a:ln w="12700">
            <a:solidFill>
              <a:schemeClr val="accent1"/>
            </a:solidFill>
            <a:prstDash val="solid"/>
          </a:ln>
        </p:spPr>
      </p:sp>
      <p:pic>
        <p:nvPicPr>
          <p:cNvPr id="23" name="Image 3" descr="preencoded.png">    </p:cNvPr>
          <p:cNvPicPr>
            <a:picLocks noChangeAspect="1"/>
          </p:cNvPicPr>
          <p:nvPr/>
        </p:nvPicPr>
        <p:blipFill>
          <a:blip r:embed="rId4"/>
          <a:stretch>
            <a:fillRect/>
          </a:stretch>
        </p:blipFill>
        <p:spPr>
          <a:xfrm>
            <a:off x="872338" y="4196182"/>
            <a:ext cx="358445" cy="358445"/>
          </a:xfrm>
          <a:prstGeom prst="rect">
            <a:avLst/>
          </a:prstGeom>
        </p:spPr>
      </p:pic>
      <p:sp>
        <p:nvSpPr>
          <p:cNvPr id="24" name="Text 18"/>
          <p:cNvSpPr txBox="1"/>
          <p:nvPr/>
        </p:nvSpPr>
        <p:spPr>
          <a:xfrm>
            <a:off x="1463040" y="4037076"/>
            <a:ext cx="2438400" cy="676656"/>
          </a:xfrm>
          <a:prstGeom prst="rect">
            <a:avLst/>
          </a:prstGeom>
          <a:noFill/>
          <a:ln/>
        </p:spPr>
        <p:txBody>
          <a:bodyPr wrap="square" lIns="0" tIns="0" rIns="0" bIns="0" rtlCol="0" anchor="ctr">
            <a:normAutofit/>
          </a:bodyPr>
          <a:lstStyle/>
          <a:p>
            <a:pPr indent="0" marL="0">
              <a:buNone/>
            </a:pPr>
            <a:r>
              <a:rPr lang="en-US" sz="1800" b="1" dirty="0">
                <a:solidFill>
                  <a:schemeClr val="tx2"/>
                </a:solidFill>
              </a:rPr>
              <a:t>CoreDNS</a:t>
            </a:r>
            <a:endParaRPr lang="en-US" sz="1800" dirty="0"/>
          </a:p>
        </p:txBody>
      </p:sp>
      <p:sp>
        <p:nvSpPr>
          <p:cNvPr id="25" name="Text 19"/>
          <p:cNvSpPr txBox="1"/>
          <p:nvPr/>
        </p:nvSpPr>
        <p:spPr>
          <a:xfrm>
            <a:off x="731520" y="4768596"/>
            <a:ext cx="3169920" cy="274320"/>
          </a:xfrm>
          <a:prstGeom prst="rect">
            <a:avLst/>
          </a:prstGeom>
          <a:noFill/>
          <a:ln/>
        </p:spPr>
        <p:txBody>
          <a:bodyPr wrap="square" lIns="0" tIns="0" rIns="0" bIns="0" rtlCol="0" anchor="ctr"/>
          <a:lstStyle/>
          <a:p>
            <a:pPr indent="0" marL="0">
              <a:buNone/>
            </a:pPr>
            <a:r>
              <a:rPr lang="en-US" sz="1100" b="1" dirty="0">
                <a:solidFill>
                  <a:schemeClr val="accent1"/>
                </a:solidFill>
              </a:rPr>
              <a:t>bundled with Kubernetes</a:t>
            </a:r>
            <a:endParaRPr lang="en-US" sz="1100" dirty="0"/>
          </a:p>
        </p:txBody>
      </p:sp>
      <p:sp>
        <p:nvSpPr>
          <p:cNvPr id="26" name="Text 20"/>
          <p:cNvSpPr txBox="1"/>
          <p:nvPr/>
        </p:nvSpPr>
        <p:spPr>
          <a:xfrm>
            <a:off x="731520" y="5079492"/>
            <a:ext cx="3169920" cy="1019556"/>
          </a:xfrm>
          <a:prstGeom prst="rect">
            <a:avLst/>
          </a:prstGeom>
          <a:noFill/>
          <a:ln/>
        </p:spPr>
        <p:txBody>
          <a:bodyPr wrap="square" lIns="0" tIns="0" rIns="0" bIns="0" rtlCol="0" anchor="t"/>
          <a:lstStyle/>
          <a:p>
            <a:pPr indent="0" marL="0">
              <a:buNone/>
            </a:pPr>
            <a:r>
              <a:rPr lang="en-US" sz="1300" dirty="0">
                <a:solidFill>
                  <a:schemeClr val="tx1"/>
                </a:solidFill>
              </a:rPr>
              <a:t>An extra sigstore.local zone answers every *.sigstore.local name with Traefik's IP, so Fulcio can reach Keycloak and Kyverno can reach the registry/TUF through the same TLS endpoints as the laptop.</a:t>
            </a:r>
            <a:endParaRPr lang="en-US" sz="1300" dirty="0"/>
          </a:p>
        </p:txBody>
      </p:sp>
      <p:sp>
        <p:nvSpPr>
          <p:cNvPr id="27" name="card local-path-provisioner"/>
          <p:cNvSpPr/>
          <p:nvPr/>
        </p:nvSpPr>
        <p:spPr>
          <a:xfrm>
            <a:off x="4312920" y="3872484"/>
            <a:ext cx="3535680" cy="2345436"/>
          </a:xfrm>
          <a:prstGeom prst="roundRect">
            <a:avLst>
              <a:gd name="adj" fmla="val 3119"/>
            </a:avLst>
          </a:prstGeom>
          <a:solidFill>
            <a:schemeClr val="bg2"/>
          </a:solidFill>
          <a:ln w="12700">
            <a:solidFill>
              <a:schemeClr val="bg2"/>
            </a:solidFill>
            <a:prstDash val="solid"/>
          </a:ln>
        </p:spPr>
      </p:sp>
      <p:sp>
        <p:nvSpPr>
          <p:cNvPr id="28" name="Shape 22"/>
          <p:cNvSpPr/>
          <p:nvPr/>
        </p:nvSpPr>
        <p:spPr>
          <a:xfrm>
            <a:off x="4495800" y="4055364"/>
            <a:ext cx="640080" cy="640080"/>
          </a:xfrm>
          <a:prstGeom prst="ellipse">
            <a:avLst/>
          </a:prstGeom>
          <a:solidFill>
            <a:schemeClr val="accent1"/>
          </a:solidFill>
          <a:ln w="12700">
            <a:solidFill>
              <a:schemeClr val="accent1"/>
            </a:solidFill>
            <a:prstDash val="solid"/>
          </a:ln>
        </p:spPr>
      </p:sp>
      <p:pic>
        <p:nvPicPr>
          <p:cNvPr id="29" name="Image 4" descr="preencoded.png">    </p:cNvPr>
          <p:cNvPicPr>
            <a:picLocks noChangeAspect="1"/>
          </p:cNvPicPr>
          <p:nvPr/>
        </p:nvPicPr>
        <p:blipFill>
          <a:blip r:embed="rId5"/>
          <a:stretch>
            <a:fillRect/>
          </a:stretch>
        </p:blipFill>
        <p:spPr>
          <a:xfrm>
            <a:off x="4636618" y="4196182"/>
            <a:ext cx="358445" cy="358445"/>
          </a:xfrm>
          <a:prstGeom prst="rect">
            <a:avLst/>
          </a:prstGeom>
        </p:spPr>
      </p:pic>
      <p:sp>
        <p:nvSpPr>
          <p:cNvPr id="30" name="Text 23"/>
          <p:cNvSpPr txBox="1"/>
          <p:nvPr/>
        </p:nvSpPr>
        <p:spPr>
          <a:xfrm>
            <a:off x="5227320" y="4037076"/>
            <a:ext cx="2438400" cy="676656"/>
          </a:xfrm>
          <a:prstGeom prst="rect">
            <a:avLst/>
          </a:prstGeom>
          <a:noFill/>
          <a:ln/>
        </p:spPr>
        <p:txBody>
          <a:bodyPr wrap="square" lIns="0" tIns="0" rIns="0" bIns="0" rtlCol="0" anchor="ctr">
            <a:normAutofit/>
          </a:bodyPr>
          <a:lstStyle/>
          <a:p>
            <a:pPr indent="0" marL="0">
              <a:buNone/>
            </a:pPr>
            <a:r>
              <a:rPr lang="en-US" sz="1800" b="1" dirty="0">
                <a:solidFill>
                  <a:schemeClr val="tx2"/>
                </a:solidFill>
              </a:rPr>
              <a:t>local-path-provisioner</a:t>
            </a:r>
            <a:endParaRPr lang="en-US" sz="1800" dirty="0"/>
          </a:p>
        </p:txBody>
      </p:sp>
      <p:sp>
        <p:nvSpPr>
          <p:cNvPr id="31" name="Text 24"/>
          <p:cNvSpPr txBox="1"/>
          <p:nvPr/>
        </p:nvSpPr>
        <p:spPr>
          <a:xfrm>
            <a:off x="4495800" y="4768596"/>
            <a:ext cx="3169920" cy="274320"/>
          </a:xfrm>
          <a:prstGeom prst="rect">
            <a:avLst/>
          </a:prstGeom>
          <a:noFill/>
          <a:ln/>
        </p:spPr>
        <p:txBody>
          <a:bodyPr wrap="square" lIns="0" tIns="0" rIns="0" bIns="0" rtlCol="0" anchor="ctr"/>
          <a:lstStyle/>
          <a:p>
            <a:pPr indent="0" marL="0">
              <a:buNone/>
            </a:pPr>
            <a:r>
              <a:rPr lang="en-US" sz="1100" b="1" dirty="0">
                <a:solidFill>
                  <a:schemeClr val="accent1"/>
                </a:solidFill>
              </a:rPr>
              <a:t>bundled with kind</a:t>
            </a:r>
            <a:endParaRPr lang="en-US" sz="1100" dirty="0"/>
          </a:p>
        </p:txBody>
      </p:sp>
      <p:sp>
        <p:nvSpPr>
          <p:cNvPr id="32" name="Text 25"/>
          <p:cNvSpPr txBox="1"/>
          <p:nvPr/>
        </p:nvSpPr>
        <p:spPr>
          <a:xfrm>
            <a:off x="4495800" y="5079492"/>
            <a:ext cx="3169920" cy="1019556"/>
          </a:xfrm>
          <a:prstGeom prst="rect">
            <a:avLst/>
          </a:prstGeom>
          <a:noFill/>
          <a:ln/>
        </p:spPr>
        <p:txBody>
          <a:bodyPr wrap="square" lIns="0" tIns="0" rIns="0" bIns="0" rtlCol="0" anchor="t"/>
          <a:lstStyle/>
          <a:p>
            <a:pPr indent="0" marL="0">
              <a:buNone/>
            </a:pPr>
            <a:r>
              <a:rPr lang="en-US" sz="1300" dirty="0">
                <a:solidFill>
                  <a:schemeClr val="tx1"/>
                </a:solidFill>
              </a:rPr>
              <a:t>Creates the PersistentVolumes for MySQL (transparency logs), the registry, Keycloak and Rekor attestation storage.</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8EAD"/>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7315200" cy="1097280"/>
          </a:xfrm>
          <a:prstGeom prst="rect">
            <a:avLst/>
          </a:prstGeom>
          <a:noFill/>
          <a:ln/>
        </p:spPr>
        <p:txBody>
          <a:bodyPr wrap="square" rtlCol="0" anchor="b"/>
          <a:lstStyle/>
          <a:p>
            <a:pPr algn="l" indent="0" marL="0">
              <a:buNone/>
            </a:pPr>
            <a:r>
              <a:rPr lang="en-US" sz="4000" b="1" dirty="0">
                <a:solidFill>
                  <a:schemeClr val="bg1"/>
                </a:solidFill>
              </a:rPr>
              <a:t>Sigstore services</a:t>
            </a:r>
            <a:endParaRPr lang="en-US" sz="4000" dirty="0"/>
          </a:p>
        </p:txBody>
      </p:sp>
      <p:sp>
        <p:nvSpPr>
          <p:cNvPr id="3" name="Text 0"/>
          <p:cNvSpPr/>
          <p:nvPr>
            <p:ph idx="101" type="body" hasCustomPrompt="1"/>
          </p:nvPr>
        </p:nvSpPr>
        <p:spPr>
          <a:xfrm>
            <a:off x="731520" y="3566160"/>
            <a:ext cx="7315200" cy="1280160"/>
          </a:xfrm>
          <a:prstGeom prst="rect">
            <a:avLst/>
          </a:prstGeom>
          <a:noFill/>
          <a:ln/>
        </p:spPr>
        <p:txBody>
          <a:bodyPr wrap="square" rtlCol="0" anchor="t"/>
          <a:lstStyle/>
          <a:p>
            <a:pPr indent="0" marL="0">
              <a:buNone/>
            </a:pPr>
            <a:r>
              <a:rPr lang="en-US" sz="1800" dirty="0">
                <a:solidFill>
                  <a:srgbClr val="9BC4CB"/>
                </a:solidFill>
              </a:rPr>
              <a:t>The core of the stack — private replacements for fulcio.sigstore.dev, rekor.sigstore.dev and the public CT log, all signing with keys you generated.</a:t>
            </a:r>
            <a:endParaRPr lang="en-US" sz="1800" dirty="0"/>
          </a:p>
        </p:txBody>
      </p:sp>
      <p:sp>
        <p:nvSpPr>
          <p:cNvPr id="4" name="Shape 2"/>
          <p:cNvSpPr/>
          <p:nvPr/>
        </p:nvSpPr>
        <p:spPr>
          <a:xfrm>
            <a:off x="8778240" y="2011680"/>
            <a:ext cx="2560320" cy="256032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464040" y="2697480"/>
            <a:ext cx="1188720" cy="1188720"/>
          </a:xfrm>
          <a:prstGeom prst="rect">
            <a:avLst/>
          </a:prstGeom>
        </p:spPr>
      </p:pic>
      <p:sp>
        <p:nvSpPr>
          <p:cNvPr id="6" name="Text 3"/>
          <p:cNvSpPr txBox="1"/>
          <p:nvPr/>
        </p:nvSpPr>
        <p:spPr>
          <a:xfrm>
            <a:off x="8778240" y="4754880"/>
            <a:ext cx="2560320" cy="457200"/>
          </a:xfrm>
          <a:prstGeom prst="rect">
            <a:avLst/>
          </a:prstGeom>
          <a:noFill/>
          <a:ln/>
        </p:spPr>
        <p:txBody>
          <a:bodyPr wrap="square" lIns="0" tIns="0" rIns="0" bIns="0" rtlCol="0" anchor="ctr"/>
          <a:lstStyle/>
          <a:p>
            <a:pPr algn="ctr" indent="0" marL="0">
              <a:buNone/>
            </a:pPr>
            <a:r>
              <a:rPr lang="en-US" sz="1800" b="1" dirty="0">
                <a:solidFill>
                  <a:srgbClr val="9BC4CB"/>
                </a:solidFill>
              </a:rPr>
              <a:t>6 tools</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BC4C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Sigstore services: what each one is for</a:t>
            </a:r>
            <a:endParaRPr lang="en-US" sz="3200" dirty="0"/>
          </a:p>
        </p:txBody>
      </p:sp>
      <p:sp>
        <p:nvSpPr>
          <p:cNvPr id="3" name="card Fulcio"/>
          <p:cNvSpPr/>
          <p:nvPr/>
        </p:nvSpPr>
        <p:spPr>
          <a:xfrm>
            <a:off x="548640" y="1325880"/>
            <a:ext cx="3535680" cy="2345436"/>
          </a:xfrm>
          <a:prstGeom prst="roundRect">
            <a:avLst>
              <a:gd name="adj" fmla="val 3119"/>
            </a:avLst>
          </a:prstGeom>
          <a:solidFill>
            <a:schemeClr val="bg2"/>
          </a:solidFill>
          <a:ln w="12700">
            <a:solidFill>
              <a:schemeClr val="bg2"/>
            </a:solidFill>
            <a:prstDash val="solid"/>
          </a:ln>
        </p:spPr>
      </p:sp>
      <p:sp>
        <p:nvSpPr>
          <p:cNvPr id="4" name="Shape 2"/>
          <p:cNvSpPr/>
          <p:nvPr/>
        </p:nvSpPr>
        <p:spPr>
          <a:xfrm>
            <a:off x="731520" y="1508760"/>
            <a:ext cx="640080" cy="64008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72338" y="1649578"/>
            <a:ext cx="358445" cy="358445"/>
          </a:xfrm>
          <a:prstGeom prst="rect">
            <a:avLst/>
          </a:prstGeom>
        </p:spPr>
      </p:pic>
      <p:sp>
        <p:nvSpPr>
          <p:cNvPr id="6" name="Text 3"/>
          <p:cNvSpPr txBox="1"/>
          <p:nvPr/>
        </p:nvSpPr>
        <p:spPr>
          <a:xfrm>
            <a:off x="1463040" y="1490472"/>
            <a:ext cx="2438400" cy="676656"/>
          </a:xfrm>
          <a:prstGeom prst="rect">
            <a:avLst/>
          </a:prstGeom>
          <a:noFill/>
          <a:ln/>
        </p:spPr>
        <p:txBody>
          <a:bodyPr wrap="square" lIns="0" tIns="0" rIns="0" bIns="0" rtlCol="0" anchor="ctr">
            <a:normAutofit/>
          </a:bodyPr>
          <a:lstStyle/>
          <a:p>
            <a:pPr indent="0" marL="0">
              <a:buNone/>
            </a:pPr>
            <a:r>
              <a:rPr lang="en-US" sz="1800" b="1" dirty="0">
                <a:solidFill>
                  <a:schemeClr val="tx2"/>
                </a:solidFill>
              </a:rPr>
              <a:t>Fulcio</a:t>
            </a:r>
            <a:endParaRPr lang="en-US" sz="1800" dirty="0"/>
          </a:p>
        </p:txBody>
      </p:sp>
      <p:sp>
        <p:nvSpPr>
          <p:cNvPr id="7" name="Text 4"/>
          <p:cNvSpPr txBox="1"/>
          <p:nvPr/>
        </p:nvSpPr>
        <p:spPr>
          <a:xfrm>
            <a:off x="731520" y="2221992"/>
            <a:ext cx="3169920" cy="274320"/>
          </a:xfrm>
          <a:prstGeom prst="rect">
            <a:avLst/>
          </a:prstGeom>
          <a:noFill/>
          <a:ln/>
        </p:spPr>
        <p:txBody>
          <a:bodyPr wrap="square" lIns="0" tIns="0" rIns="0" bIns="0" rtlCol="0" anchor="ctr"/>
          <a:lstStyle/>
          <a:p>
            <a:pPr indent="0" marL="0">
              <a:buNone/>
            </a:pPr>
            <a:r>
              <a:rPr lang="en-US" sz="1100" b="1" dirty="0">
                <a:solidFill>
                  <a:schemeClr val="accent1"/>
                </a:solidFill>
              </a:rPr>
              <a:t>v1.9.0 (chart 2.11.4)</a:t>
            </a:r>
            <a:endParaRPr lang="en-US" sz="1100" dirty="0"/>
          </a:p>
        </p:txBody>
      </p:sp>
      <p:sp>
        <p:nvSpPr>
          <p:cNvPr id="8" name="Text 5"/>
          <p:cNvSpPr txBox="1"/>
          <p:nvPr/>
        </p:nvSpPr>
        <p:spPr>
          <a:xfrm>
            <a:off x="731520" y="2532888"/>
            <a:ext cx="3169920" cy="1019556"/>
          </a:xfrm>
          <a:prstGeom prst="rect">
            <a:avLst/>
          </a:prstGeom>
          <a:noFill/>
          <a:ln/>
        </p:spPr>
        <p:txBody>
          <a:bodyPr wrap="square" lIns="0" tIns="0" rIns="0" bIns="0" rtlCol="0" anchor="t"/>
          <a:lstStyle/>
          <a:p>
            <a:pPr indent="0" marL="0">
              <a:buNone/>
            </a:pPr>
            <a:r>
              <a:rPr lang="en-US" sz="1300" dirty="0">
                <a:solidFill>
                  <a:schemeClr val="tx1"/>
                </a:solidFill>
              </a:rPr>
              <a:t>Turns a verified OIDC identity into a 10-minute X.509 signing certificate, issued by your intermediate CA.</a:t>
            </a:r>
            <a:endParaRPr lang="en-US" sz="1300" dirty="0"/>
          </a:p>
        </p:txBody>
      </p:sp>
      <p:sp>
        <p:nvSpPr>
          <p:cNvPr id="9" name="card CT log (ct_server / ctfe)"/>
          <p:cNvSpPr/>
          <p:nvPr/>
        </p:nvSpPr>
        <p:spPr>
          <a:xfrm>
            <a:off x="4312920" y="1325880"/>
            <a:ext cx="3535680" cy="2345436"/>
          </a:xfrm>
          <a:prstGeom prst="roundRect">
            <a:avLst>
              <a:gd name="adj" fmla="val 3119"/>
            </a:avLst>
          </a:prstGeom>
          <a:solidFill>
            <a:schemeClr val="bg2"/>
          </a:solidFill>
          <a:ln w="12700">
            <a:solidFill>
              <a:schemeClr val="bg2"/>
            </a:solidFill>
            <a:prstDash val="solid"/>
          </a:ln>
        </p:spPr>
      </p:sp>
      <p:sp>
        <p:nvSpPr>
          <p:cNvPr id="10" name="Shape 7"/>
          <p:cNvSpPr/>
          <p:nvPr/>
        </p:nvSpPr>
        <p:spPr>
          <a:xfrm>
            <a:off x="4495800" y="1508760"/>
            <a:ext cx="640080" cy="64008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636618" y="1649578"/>
            <a:ext cx="358445" cy="358445"/>
          </a:xfrm>
          <a:prstGeom prst="rect">
            <a:avLst/>
          </a:prstGeom>
        </p:spPr>
      </p:pic>
      <p:sp>
        <p:nvSpPr>
          <p:cNvPr id="12" name="Text 8"/>
          <p:cNvSpPr txBox="1"/>
          <p:nvPr/>
        </p:nvSpPr>
        <p:spPr>
          <a:xfrm>
            <a:off x="5227320" y="1490472"/>
            <a:ext cx="2438400" cy="676656"/>
          </a:xfrm>
          <a:prstGeom prst="rect">
            <a:avLst/>
          </a:prstGeom>
          <a:noFill/>
          <a:ln/>
        </p:spPr>
        <p:txBody>
          <a:bodyPr wrap="square" lIns="0" tIns="0" rIns="0" bIns="0" rtlCol="0" anchor="ctr">
            <a:normAutofit/>
          </a:bodyPr>
          <a:lstStyle/>
          <a:p>
            <a:pPr indent="0" marL="0">
              <a:buNone/>
            </a:pPr>
            <a:r>
              <a:rPr lang="en-US" sz="1800" b="1" dirty="0">
                <a:solidFill>
                  <a:schemeClr val="tx2"/>
                </a:solidFill>
              </a:rPr>
              <a:t>CT log (ct_server / ctfe)</a:t>
            </a:r>
            <a:endParaRPr lang="en-US" sz="1800" dirty="0"/>
          </a:p>
        </p:txBody>
      </p:sp>
      <p:sp>
        <p:nvSpPr>
          <p:cNvPr id="13" name="Text 9"/>
          <p:cNvSpPr txBox="1"/>
          <p:nvPr/>
        </p:nvSpPr>
        <p:spPr>
          <a:xfrm>
            <a:off x="4495800" y="2221992"/>
            <a:ext cx="3169920" cy="274320"/>
          </a:xfrm>
          <a:prstGeom prst="rect">
            <a:avLst/>
          </a:prstGeom>
          <a:noFill/>
          <a:ln/>
        </p:spPr>
        <p:txBody>
          <a:bodyPr wrap="square" lIns="0" tIns="0" rIns="0" bIns="0" rtlCol="0" anchor="ctr"/>
          <a:lstStyle/>
          <a:p>
            <a:pPr indent="0" marL="0">
              <a:buNone/>
            </a:pPr>
            <a:r>
              <a:rPr lang="en-US" sz="1100" b="1" dirty="0">
                <a:solidFill>
                  <a:schemeClr val="accent1"/>
                </a:solidFill>
              </a:rPr>
              <a:t>scaffolding v0.7.33 (chart 0.2.69)</a:t>
            </a:r>
            <a:endParaRPr lang="en-US" sz="1100" dirty="0"/>
          </a:p>
        </p:txBody>
      </p:sp>
      <p:sp>
        <p:nvSpPr>
          <p:cNvPr id="14" name="Text 10"/>
          <p:cNvSpPr txBox="1"/>
          <p:nvPr/>
        </p:nvSpPr>
        <p:spPr>
          <a:xfrm>
            <a:off x="4495800" y="2532888"/>
            <a:ext cx="3169920" cy="1019556"/>
          </a:xfrm>
          <a:prstGeom prst="rect">
            <a:avLst/>
          </a:prstGeom>
          <a:noFill/>
          <a:ln/>
        </p:spPr>
        <p:txBody>
          <a:bodyPr wrap="square" lIns="0" tIns="0" rIns="0" bIns="0" rtlCol="0" anchor="t"/>
          <a:lstStyle/>
          <a:p>
            <a:pPr indent="0" marL="0">
              <a:buNone/>
            </a:pPr>
            <a:r>
              <a:rPr lang="en-US" sz="1300" dirty="0">
                <a:solidFill>
                  <a:schemeClr val="tx1"/>
                </a:solidFill>
              </a:rPr>
              <a:t>Records every certificate Fulcio issues and returns a Signed Certificate Timestamp (SCT) embedded in the cert, so mis-issued certificates are detectable.</a:t>
            </a:r>
            <a:endParaRPr lang="en-US" sz="1300" dirty="0"/>
          </a:p>
        </p:txBody>
      </p:sp>
      <p:sp>
        <p:nvSpPr>
          <p:cNvPr id="15" name="card Rekor"/>
          <p:cNvSpPr/>
          <p:nvPr/>
        </p:nvSpPr>
        <p:spPr>
          <a:xfrm>
            <a:off x="8077200" y="1325880"/>
            <a:ext cx="3535680" cy="2345436"/>
          </a:xfrm>
          <a:prstGeom prst="roundRect">
            <a:avLst>
              <a:gd name="adj" fmla="val 3119"/>
            </a:avLst>
          </a:prstGeom>
          <a:solidFill>
            <a:schemeClr val="bg2"/>
          </a:solidFill>
          <a:ln w="12700">
            <a:solidFill>
              <a:schemeClr val="bg2"/>
            </a:solidFill>
            <a:prstDash val="solid"/>
          </a:ln>
        </p:spPr>
      </p:sp>
      <p:sp>
        <p:nvSpPr>
          <p:cNvPr id="16" name="Shape 12"/>
          <p:cNvSpPr/>
          <p:nvPr/>
        </p:nvSpPr>
        <p:spPr>
          <a:xfrm>
            <a:off x="8260080" y="1508760"/>
            <a:ext cx="640080" cy="640080"/>
          </a:xfrm>
          <a:prstGeom prst="ellipse">
            <a:avLst/>
          </a:prstGeom>
          <a:solidFill>
            <a:schemeClr val="accent1"/>
          </a:solidFill>
          <a:ln w="12700">
            <a:solidFill>
              <a:schemeClr val="accent1"/>
            </a:solidFill>
            <a:prstDash val="solid"/>
          </a:ln>
        </p:spPr>
      </p:sp>
      <p:pic>
        <p:nvPicPr>
          <p:cNvPr id="17" name="Image 2" descr="preencoded.png">    </p:cNvPr>
          <p:cNvPicPr>
            <a:picLocks noChangeAspect="1"/>
          </p:cNvPicPr>
          <p:nvPr/>
        </p:nvPicPr>
        <p:blipFill>
          <a:blip r:embed="rId3"/>
          <a:stretch>
            <a:fillRect/>
          </a:stretch>
        </p:blipFill>
        <p:spPr>
          <a:xfrm>
            <a:off x="8400898" y="1649578"/>
            <a:ext cx="358445" cy="358445"/>
          </a:xfrm>
          <a:prstGeom prst="rect">
            <a:avLst/>
          </a:prstGeom>
        </p:spPr>
      </p:pic>
      <p:sp>
        <p:nvSpPr>
          <p:cNvPr id="18" name="Text 13"/>
          <p:cNvSpPr txBox="1"/>
          <p:nvPr/>
        </p:nvSpPr>
        <p:spPr>
          <a:xfrm>
            <a:off x="8991600" y="1490472"/>
            <a:ext cx="2438400" cy="676656"/>
          </a:xfrm>
          <a:prstGeom prst="rect">
            <a:avLst/>
          </a:prstGeom>
          <a:noFill/>
          <a:ln/>
        </p:spPr>
        <p:txBody>
          <a:bodyPr wrap="square" lIns="0" tIns="0" rIns="0" bIns="0" rtlCol="0" anchor="ctr">
            <a:normAutofit/>
          </a:bodyPr>
          <a:lstStyle/>
          <a:p>
            <a:pPr indent="0" marL="0">
              <a:buNone/>
            </a:pPr>
            <a:r>
              <a:rPr lang="en-US" sz="1800" b="1" dirty="0">
                <a:solidFill>
                  <a:schemeClr val="tx2"/>
                </a:solidFill>
              </a:rPr>
              <a:t>Rekor</a:t>
            </a:r>
            <a:endParaRPr lang="en-US" sz="1800" dirty="0"/>
          </a:p>
        </p:txBody>
      </p:sp>
      <p:sp>
        <p:nvSpPr>
          <p:cNvPr id="19" name="Text 14"/>
          <p:cNvSpPr txBox="1"/>
          <p:nvPr/>
        </p:nvSpPr>
        <p:spPr>
          <a:xfrm>
            <a:off x="8260080" y="2221992"/>
            <a:ext cx="3169920" cy="274320"/>
          </a:xfrm>
          <a:prstGeom prst="rect">
            <a:avLst/>
          </a:prstGeom>
          <a:noFill/>
          <a:ln/>
        </p:spPr>
        <p:txBody>
          <a:bodyPr wrap="square" lIns="0" tIns="0" rIns="0" bIns="0" rtlCol="0" anchor="ctr"/>
          <a:lstStyle/>
          <a:p>
            <a:pPr indent="0" marL="0">
              <a:buNone/>
            </a:pPr>
            <a:r>
              <a:rPr lang="en-US" sz="1100" b="1" dirty="0">
                <a:solidFill>
                  <a:schemeClr val="accent1"/>
                </a:solidFill>
              </a:rPr>
              <a:t>v1.5.4 (chart 1.8.7)</a:t>
            </a:r>
            <a:endParaRPr lang="en-US" sz="1100" dirty="0"/>
          </a:p>
        </p:txBody>
      </p:sp>
      <p:sp>
        <p:nvSpPr>
          <p:cNvPr id="20" name="Text 15"/>
          <p:cNvSpPr txBox="1"/>
          <p:nvPr/>
        </p:nvSpPr>
        <p:spPr>
          <a:xfrm>
            <a:off x="8260080" y="2532888"/>
            <a:ext cx="3169920" cy="1019556"/>
          </a:xfrm>
          <a:prstGeom prst="rect">
            <a:avLst/>
          </a:prstGeom>
          <a:noFill/>
          <a:ln/>
        </p:spPr>
        <p:txBody>
          <a:bodyPr wrap="square" lIns="0" tIns="0" rIns="0" bIns="0" rtlCol="0" anchor="t"/>
          <a:lstStyle/>
          <a:p>
            <a:pPr indent="0" marL="0">
              <a:buNone/>
            </a:pPr>
            <a:r>
              <a:rPr lang="en-US" sz="1300" dirty="0">
                <a:solidFill>
                  <a:schemeClr val="tx1"/>
                </a:solidFill>
              </a:rPr>
              <a:t>Stores a tamper-evident record of every signature and returns an inclusion proof and signed timestamp, proving the signature was made while the short-lived certificate was valid.</a:t>
            </a:r>
            <a:endParaRPr lang="en-US" sz="1300" dirty="0"/>
          </a:p>
        </p:txBody>
      </p:sp>
      <p:sp>
        <p:nvSpPr>
          <p:cNvPr id="21" name="card Trillian (log server + log signer)"/>
          <p:cNvSpPr/>
          <p:nvPr/>
        </p:nvSpPr>
        <p:spPr>
          <a:xfrm>
            <a:off x="548640" y="3872484"/>
            <a:ext cx="3535680" cy="2345436"/>
          </a:xfrm>
          <a:prstGeom prst="roundRect">
            <a:avLst>
              <a:gd name="adj" fmla="val 3119"/>
            </a:avLst>
          </a:prstGeom>
          <a:solidFill>
            <a:schemeClr val="bg2"/>
          </a:solidFill>
          <a:ln w="12700">
            <a:solidFill>
              <a:schemeClr val="bg2"/>
            </a:solidFill>
            <a:prstDash val="solid"/>
          </a:ln>
        </p:spPr>
      </p:sp>
      <p:sp>
        <p:nvSpPr>
          <p:cNvPr id="22" name="Shape 17"/>
          <p:cNvSpPr/>
          <p:nvPr/>
        </p:nvSpPr>
        <p:spPr>
          <a:xfrm>
            <a:off x="731520" y="4055364"/>
            <a:ext cx="640080" cy="640080"/>
          </a:xfrm>
          <a:prstGeom prst="ellipse">
            <a:avLst/>
          </a:prstGeom>
          <a:solidFill>
            <a:schemeClr val="accent1"/>
          </a:solidFill>
          <a:ln w="12700">
            <a:solidFill>
              <a:schemeClr val="accent1"/>
            </a:solidFill>
            <a:prstDash val="solid"/>
          </a:ln>
        </p:spPr>
      </p:sp>
      <p:pic>
        <p:nvPicPr>
          <p:cNvPr id="23" name="Image 3" descr="preencoded.png">    </p:cNvPr>
          <p:cNvPicPr>
            <a:picLocks noChangeAspect="1"/>
          </p:cNvPicPr>
          <p:nvPr/>
        </p:nvPicPr>
        <p:blipFill>
          <a:blip r:embed="rId4"/>
          <a:stretch>
            <a:fillRect/>
          </a:stretch>
        </p:blipFill>
        <p:spPr>
          <a:xfrm>
            <a:off x="872338" y="4196182"/>
            <a:ext cx="358445" cy="358445"/>
          </a:xfrm>
          <a:prstGeom prst="rect">
            <a:avLst/>
          </a:prstGeom>
        </p:spPr>
      </p:pic>
      <p:sp>
        <p:nvSpPr>
          <p:cNvPr id="24" name="Text 18"/>
          <p:cNvSpPr txBox="1"/>
          <p:nvPr/>
        </p:nvSpPr>
        <p:spPr>
          <a:xfrm>
            <a:off x="1463040" y="4037076"/>
            <a:ext cx="2438400" cy="676656"/>
          </a:xfrm>
          <a:prstGeom prst="rect">
            <a:avLst/>
          </a:prstGeom>
          <a:noFill/>
          <a:ln/>
        </p:spPr>
        <p:txBody>
          <a:bodyPr wrap="square" lIns="0" tIns="0" rIns="0" bIns="0" rtlCol="0" anchor="ctr">
            <a:normAutofit/>
          </a:bodyPr>
          <a:lstStyle/>
          <a:p>
            <a:pPr indent="0" marL="0">
              <a:buNone/>
            </a:pPr>
            <a:r>
              <a:rPr lang="en-US" sz="1800" b="1" dirty="0">
                <a:solidFill>
                  <a:schemeClr val="tx2"/>
                </a:solidFill>
              </a:rPr>
              <a:t>Trillian (log server + log signer)</a:t>
            </a:r>
            <a:endParaRPr lang="en-US" sz="1800" dirty="0"/>
          </a:p>
        </p:txBody>
      </p:sp>
      <p:sp>
        <p:nvSpPr>
          <p:cNvPr id="25" name="Text 19"/>
          <p:cNvSpPr txBox="1"/>
          <p:nvPr/>
        </p:nvSpPr>
        <p:spPr>
          <a:xfrm>
            <a:off x="731520" y="4768596"/>
            <a:ext cx="3169920" cy="274320"/>
          </a:xfrm>
          <a:prstGeom prst="rect">
            <a:avLst/>
          </a:prstGeom>
          <a:noFill/>
          <a:ln/>
        </p:spPr>
        <p:txBody>
          <a:bodyPr wrap="square" lIns="0" tIns="0" rIns="0" bIns="0" rtlCol="0" anchor="ctr"/>
          <a:lstStyle/>
          <a:p>
            <a:pPr indent="0" marL="0">
              <a:buNone/>
            </a:pPr>
            <a:r>
              <a:rPr lang="en-US" sz="1100" b="1" dirty="0">
                <a:solidFill>
                  <a:schemeClr val="accent1"/>
                </a:solidFill>
              </a:rPr>
              <a:t>v1.8.0 (chart 0.4.0)</a:t>
            </a:r>
            <a:endParaRPr lang="en-US" sz="1100" dirty="0"/>
          </a:p>
        </p:txBody>
      </p:sp>
      <p:sp>
        <p:nvSpPr>
          <p:cNvPr id="26" name="Text 20"/>
          <p:cNvSpPr txBox="1"/>
          <p:nvPr/>
        </p:nvSpPr>
        <p:spPr>
          <a:xfrm>
            <a:off x="731520" y="5079492"/>
            <a:ext cx="3169920" cy="1019556"/>
          </a:xfrm>
          <a:prstGeom prst="rect">
            <a:avLst/>
          </a:prstGeom>
          <a:noFill/>
          <a:ln/>
        </p:spPr>
        <p:txBody>
          <a:bodyPr wrap="square" lIns="0" tIns="0" rIns="0" bIns="0" rtlCol="0" anchor="t"/>
          <a:lstStyle/>
          <a:p>
            <a:pPr indent="0" marL="0">
              <a:buNone/>
            </a:pPr>
            <a:r>
              <a:rPr lang="en-US" sz="1300" dirty="0">
                <a:solidFill>
                  <a:schemeClr val="tx1"/>
                </a:solidFill>
              </a:rPr>
              <a:t>The storage engine under both Rekor and the CT log.</a:t>
            </a:r>
            <a:endParaRPr lang="en-US" sz="1300" dirty="0"/>
          </a:p>
        </p:txBody>
      </p:sp>
      <p:sp>
        <p:nvSpPr>
          <p:cNvPr id="27" name="card MySQL (trillian db_server)"/>
          <p:cNvSpPr/>
          <p:nvPr/>
        </p:nvSpPr>
        <p:spPr>
          <a:xfrm>
            <a:off x="4312920" y="3872484"/>
            <a:ext cx="3535680" cy="2345436"/>
          </a:xfrm>
          <a:prstGeom prst="roundRect">
            <a:avLst>
              <a:gd name="adj" fmla="val 3119"/>
            </a:avLst>
          </a:prstGeom>
          <a:solidFill>
            <a:schemeClr val="bg2"/>
          </a:solidFill>
          <a:ln w="12700">
            <a:solidFill>
              <a:schemeClr val="bg2"/>
            </a:solidFill>
            <a:prstDash val="solid"/>
          </a:ln>
        </p:spPr>
      </p:sp>
      <p:sp>
        <p:nvSpPr>
          <p:cNvPr id="28" name="Shape 22"/>
          <p:cNvSpPr/>
          <p:nvPr/>
        </p:nvSpPr>
        <p:spPr>
          <a:xfrm>
            <a:off x="4495800" y="4055364"/>
            <a:ext cx="640080" cy="640080"/>
          </a:xfrm>
          <a:prstGeom prst="ellipse">
            <a:avLst/>
          </a:prstGeom>
          <a:solidFill>
            <a:schemeClr val="accent1"/>
          </a:solidFill>
          <a:ln w="12700">
            <a:solidFill>
              <a:schemeClr val="accent1"/>
            </a:solidFill>
            <a:prstDash val="solid"/>
          </a:ln>
        </p:spPr>
      </p:sp>
      <p:pic>
        <p:nvPicPr>
          <p:cNvPr id="29" name="Image 4" descr="preencoded.png">    </p:cNvPr>
          <p:cNvPicPr>
            <a:picLocks noChangeAspect="1"/>
          </p:cNvPicPr>
          <p:nvPr/>
        </p:nvPicPr>
        <p:blipFill>
          <a:blip r:embed="rId5"/>
          <a:stretch>
            <a:fillRect/>
          </a:stretch>
        </p:blipFill>
        <p:spPr>
          <a:xfrm>
            <a:off x="4636618" y="4196182"/>
            <a:ext cx="358445" cy="358445"/>
          </a:xfrm>
          <a:prstGeom prst="rect">
            <a:avLst/>
          </a:prstGeom>
        </p:spPr>
      </p:pic>
      <p:sp>
        <p:nvSpPr>
          <p:cNvPr id="30" name="Text 23"/>
          <p:cNvSpPr txBox="1"/>
          <p:nvPr/>
        </p:nvSpPr>
        <p:spPr>
          <a:xfrm>
            <a:off x="5227320" y="4037076"/>
            <a:ext cx="2438400" cy="676656"/>
          </a:xfrm>
          <a:prstGeom prst="rect">
            <a:avLst/>
          </a:prstGeom>
          <a:noFill/>
          <a:ln/>
        </p:spPr>
        <p:txBody>
          <a:bodyPr wrap="square" lIns="0" tIns="0" rIns="0" bIns="0" rtlCol="0" anchor="ctr">
            <a:normAutofit/>
          </a:bodyPr>
          <a:lstStyle/>
          <a:p>
            <a:pPr indent="0" marL="0">
              <a:buNone/>
            </a:pPr>
            <a:r>
              <a:rPr lang="en-US" sz="1800" b="1" dirty="0">
                <a:solidFill>
                  <a:schemeClr val="tx2"/>
                </a:solidFill>
              </a:rPr>
              <a:t>MySQL (trillian db_server)</a:t>
            </a:r>
            <a:endParaRPr lang="en-US" sz="1800" dirty="0"/>
          </a:p>
        </p:txBody>
      </p:sp>
      <p:sp>
        <p:nvSpPr>
          <p:cNvPr id="31" name="Text 24"/>
          <p:cNvSpPr txBox="1"/>
          <p:nvPr/>
        </p:nvSpPr>
        <p:spPr>
          <a:xfrm>
            <a:off x="4495800" y="4768596"/>
            <a:ext cx="3169920" cy="274320"/>
          </a:xfrm>
          <a:prstGeom prst="rect">
            <a:avLst/>
          </a:prstGeom>
          <a:noFill/>
          <a:ln/>
        </p:spPr>
        <p:txBody>
          <a:bodyPr wrap="square" lIns="0" tIns="0" rIns="0" bIns="0" rtlCol="0" anchor="ctr"/>
          <a:lstStyle/>
          <a:p>
            <a:pPr indent="0" marL="0">
              <a:buNone/>
            </a:pPr>
            <a:r>
              <a:rPr lang="en-US" sz="1100" b="1" dirty="0">
                <a:solidFill>
                  <a:schemeClr val="accent1"/>
                </a:solidFill>
              </a:rPr>
              <a:t>Trillian CI image</a:t>
            </a:r>
            <a:endParaRPr lang="en-US" sz="1100" dirty="0"/>
          </a:p>
        </p:txBody>
      </p:sp>
      <p:sp>
        <p:nvSpPr>
          <p:cNvPr id="32" name="Text 25"/>
          <p:cNvSpPr txBox="1"/>
          <p:nvPr/>
        </p:nvSpPr>
        <p:spPr>
          <a:xfrm>
            <a:off x="4495800" y="5079492"/>
            <a:ext cx="3169920" cy="1019556"/>
          </a:xfrm>
          <a:prstGeom prst="rect">
            <a:avLst/>
          </a:prstGeom>
          <a:noFill/>
          <a:ln/>
        </p:spPr>
        <p:txBody>
          <a:bodyPr wrap="square" lIns="0" tIns="0" rIns="0" bIns="0" rtlCol="0" anchor="t"/>
          <a:lstStyle/>
          <a:p>
            <a:pPr indent="0" marL="0">
              <a:buNone/>
            </a:pPr>
            <a:r>
              <a:rPr lang="en-US" sz="1300" dirty="0">
                <a:solidFill>
                  <a:schemeClr val="tx1"/>
                </a:solidFill>
              </a:rPr>
              <a:t>Persists Trillian's Merkle trees — the complete transparency history.</a:t>
            </a:r>
            <a:endParaRPr lang="en-US" sz="1300" dirty="0"/>
          </a:p>
        </p:txBody>
      </p:sp>
      <p:sp>
        <p:nvSpPr>
          <p:cNvPr id="33" name="card Redis"/>
          <p:cNvSpPr/>
          <p:nvPr/>
        </p:nvSpPr>
        <p:spPr>
          <a:xfrm>
            <a:off x="8077200" y="3872484"/>
            <a:ext cx="3535680" cy="2345436"/>
          </a:xfrm>
          <a:prstGeom prst="roundRect">
            <a:avLst>
              <a:gd name="adj" fmla="val 3119"/>
            </a:avLst>
          </a:prstGeom>
          <a:solidFill>
            <a:schemeClr val="bg2"/>
          </a:solidFill>
          <a:ln w="12700">
            <a:solidFill>
              <a:schemeClr val="bg2"/>
            </a:solidFill>
            <a:prstDash val="solid"/>
          </a:ln>
        </p:spPr>
      </p:sp>
      <p:sp>
        <p:nvSpPr>
          <p:cNvPr id="34" name="Shape 27"/>
          <p:cNvSpPr/>
          <p:nvPr/>
        </p:nvSpPr>
        <p:spPr>
          <a:xfrm>
            <a:off x="8260080" y="4055364"/>
            <a:ext cx="640080" cy="640080"/>
          </a:xfrm>
          <a:prstGeom prst="ellipse">
            <a:avLst/>
          </a:prstGeom>
          <a:solidFill>
            <a:schemeClr val="accent1"/>
          </a:solidFill>
          <a:ln w="12700">
            <a:solidFill>
              <a:schemeClr val="accent1"/>
            </a:solidFill>
            <a:prstDash val="solid"/>
          </a:ln>
        </p:spPr>
      </p:sp>
      <p:pic>
        <p:nvPicPr>
          <p:cNvPr id="35" name="Image 5" descr="preencoded.png">    </p:cNvPr>
          <p:cNvPicPr>
            <a:picLocks noChangeAspect="1"/>
          </p:cNvPicPr>
          <p:nvPr/>
        </p:nvPicPr>
        <p:blipFill>
          <a:blip r:embed="rId6"/>
          <a:stretch>
            <a:fillRect/>
          </a:stretch>
        </p:blipFill>
        <p:spPr>
          <a:xfrm>
            <a:off x="8400898" y="4196182"/>
            <a:ext cx="358445" cy="358445"/>
          </a:xfrm>
          <a:prstGeom prst="rect">
            <a:avLst/>
          </a:prstGeom>
        </p:spPr>
      </p:pic>
      <p:sp>
        <p:nvSpPr>
          <p:cNvPr id="36" name="Text 28"/>
          <p:cNvSpPr txBox="1"/>
          <p:nvPr/>
        </p:nvSpPr>
        <p:spPr>
          <a:xfrm>
            <a:off x="8991600" y="4037076"/>
            <a:ext cx="2438400" cy="676656"/>
          </a:xfrm>
          <a:prstGeom prst="rect">
            <a:avLst/>
          </a:prstGeom>
          <a:noFill/>
          <a:ln/>
        </p:spPr>
        <p:txBody>
          <a:bodyPr wrap="square" lIns="0" tIns="0" rIns="0" bIns="0" rtlCol="0" anchor="ctr">
            <a:normAutofit/>
          </a:bodyPr>
          <a:lstStyle/>
          <a:p>
            <a:pPr indent="0" marL="0">
              <a:buNone/>
            </a:pPr>
            <a:r>
              <a:rPr lang="en-US" sz="1800" b="1" dirty="0">
                <a:solidFill>
                  <a:schemeClr val="tx2"/>
                </a:solidFill>
              </a:rPr>
              <a:t>Redis</a:t>
            </a:r>
            <a:endParaRPr lang="en-US" sz="1800" dirty="0"/>
          </a:p>
        </p:txBody>
      </p:sp>
      <p:sp>
        <p:nvSpPr>
          <p:cNvPr id="37" name="Text 29"/>
          <p:cNvSpPr txBox="1"/>
          <p:nvPr/>
        </p:nvSpPr>
        <p:spPr>
          <a:xfrm>
            <a:off x="8260080" y="4768596"/>
            <a:ext cx="3169920" cy="274320"/>
          </a:xfrm>
          <a:prstGeom prst="rect">
            <a:avLst/>
          </a:prstGeom>
          <a:noFill/>
          <a:ln/>
        </p:spPr>
        <p:txBody>
          <a:bodyPr wrap="square" lIns="0" tIns="0" rIns="0" bIns="0" rtlCol="0" anchor="ctr"/>
          <a:lstStyle/>
          <a:p>
            <a:pPr indent="0" marL="0">
              <a:buNone/>
            </a:pPr>
            <a:r>
              <a:rPr lang="en-US" sz="1100" b="1" dirty="0">
                <a:solidFill>
                  <a:schemeClr val="accent1"/>
                </a:solidFill>
              </a:rPr>
              <a:t>pinned digest</a:t>
            </a:r>
            <a:endParaRPr lang="en-US" sz="1100" dirty="0"/>
          </a:p>
        </p:txBody>
      </p:sp>
      <p:sp>
        <p:nvSpPr>
          <p:cNvPr id="38" name="Text 30"/>
          <p:cNvSpPr txBox="1"/>
          <p:nvPr/>
        </p:nvSpPr>
        <p:spPr>
          <a:xfrm>
            <a:off x="8260080" y="5079492"/>
            <a:ext cx="3169920" cy="1019556"/>
          </a:xfrm>
          <a:prstGeom prst="rect">
            <a:avLst/>
          </a:prstGeom>
          <a:noFill/>
          <a:ln/>
        </p:spPr>
        <p:txBody>
          <a:bodyPr wrap="square" lIns="0" tIns="0" rIns="0" bIns="0" rtlCol="0" anchor="t"/>
          <a:lstStyle/>
          <a:p>
            <a:pPr indent="0" marL="0">
              <a:buNone/>
            </a:pPr>
            <a:r>
              <a:rPr lang="en-US" sz="1300" dirty="0">
                <a:solidFill>
                  <a:schemeClr val="tx1"/>
                </a:solidFill>
              </a:rPr>
              <a:t>Rekor's search index (artifact hash → entry UUID).</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8EAD"/>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7315200" cy="1097280"/>
          </a:xfrm>
          <a:prstGeom prst="rect">
            <a:avLst/>
          </a:prstGeom>
          <a:noFill/>
          <a:ln/>
        </p:spPr>
        <p:txBody>
          <a:bodyPr wrap="square" rtlCol="0" anchor="b"/>
          <a:lstStyle/>
          <a:p>
            <a:pPr algn="l" indent="0" marL="0">
              <a:buNone/>
            </a:pPr>
            <a:r>
              <a:rPr lang="en-US" sz="4000" b="1" dirty="0">
                <a:solidFill>
                  <a:schemeClr val="bg1"/>
                </a:solidFill>
              </a:rPr>
              <a:t>Identity, trust &amp; storage</a:t>
            </a:r>
            <a:endParaRPr lang="en-US" sz="4000" dirty="0"/>
          </a:p>
        </p:txBody>
      </p:sp>
      <p:sp>
        <p:nvSpPr>
          <p:cNvPr id="3" name="Text 0"/>
          <p:cNvSpPr/>
          <p:nvPr>
            <p:ph idx="101" type="body" hasCustomPrompt="1"/>
          </p:nvPr>
        </p:nvSpPr>
        <p:spPr>
          <a:xfrm>
            <a:off x="731520" y="3566160"/>
            <a:ext cx="7315200" cy="1280160"/>
          </a:xfrm>
          <a:prstGeom prst="rect">
            <a:avLst/>
          </a:prstGeom>
          <a:noFill/>
          <a:ln/>
        </p:spPr>
        <p:txBody>
          <a:bodyPr wrap="square" rtlCol="0" anchor="t"/>
          <a:lstStyle/>
          <a:p>
            <a:pPr indent="0" marL="0">
              <a:buNone/>
            </a:pPr>
            <a:r>
              <a:rPr lang="en-US" sz="1800" dirty="0">
                <a:solidFill>
                  <a:srgbClr val="9BC4CB"/>
                </a:solidFill>
              </a:rPr>
              <a:t>The pieces that decide who may sign, how every client learns which keys to trust, and where signed images and their signatures are stored.</a:t>
            </a:r>
            <a:endParaRPr lang="en-US" sz="1800" dirty="0"/>
          </a:p>
        </p:txBody>
      </p:sp>
      <p:sp>
        <p:nvSpPr>
          <p:cNvPr id="4" name="Shape 2"/>
          <p:cNvSpPr/>
          <p:nvPr/>
        </p:nvSpPr>
        <p:spPr>
          <a:xfrm>
            <a:off x="8778240" y="2011680"/>
            <a:ext cx="2560320" cy="256032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464040" y="2697480"/>
            <a:ext cx="1188720" cy="1188720"/>
          </a:xfrm>
          <a:prstGeom prst="rect">
            <a:avLst/>
          </a:prstGeom>
        </p:spPr>
      </p:pic>
      <p:sp>
        <p:nvSpPr>
          <p:cNvPr id="6" name="Text 3"/>
          <p:cNvSpPr txBox="1"/>
          <p:nvPr/>
        </p:nvSpPr>
        <p:spPr>
          <a:xfrm>
            <a:off x="8778240" y="4754880"/>
            <a:ext cx="2560320" cy="457200"/>
          </a:xfrm>
          <a:prstGeom prst="rect">
            <a:avLst/>
          </a:prstGeom>
          <a:noFill/>
          <a:ln/>
        </p:spPr>
        <p:txBody>
          <a:bodyPr wrap="square" lIns="0" tIns="0" rIns="0" bIns="0" rtlCol="0" anchor="ctr"/>
          <a:lstStyle/>
          <a:p>
            <a:pPr algn="ctr" indent="0" marL="0">
              <a:buNone/>
            </a:pPr>
            <a:r>
              <a:rPr lang="en-US" sz="1800" b="1" dirty="0">
                <a:solidFill>
                  <a:srgbClr val="9BC4CB"/>
                </a:solidFill>
              </a:rPr>
              <a:t>4 tools</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BC4C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Identity, trust &amp; storage: what each one is for</a:t>
            </a:r>
            <a:endParaRPr lang="en-US" sz="3200" dirty="0"/>
          </a:p>
        </p:txBody>
      </p:sp>
      <p:sp>
        <p:nvSpPr>
          <p:cNvPr id="3" name="card Keycloak"/>
          <p:cNvSpPr/>
          <p:nvPr/>
        </p:nvSpPr>
        <p:spPr>
          <a:xfrm>
            <a:off x="548640" y="1325880"/>
            <a:ext cx="5417820" cy="2345436"/>
          </a:xfrm>
          <a:prstGeom prst="roundRect">
            <a:avLst>
              <a:gd name="adj" fmla="val 3119"/>
            </a:avLst>
          </a:prstGeom>
          <a:solidFill>
            <a:schemeClr val="bg2"/>
          </a:solidFill>
          <a:ln w="12700">
            <a:solidFill>
              <a:schemeClr val="bg2"/>
            </a:solidFill>
            <a:prstDash val="solid"/>
          </a:ln>
        </p:spPr>
      </p:sp>
      <p:sp>
        <p:nvSpPr>
          <p:cNvPr id="4" name="Shape 2"/>
          <p:cNvSpPr/>
          <p:nvPr/>
        </p:nvSpPr>
        <p:spPr>
          <a:xfrm>
            <a:off x="731520" y="1508760"/>
            <a:ext cx="640080" cy="64008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72338" y="1649578"/>
            <a:ext cx="358445" cy="358445"/>
          </a:xfrm>
          <a:prstGeom prst="rect">
            <a:avLst/>
          </a:prstGeom>
        </p:spPr>
      </p:pic>
      <p:sp>
        <p:nvSpPr>
          <p:cNvPr id="6" name="Text 3"/>
          <p:cNvSpPr txBox="1"/>
          <p:nvPr/>
        </p:nvSpPr>
        <p:spPr>
          <a:xfrm>
            <a:off x="1463040" y="1490472"/>
            <a:ext cx="4320540" cy="676656"/>
          </a:xfrm>
          <a:prstGeom prst="rect">
            <a:avLst/>
          </a:prstGeom>
          <a:noFill/>
          <a:ln/>
        </p:spPr>
        <p:txBody>
          <a:bodyPr wrap="square" lIns="0" tIns="0" rIns="0" bIns="0" rtlCol="0" anchor="ctr">
            <a:normAutofit/>
          </a:bodyPr>
          <a:lstStyle/>
          <a:p>
            <a:pPr indent="0" marL="0">
              <a:buNone/>
            </a:pPr>
            <a:r>
              <a:rPr lang="en-US" sz="1800" b="1" dirty="0">
                <a:solidFill>
                  <a:schemeClr val="tx2"/>
                </a:solidFill>
              </a:rPr>
              <a:t>Keycloak</a:t>
            </a:r>
            <a:endParaRPr lang="en-US" sz="1800" dirty="0"/>
          </a:p>
        </p:txBody>
      </p:sp>
      <p:sp>
        <p:nvSpPr>
          <p:cNvPr id="7" name="Text 4"/>
          <p:cNvSpPr txBox="1"/>
          <p:nvPr/>
        </p:nvSpPr>
        <p:spPr>
          <a:xfrm>
            <a:off x="731520" y="2221992"/>
            <a:ext cx="5052060" cy="274320"/>
          </a:xfrm>
          <a:prstGeom prst="rect">
            <a:avLst/>
          </a:prstGeom>
          <a:noFill/>
          <a:ln/>
        </p:spPr>
        <p:txBody>
          <a:bodyPr wrap="square" lIns="0" tIns="0" rIns="0" bIns="0" rtlCol="0" anchor="ctr"/>
          <a:lstStyle/>
          <a:p>
            <a:pPr indent="0" marL="0">
              <a:buNone/>
            </a:pPr>
            <a:r>
              <a:rPr lang="en-US" sz="1100" b="1" dirty="0">
                <a:solidFill>
                  <a:schemeClr val="accent1"/>
                </a:solidFill>
              </a:rPr>
              <a:t>26.8.1</a:t>
            </a:r>
            <a:endParaRPr lang="en-US" sz="1100" dirty="0"/>
          </a:p>
        </p:txBody>
      </p:sp>
      <p:sp>
        <p:nvSpPr>
          <p:cNvPr id="8" name="Text 5"/>
          <p:cNvSpPr txBox="1"/>
          <p:nvPr/>
        </p:nvSpPr>
        <p:spPr>
          <a:xfrm>
            <a:off x="731520" y="2532888"/>
            <a:ext cx="5052060" cy="1019556"/>
          </a:xfrm>
          <a:prstGeom prst="rect">
            <a:avLst/>
          </a:prstGeom>
          <a:noFill/>
          <a:ln/>
        </p:spPr>
        <p:txBody>
          <a:bodyPr wrap="square" lIns="0" tIns="0" rIns="0" bIns="0" rtlCol="0" anchor="t"/>
          <a:lstStyle/>
          <a:p>
            <a:pPr indent="0" marL="0">
              <a:buNone/>
            </a:pPr>
            <a:r>
              <a:rPr lang="en-US" sz="1300" dirty="0">
                <a:solidFill>
                  <a:schemeClr val="tx1"/>
                </a:solidFill>
              </a:rPr>
              <a:t>Private replacement for Google/GitHub/Microsoft login. Issues the OIDC tokens Fulcio exchanges for certificates: browser, device-code and password flows for people (alice@sigstore.local), client_credentials for CI (ci@sigstore.local).</a:t>
            </a:r>
            <a:endParaRPr lang="en-US" sz="1300" dirty="0"/>
          </a:p>
        </p:txBody>
      </p:sp>
      <p:sp>
        <p:nvSpPr>
          <p:cNvPr id="9" name="card Private OCI registry (registry:2)"/>
          <p:cNvSpPr/>
          <p:nvPr/>
        </p:nvSpPr>
        <p:spPr>
          <a:xfrm>
            <a:off x="6195060" y="1325880"/>
            <a:ext cx="5417820" cy="2345436"/>
          </a:xfrm>
          <a:prstGeom prst="roundRect">
            <a:avLst>
              <a:gd name="adj" fmla="val 3119"/>
            </a:avLst>
          </a:prstGeom>
          <a:solidFill>
            <a:schemeClr val="bg2"/>
          </a:solidFill>
          <a:ln w="12700">
            <a:solidFill>
              <a:schemeClr val="bg2"/>
            </a:solidFill>
            <a:prstDash val="solid"/>
          </a:ln>
        </p:spPr>
      </p:sp>
      <p:sp>
        <p:nvSpPr>
          <p:cNvPr id="10" name="Shape 7"/>
          <p:cNvSpPr/>
          <p:nvPr/>
        </p:nvSpPr>
        <p:spPr>
          <a:xfrm>
            <a:off x="6377940" y="1508760"/>
            <a:ext cx="640080" cy="64008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6518758" y="1649578"/>
            <a:ext cx="358445" cy="358445"/>
          </a:xfrm>
          <a:prstGeom prst="rect">
            <a:avLst/>
          </a:prstGeom>
        </p:spPr>
      </p:pic>
      <p:sp>
        <p:nvSpPr>
          <p:cNvPr id="12" name="Text 8"/>
          <p:cNvSpPr txBox="1"/>
          <p:nvPr/>
        </p:nvSpPr>
        <p:spPr>
          <a:xfrm>
            <a:off x="7109460" y="1490472"/>
            <a:ext cx="4320540" cy="676656"/>
          </a:xfrm>
          <a:prstGeom prst="rect">
            <a:avLst/>
          </a:prstGeom>
          <a:noFill/>
          <a:ln/>
        </p:spPr>
        <p:txBody>
          <a:bodyPr wrap="square" lIns="0" tIns="0" rIns="0" bIns="0" rtlCol="0" anchor="ctr">
            <a:normAutofit/>
          </a:bodyPr>
          <a:lstStyle/>
          <a:p>
            <a:pPr indent="0" marL="0">
              <a:buNone/>
            </a:pPr>
            <a:r>
              <a:rPr lang="en-US" sz="1800" b="1" dirty="0">
                <a:solidFill>
                  <a:schemeClr val="tx2"/>
                </a:solidFill>
              </a:rPr>
              <a:t>Private OCI registry (registry:2)</a:t>
            </a:r>
            <a:endParaRPr lang="en-US" sz="1800" dirty="0"/>
          </a:p>
        </p:txBody>
      </p:sp>
      <p:sp>
        <p:nvSpPr>
          <p:cNvPr id="13" name="Text 9"/>
          <p:cNvSpPr txBox="1"/>
          <p:nvPr/>
        </p:nvSpPr>
        <p:spPr>
          <a:xfrm>
            <a:off x="6377940" y="2221992"/>
            <a:ext cx="5052060" cy="274320"/>
          </a:xfrm>
          <a:prstGeom prst="rect">
            <a:avLst/>
          </a:prstGeom>
          <a:noFill/>
          <a:ln/>
        </p:spPr>
        <p:txBody>
          <a:bodyPr wrap="square" lIns="0" tIns="0" rIns="0" bIns="0" rtlCol="0" anchor="ctr"/>
          <a:lstStyle/>
          <a:p>
            <a:pPr indent="0" marL="0">
              <a:buNone/>
            </a:pPr>
            <a:r>
              <a:rPr lang="en-US" sz="1100" b="1" dirty="0">
                <a:solidFill>
                  <a:schemeClr val="accent1"/>
                </a:solidFill>
              </a:rPr>
              <a:t>2.8.3</a:t>
            </a:r>
            <a:endParaRPr lang="en-US" sz="1100" dirty="0"/>
          </a:p>
        </p:txBody>
      </p:sp>
      <p:sp>
        <p:nvSpPr>
          <p:cNvPr id="14" name="Text 10"/>
          <p:cNvSpPr txBox="1"/>
          <p:nvPr/>
        </p:nvSpPr>
        <p:spPr>
          <a:xfrm>
            <a:off x="6377940" y="2532888"/>
            <a:ext cx="5052060" cy="1019556"/>
          </a:xfrm>
          <a:prstGeom prst="rect">
            <a:avLst/>
          </a:prstGeom>
          <a:noFill/>
          <a:ln/>
        </p:spPr>
        <p:txBody>
          <a:bodyPr wrap="square" lIns="0" tIns="0" rIns="0" bIns="0" rtlCol="0" anchor="t"/>
          <a:lstStyle/>
          <a:p>
            <a:pPr indent="0" marL="0">
              <a:buNone/>
            </a:pPr>
            <a:r>
              <a:rPr lang="en-US" sz="1300" dirty="0">
                <a:solidFill>
                  <a:schemeClr val="tx1"/>
                </a:solidFill>
              </a:rPr>
              <a:t>Stores your images and, next to them, the Sigstore signature and attestation bundles. Served at https://registry.sigstore.local behind Traefik TLS.</a:t>
            </a:r>
            <a:endParaRPr lang="en-US" sz="1300" dirty="0"/>
          </a:p>
        </p:txBody>
      </p:sp>
      <p:sp>
        <p:nvSpPr>
          <p:cNvPr id="15" name="card TUF repository (scaffolding server)"/>
          <p:cNvSpPr/>
          <p:nvPr/>
        </p:nvSpPr>
        <p:spPr>
          <a:xfrm>
            <a:off x="548640" y="3872484"/>
            <a:ext cx="5417820" cy="2345436"/>
          </a:xfrm>
          <a:prstGeom prst="roundRect">
            <a:avLst>
              <a:gd name="adj" fmla="val 3119"/>
            </a:avLst>
          </a:prstGeom>
          <a:solidFill>
            <a:schemeClr val="bg2"/>
          </a:solidFill>
          <a:ln w="12700">
            <a:solidFill>
              <a:schemeClr val="bg2"/>
            </a:solidFill>
            <a:prstDash val="solid"/>
          </a:ln>
        </p:spPr>
      </p:sp>
      <p:sp>
        <p:nvSpPr>
          <p:cNvPr id="16" name="Shape 12"/>
          <p:cNvSpPr/>
          <p:nvPr/>
        </p:nvSpPr>
        <p:spPr>
          <a:xfrm>
            <a:off x="731520" y="4055364"/>
            <a:ext cx="640080" cy="640080"/>
          </a:xfrm>
          <a:prstGeom prst="ellipse">
            <a:avLst/>
          </a:prstGeom>
          <a:solidFill>
            <a:schemeClr val="accent1"/>
          </a:solidFill>
          <a:ln w="12700">
            <a:solidFill>
              <a:schemeClr val="accent1"/>
            </a:solidFill>
            <a:prstDash val="solid"/>
          </a:ln>
        </p:spPr>
      </p:sp>
      <p:pic>
        <p:nvPicPr>
          <p:cNvPr id="17" name="Image 2" descr="preencoded.png">    </p:cNvPr>
          <p:cNvPicPr>
            <a:picLocks noChangeAspect="1"/>
          </p:cNvPicPr>
          <p:nvPr/>
        </p:nvPicPr>
        <p:blipFill>
          <a:blip r:embed="rId3"/>
          <a:stretch>
            <a:fillRect/>
          </a:stretch>
        </p:blipFill>
        <p:spPr>
          <a:xfrm>
            <a:off x="872338" y="4196182"/>
            <a:ext cx="358445" cy="358445"/>
          </a:xfrm>
          <a:prstGeom prst="rect">
            <a:avLst/>
          </a:prstGeom>
        </p:spPr>
      </p:pic>
      <p:sp>
        <p:nvSpPr>
          <p:cNvPr id="18" name="Text 13"/>
          <p:cNvSpPr txBox="1"/>
          <p:nvPr/>
        </p:nvSpPr>
        <p:spPr>
          <a:xfrm>
            <a:off x="1463040" y="4037076"/>
            <a:ext cx="4320540" cy="676656"/>
          </a:xfrm>
          <a:prstGeom prst="rect">
            <a:avLst/>
          </a:prstGeom>
          <a:noFill/>
          <a:ln/>
        </p:spPr>
        <p:txBody>
          <a:bodyPr wrap="square" lIns="0" tIns="0" rIns="0" bIns="0" rtlCol="0" anchor="ctr">
            <a:normAutofit/>
          </a:bodyPr>
          <a:lstStyle/>
          <a:p>
            <a:pPr indent="0" marL="0">
              <a:buNone/>
            </a:pPr>
            <a:r>
              <a:rPr lang="en-US" sz="1800" b="1" dirty="0">
                <a:solidFill>
                  <a:schemeClr val="tx2"/>
                </a:solidFill>
              </a:rPr>
              <a:t>TUF repository (scaffolding server)</a:t>
            </a:r>
            <a:endParaRPr lang="en-US" sz="1800" dirty="0"/>
          </a:p>
        </p:txBody>
      </p:sp>
      <p:sp>
        <p:nvSpPr>
          <p:cNvPr id="19" name="Text 14"/>
          <p:cNvSpPr txBox="1"/>
          <p:nvPr/>
        </p:nvSpPr>
        <p:spPr>
          <a:xfrm>
            <a:off x="731520" y="4768596"/>
            <a:ext cx="5052060" cy="274320"/>
          </a:xfrm>
          <a:prstGeom prst="rect">
            <a:avLst/>
          </a:prstGeom>
          <a:noFill/>
          <a:ln/>
        </p:spPr>
        <p:txBody>
          <a:bodyPr wrap="square" lIns="0" tIns="0" rIns="0" bIns="0" rtlCol="0" anchor="ctr"/>
          <a:lstStyle/>
          <a:p>
            <a:pPr indent="0" marL="0">
              <a:buNone/>
            </a:pPr>
            <a:r>
              <a:rPr lang="en-US" sz="1100" b="1" dirty="0">
                <a:solidFill>
                  <a:schemeClr val="accent1"/>
                </a:solidFill>
              </a:rPr>
              <a:t>v0.7.39</a:t>
            </a:r>
            <a:endParaRPr lang="en-US" sz="1100" dirty="0"/>
          </a:p>
        </p:txBody>
      </p:sp>
      <p:sp>
        <p:nvSpPr>
          <p:cNvPr id="20" name="Text 15"/>
          <p:cNvSpPr txBox="1"/>
          <p:nvPr/>
        </p:nvSpPr>
        <p:spPr>
          <a:xfrm>
            <a:off x="731520" y="5079492"/>
            <a:ext cx="5052060" cy="1019556"/>
          </a:xfrm>
          <a:prstGeom prst="rect">
            <a:avLst/>
          </a:prstGeom>
          <a:noFill/>
          <a:ln/>
        </p:spPr>
        <p:txBody>
          <a:bodyPr wrap="square" lIns="0" tIns="0" rIns="0" bIns="0" rtlCol="0" anchor="t"/>
          <a:lstStyle/>
          <a:p>
            <a:pPr indent="0" marL="0">
              <a:buNone/>
            </a:pPr>
            <a:r>
              <a:rPr lang="en-US" sz="1300" dirty="0">
                <a:solidFill>
                  <a:schemeClr val="tx1"/>
                </a:solidFill>
              </a:rPr>
              <a:t>Distributes trusted_root.json and signing_config securely and supports rotation. Clients pin one root.json; Kyverno 1.19 requires a TUF source to verify keyless signatures offline.</a:t>
            </a:r>
            <a:endParaRPr lang="en-US" sz="1300" dirty="0"/>
          </a:p>
        </p:txBody>
      </p:sp>
      <p:sp>
        <p:nvSpPr>
          <p:cNvPr id="21" name="card Private PKI (generated)"/>
          <p:cNvSpPr/>
          <p:nvPr/>
        </p:nvSpPr>
        <p:spPr>
          <a:xfrm>
            <a:off x="6195060" y="3872484"/>
            <a:ext cx="5417820" cy="2345436"/>
          </a:xfrm>
          <a:prstGeom prst="roundRect">
            <a:avLst>
              <a:gd name="adj" fmla="val 3119"/>
            </a:avLst>
          </a:prstGeom>
          <a:solidFill>
            <a:schemeClr val="bg2"/>
          </a:solidFill>
          <a:ln w="12700">
            <a:solidFill>
              <a:schemeClr val="bg2"/>
            </a:solidFill>
            <a:prstDash val="solid"/>
          </a:ln>
        </p:spPr>
      </p:sp>
      <p:sp>
        <p:nvSpPr>
          <p:cNvPr id="22" name="Shape 17"/>
          <p:cNvSpPr/>
          <p:nvPr/>
        </p:nvSpPr>
        <p:spPr>
          <a:xfrm>
            <a:off x="6377940" y="4055364"/>
            <a:ext cx="640080" cy="640080"/>
          </a:xfrm>
          <a:prstGeom prst="ellipse">
            <a:avLst/>
          </a:prstGeom>
          <a:solidFill>
            <a:schemeClr val="accent1"/>
          </a:solidFill>
          <a:ln w="12700">
            <a:solidFill>
              <a:schemeClr val="accent1"/>
            </a:solidFill>
            <a:prstDash val="solid"/>
          </a:ln>
        </p:spPr>
      </p:sp>
      <p:pic>
        <p:nvPicPr>
          <p:cNvPr id="23" name="Image 3" descr="preencoded.png">    </p:cNvPr>
          <p:cNvPicPr>
            <a:picLocks noChangeAspect="1"/>
          </p:cNvPicPr>
          <p:nvPr/>
        </p:nvPicPr>
        <p:blipFill>
          <a:blip r:embed="rId4"/>
          <a:stretch>
            <a:fillRect/>
          </a:stretch>
        </p:blipFill>
        <p:spPr>
          <a:xfrm>
            <a:off x="6518758" y="4196182"/>
            <a:ext cx="358445" cy="358445"/>
          </a:xfrm>
          <a:prstGeom prst="rect">
            <a:avLst/>
          </a:prstGeom>
        </p:spPr>
      </p:pic>
      <p:sp>
        <p:nvSpPr>
          <p:cNvPr id="24" name="Text 18"/>
          <p:cNvSpPr txBox="1"/>
          <p:nvPr/>
        </p:nvSpPr>
        <p:spPr>
          <a:xfrm>
            <a:off x="7109460" y="4037076"/>
            <a:ext cx="4320540" cy="676656"/>
          </a:xfrm>
          <a:prstGeom prst="rect">
            <a:avLst/>
          </a:prstGeom>
          <a:noFill/>
          <a:ln/>
        </p:spPr>
        <p:txBody>
          <a:bodyPr wrap="square" lIns="0" tIns="0" rIns="0" bIns="0" rtlCol="0" anchor="ctr">
            <a:normAutofit/>
          </a:bodyPr>
          <a:lstStyle/>
          <a:p>
            <a:pPr indent="0" marL="0">
              <a:buNone/>
            </a:pPr>
            <a:r>
              <a:rPr lang="en-US" sz="1800" b="1" dirty="0">
                <a:solidFill>
                  <a:schemeClr val="tx2"/>
                </a:solidFill>
              </a:rPr>
              <a:t>Private PKI (generated)</a:t>
            </a:r>
            <a:endParaRPr lang="en-US" sz="1800" dirty="0"/>
          </a:p>
        </p:txBody>
      </p:sp>
      <p:sp>
        <p:nvSpPr>
          <p:cNvPr id="25" name="Text 19"/>
          <p:cNvSpPr txBox="1"/>
          <p:nvPr/>
        </p:nvSpPr>
        <p:spPr>
          <a:xfrm>
            <a:off x="6377940" y="4768596"/>
            <a:ext cx="5052060" cy="274320"/>
          </a:xfrm>
          <a:prstGeom prst="rect">
            <a:avLst/>
          </a:prstGeom>
          <a:noFill/>
          <a:ln/>
        </p:spPr>
        <p:txBody>
          <a:bodyPr wrap="square" lIns="0" tIns="0" rIns="0" bIns="0" rtlCol="0" anchor="ctr"/>
          <a:lstStyle/>
          <a:p>
            <a:pPr indent="0" marL="0">
              <a:buNone/>
            </a:pPr>
            <a:r>
              <a:rPr lang="en-US" sz="1100" b="1" dirty="0">
                <a:solidFill>
                  <a:schemeClr val="accent1"/>
                </a:solidFill>
              </a:rPr>
              <a:t>OpenSSL profiles</a:t>
            </a:r>
            <a:endParaRPr lang="en-US" sz="1100" dirty="0"/>
          </a:p>
        </p:txBody>
      </p:sp>
      <p:sp>
        <p:nvSpPr>
          <p:cNvPr id="26" name="Text 20"/>
          <p:cNvSpPr txBox="1"/>
          <p:nvPr/>
        </p:nvSpPr>
        <p:spPr>
          <a:xfrm>
            <a:off x="6377940" y="5079492"/>
            <a:ext cx="5052060" cy="1019556"/>
          </a:xfrm>
          <a:prstGeom prst="rect">
            <a:avLst/>
          </a:prstGeom>
          <a:noFill/>
          <a:ln/>
        </p:spPr>
        <p:txBody>
          <a:bodyPr wrap="square" lIns="0" tIns="0" rIns="0" bIns="0" rtlCol="0" anchor="t"/>
          <a:lstStyle/>
          <a:p>
            <a:pPr indent="0" marL="0">
              <a:buNone/>
            </a:pPr>
            <a:r>
              <a:rPr lang="en-US" sz="1300" dirty="0">
                <a:solidFill>
                  <a:schemeClr val="tx1"/>
                </a:solidFill>
              </a:rPr>
              <a:t>TLS root + wildcard cert protect transport; Fulcio root (offline) + intermediate (EKU codeSigning) anchor code signing; Rekor and CT keys sign log evidence. Separate hierarchies so one compromise doesn't imply the other.</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8EAD"/>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7315200" cy="1097280"/>
          </a:xfrm>
          <a:prstGeom prst="rect">
            <a:avLst/>
          </a:prstGeom>
          <a:noFill/>
          <a:ln/>
        </p:spPr>
        <p:txBody>
          <a:bodyPr wrap="square" rtlCol="0" anchor="b"/>
          <a:lstStyle/>
          <a:p>
            <a:pPr algn="l" indent="0" marL="0">
              <a:buNone/>
            </a:pPr>
            <a:r>
              <a:rPr lang="en-US" sz="4000" b="1" dirty="0">
                <a:solidFill>
                  <a:schemeClr val="bg1"/>
                </a:solidFill>
              </a:rPr>
              <a:t>Policy enforcement</a:t>
            </a:r>
            <a:endParaRPr lang="en-US" sz="4000" dirty="0"/>
          </a:p>
        </p:txBody>
      </p:sp>
      <p:sp>
        <p:nvSpPr>
          <p:cNvPr id="3" name="Text 0"/>
          <p:cNvSpPr/>
          <p:nvPr>
            <p:ph idx="101" type="body" hasCustomPrompt="1"/>
          </p:nvPr>
        </p:nvSpPr>
        <p:spPr>
          <a:xfrm>
            <a:off x="731520" y="3566160"/>
            <a:ext cx="7315200" cy="1280160"/>
          </a:xfrm>
          <a:prstGeom prst="rect">
            <a:avLst/>
          </a:prstGeom>
          <a:noFill/>
          <a:ln/>
        </p:spPr>
        <p:txBody>
          <a:bodyPr wrap="square" rtlCol="0" anchor="t"/>
          <a:lstStyle/>
          <a:p>
            <a:pPr indent="0" marL="0">
              <a:buNone/>
            </a:pPr>
            <a:r>
              <a:rPr lang="en-US" sz="1800" dirty="0">
                <a:solidFill>
                  <a:srgbClr val="9BC4CB"/>
                </a:solidFill>
              </a:rPr>
              <a:t>Admission controllers that check images before Kubernetes runs them.</a:t>
            </a:r>
            <a:endParaRPr lang="en-US" sz="1800" dirty="0"/>
          </a:p>
        </p:txBody>
      </p:sp>
      <p:sp>
        <p:nvSpPr>
          <p:cNvPr id="4" name="Shape 2"/>
          <p:cNvSpPr/>
          <p:nvPr/>
        </p:nvSpPr>
        <p:spPr>
          <a:xfrm>
            <a:off x="8778240" y="2011680"/>
            <a:ext cx="2560320" cy="256032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464040" y="2697480"/>
            <a:ext cx="1188720" cy="1188720"/>
          </a:xfrm>
          <a:prstGeom prst="rect">
            <a:avLst/>
          </a:prstGeom>
        </p:spPr>
      </p:pic>
      <p:sp>
        <p:nvSpPr>
          <p:cNvPr id="6" name="Text 3"/>
          <p:cNvSpPr txBox="1"/>
          <p:nvPr/>
        </p:nvSpPr>
        <p:spPr>
          <a:xfrm>
            <a:off x="8778240" y="4754880"/>
            <a:ext cx="2560320" cy="457200"/>
          </a:xfrm>
          <a:prstGeom prst="rect">
            <a:avLst/>
          </a:prstGeom>
          <a:noFill/>
          <a:ln/>
        </p:spPr>
        <p:txBody>
          <a:bodyPr wrap="square" lIns="0" tIns="0" rIns="0" bIns="0" rtlCol="0" anchor="ctr"/>
          <a:lstStyle/>
          <a:p>
            <a:pPr algn="ctr" indent="0" marL="0">
              <a:buNone/>
            </a:pPr>
            <a:r>
              <a:rPr lang="en-US" sz="1800" b="1" dirty="0">
                <a:solidFill>
                  <a:srgbClr val="9BC4CB"/>
                </a:solidFill>
              </a:rPr>
              <a:t>3 tools</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BC4C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Policy enforcement: what each one is for</a:t>
            </a:r>
            <a:endParaRPr lang="en-US" sz="3200" dirty="0"/>
          </a:p>
        </p:txBody>
      </p:sp>
      <p:sp>
        <p:nvSpPr>
          <p:cNvPr id="3" name="card Kyverno"/>
          <p:cNvSpPr/>
          <p:nvPr/>
        </p:nvSpPr>
        <p:spPr>
          <a:xfrm>
            <a:off x="548640" y="1325880"/>
            <a:ext cx="3535680" cy="4892040"/>
          </a:xfrm>
          <a:prstGeom prst="roundRect">
            <a:avLst>
              <a:gd name="adj" fmla="val 2069"/>
            </a:avLst>
          </a:prstGeom>
          <a:solidFill>
            <a:schemeClr val="bg2"/>
          </a:solidFill>
          <a:ln w="12700">
            <a:solidFill>
              <a:schemeClr val="bg2"/>
            </a:solidFill>
            <a:prstDash val="solid"/>
          </a:ln>
        </p:spPr>
      </p:sp>
      <p:sp>
        <p:nvSpPr>
          <p:cNvPr id="4" name="Shape 2"/>
          <p:cNvSpPr/>
          <p:nvPr/>
        </p:nvSpPr>
        <p:spPr>
          <a:xfrm>
            <a:off x="731520" y="1508760"/>
            <a:ext cx="640080" cy="64008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72338" y="1649578"/>
            <a:ext cx="358445" cy="358445"/>
          </a:xfrm>
          <a:prstGeom prst="rect">
            <a:avLst/>
          </a:prstGeom>
        </p:spPr>
      </p:pic>
      <p:sp>
        <p:nvSpPr>
          <p:cNvPr id="6" name="Text 3"/>
          <p:cNvSpPr txBox="1"/>
          <p:nvPr/>
        </p:nvSpPr>
        <p:spPr>
          <a:xfrm>
            <a:off x="1463040" y="1490472"/>
            <a:ext cx="2438400" cy="676656"/>
          </a:xfrm>
          <a:prstGeom prst="rect">
            <a:avLst/>
          </a:prstGeom>
          <a:noFill/>
          <a:ln/>
        </p:spPr>
        <p:txBody>
          <a:bodyPr wrap="square" lIns="0" tIns="0" rIns="0" bIns="0" rtlCol="0" anchor="ctr">
            <a:normAutofit/>
          </a:bodyPr>
          <a:lstStyle/>
          <a:p>
            <a:pPr indent="0" marL="0">
              <a:buNone/>
            </a:pPr>
            <a:r>
              <a:rPr lang="en-US" sz="1800" b="1" dirty="0">
                <a:solidFill>
                  <a:schemeClr val="tx2"/>
                </a:solidFill>
              </a:rPr>
              <a:t>Kyverno</a:t>
            </a:r>
            <a:endParaRPr lang="en-US" sz="1800" dirty="0"/>
          </a:p>
        </p:txBody>
      </p:sp>
      <p:sp>
        <p:nvSpPr>
          <p:cNvPr id="7" name="Text 4"/>
          <p:cNvSpPr txBox="1"/>
          <p:nvPr/>
        </p:nvSpPr>
        <p:spPr>
          <a:xfrm>
            <a:off x="731520" y="2221992"/>
            <a:ext cx="3169920" cy="274320"/>
          </a:xfrm>
          <a:prstGeom prst="rect">
            <a:avLst/>
          </a:prstGeom>
          <a:noFill/>
          <a:ln/>
        </p:spPr>
        <p:txBody>
          <a:bodyPr wrap="square" lIns="0" tIns="0" rIns="0" bIns="0" rtlCol="0" anchor="ctr"/>
          <a:lstStyle/>
          <a:p>
            <a:pPr indent="0" marL="0">
              <a:buNone/>
            </a:pPr>
            <a:r>
              <a:rPr lang="en-US" sz="1100" b="1" dirty="0">
                <a:solidFill>
                  <a:schemeClr val="accent1"/>
                </a:solidFill>
              </a:rPr>
              <a:t>v1.19.1 (chart 3.9.1)</a:t>
            </a:r>
            <a:endParaRPr lang="en-US" sz="1100" dirty="0"/>
          </a:p>
        </p:txBody>
      </p:sp>
      <p:sp>
        <p:nvSpPr>
          <p:cNvPr id="8" name="Text 5"/>
          <p:cNvSpPr txBox="1"/>
          <p:nvPr/>
        </p:nvSpPr>
        <p:spPr>
          <a:xfrm>
            <a:off x="731520" y="2532888"/>
            <a:ext cx="3169920" cy="3566160"/>
          </a:xfrm>
          <a:prstGeom prst="rect">
            <a:avLst/>
          </a:prstGeom>
          <a:noFill/>
          <a:ln/>
        </p:spPr>
        <p:txBody>
          <a:bodyPr wrap="square" lIns="0" tIns="0" rIns="0" bIns="0" rtlCol="0" anchor="t"/>
          <a:lstStyle/>
          <a:p>
            <a:pPr indent="0" marL="0">
              <a:buNone/>
            </a:pPr>
            <a:r>
              <a:rPr lang="en-US" sz="1500" dirty="0">
                <a:solidFill>
                  <a:schemeClr val="tx1"/>
                </a:solidFill>
              </a:rPr>
              <a:t>Its ImageValidatingPolicy verifies every Pod image from registry.sigstore.local carries a keyless signature from your Fulcio/Rekor with an allowed identity, using trust from the private TUF mirror. Tested: signed admitted, unsigned denied.</a:t>
            </a:r>
            <a:endParaRPr lang="en-US" sz="1500" dirty="0"/>
          </a:p>
        </p:txBody>
      </p:sp>
      <p:sp>
        <p:nvSpPr>
          <p:cNvPr id="9" name="card OPA Gatekeeper (optional)"/>
          <p:cNvSpPr/>
          <p:nvPr/>
        </p:nvSpPr>
        <p:spPr>
          <a:xfrm>
            <a:off x="4312920" y="1325880"/>
            <a:ext cx="3535680" cy="4892040"/>
          </a:xfrm>
          <a:prstGeom prst="roundRect">
            <a:avLst>
              <a:gd name="adj" fmla="val 2069"/>
            </a:avLst>
          </a:prstGeom>
          <a:solidFill>
            <a:schemeClr val="bg2"/>
          </a:solidFill>
          <a:ln w="12700">
            <a:solidFill>
              <a:schemeClr val="bg2"/>
            </a:solidFill>
            <a:prstDash val="solid"/>
          </a:ln>
        </p:spPr>
      </p:sp>
      <p:sp>
        <p:nvSpPr>
          <p:cNvPr id="10" name="Shape 7"/>
          <p:cNvSpPr/>
          <p:nvPr/>
        </p:nvSpPr>
        <p:spPr>
          <a:xfrm>
            <a:off x="4495800" y="1508760"/>
            <a:ext cx="640080" cy="64008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636618" y="1649578"/>
            <a:ext cx="358445" cy="358445"/>
          </a:xfrm>
          <a:prstGeom prst="rect">
            <a:avLst/>
          </a:prstGeom>
        </p:spPr>
      </p:pic>
      <p:sp>
        <p:nvSpPr>
          <p:cNvPr id="12" name="Text 8"/>
          <p:cNvSpPr txBox="1"/>
          <p:nvPr/>
        </p:nvSpPr>
        <p:spPr>
          <a:xfrm>
            <a:off x="5227320" y="1490472"/>
            <a:ext cx="2438400" cy="676656"/>
          </a:xfrm>
          <a:prstGeom prst="rect">
            <a:avLst/>
          </a:prstGeom>
          <a:noFill/>
          <a:ln/>
        </p:spPr>
        <p:txBody>
          <a:bodyPr wrap="square" lIns="0" tIns="0" rIns="0" bIns="0" rtlCol="0" anchor="ctr">
            <a:normAutofit/>
          </a:bodyPr>
          <a:lstStyle/>
          <a:p>
            <a:pPr indent="0" marL="0">
              <a:buNone/>
            </a:pPr>
            <a:r>
              <a:rPr lang="en-US" sz="1800" b="1" dirty="0">
                <a:solidFill>
                  <a:schemeClr val="tx2"/>
                </a:solidFill>
              </a:rPr>
              <a:t>OPA Gatekeeper (optional)</a:t>
            </a:r>
            <a:endParaRPr lang="en-US" sz="1800" dirty="0"/>
          </a:p>
        </p:txBody>
      </p:sp>
      <p:sp>
        <p:nvSpPr>
          <p:cNvPr id="13" name="Text 9"/>
          <p:cNvSpPr txBox="1"/>
          <p:nvPr/>
        </p:nvSpPr>
        <p:spPr>
          <a:xfrm>
            <a:off x="4495800" y="2221992"/>
            <a:ext cx="3169920" cy="274320"/>
          </a:xfrm>
          <a:prstGeom prst="rect">
            <a:avLst/>
          </a:prstGeom>
          <a:noFill/>
          <a:ln/>
        </p:spPr>
        <p:txBody>
          <a:bodyPr wrap="square" lIns="0" tIns="0" rIns="0" bIns="0" rtlCol="0" anchor="ctr"/>
          <a:lstStyle/>
          <a:p>
            <a:pPr indent="0" marL="0">
              <a:buNone/>
            </a:pPr>
            <a:r>
              <a:rPr lang="en-US" sz="1100" b="1" dirty="0">
                <a:solidFill>
                  <a:schemeClr val="accent1"/>
                </a:solidFill>
              </a:rPr>
              <a:t>v3.23.1</a:t>
            </a:r>
            <a:endParaRPr lang="en-US" sz="1100" dirty="0"/>
          </a:p>
        </p:txBody>
      </p:sp>
      <p:sp>
        <p:nvSpPr>
          <p:cNvPr id="14" name="Text 10"/>
          <p:cNvSpPr txBox="1"/>
          <p:nvPr/>
        </p:nvSpPr>
        <p:spPr>
          <a:xfrm>
            <a:off x="4495800" y="2532888"/>
            <a:ext cx="3169920" cy="3566160"/>
          </a:xfrm>
          <a:prstGeom prst="rect">
            <a:avLst/>
          </a:prstGeom>
          <a:noFill/>
          <a:ln/>
        </p:spPr>
        <p:txBody>
          <a:bodyPr wrap="square" lIns="0" tIns="0" rIns="0" bIns="0" rtlCol="0" anchor="t"/>
          <a:lstStyle/>
          <a:p>
            <a:pPr indent="0" marL="0">
              <a:buNone/>
            </a:pPr>
            <a:r>
              <a:rPr lang="en-US" sz="1500" dirty="0">
                <a:solidFill>
                  <a:schemeClr val="tx1"/>
                </a:solidFill>
              </a:rPr>
              <a:t>Cannot verify cosign signatures itself; the kit uses it to require images from the private registry pinned by digest, alongside Kyverno.</a:t>
            </a:r>
            <a:endParaRPr lang="en-US" sz="1500" dirty="0"/>
          </a:p>
        </p:txBody>
      </p:sp>
      <p:sp>
        <p:nvSpPr>
          <p:cNvPr id="15" name="card Sigstore policy-controller (reference)"/>
          <p:cNvSpPr/>
          <p:nvPr/>
        </p:nvSpPr>
        <p:spPr>
          <a:xfrm>
            <a:off x="8077200" y="1325880"/>
            <a:ext cx="3535680" cy="4892040"/>
          </a:xfrm>
          <a:prstGeom prst="roundRect">
            <a:avLst>
              <a:gd name="adj" fmla="val 2069"/>
            </a:avLst>
          </a:prstGeom>
          <a:solidFill>
            <a:schemeClr val="bg2"/>
          </a:solidFill>
          <a:ln w="12700">
            <a:solidFill>
              <a:schemeClr val="bg2"/>
            </a:solidFill>
            <a:prstDash val="solid"/>
          </a:ln>
        </p:spPr>
      </p:sp>
      <p:sp>
        <p:nvSpPr>
          <p:cNvPr id="16" name="Shape 12"/>
          <p:cNvSpPr/>
          <p:nvPr/>
        </p:nvSpPr>
        <p:spPr>
          <a:xfrm>
            <a:off x="8260080" y="1508760"/>
            <a:ext cx="640080" cy="640080"/>
          </a:xfrm>
          <a:prstGeom prst="ellipse">
            <a:avLst/>
          </a:prstGeom>
          <a:solidFill>
            <a:schemeClr val="accent1"/>
          </a:solidFill>
          <a:ln w="12700">
            <a:solidFill>
              <a:schemeClr val="accent1"/>
            </a:solidFill>
            <a:prstDash val="solid"/>
          </a:ln>
        </p:spPr>
      </p:sp>
      <p:pic>
        <p:nvPicPr>
          <p:cNvPr id="17" name="Image 2" descr="preencoded.png">    </p:cNvPr>
          <p:cNvPicPr>
            <a:picLocks noChangeAspect="1"/>
          </p:cNvPicPr>
          <p:nvPr/>
        </p:nvPicPr>
        <p:blipFill>
          <a:blip r:embed="rId3"/>
          <a:stretch>
            <a:fillRect/>
          </a:stretch>
        </p:blipFill>
        <p:spPr>
          <a:xfrm>
            <a:off x="8400898" y="1649578"/>
            <a:ext cx="358445" cy="358445"/>
          </a:xfrm>
          <a:prstGeom prst="rect">
            <a:avLst/>
          </a:prstGeom>
        </p:spPr>
      </p:pic>
      <p:sp>
        <p:nvSpPr>
          <p:cNvPr id="18" name="Text 13"/>
          <p:cNvSpPr txBox="1"/>
          <p:nvPr/>
        </p:nvSpPr>
        <p:spPr>
          <a:xfrm>
            <a:off x="8991600" y="1490472"/>
            <a:ext cx="2438400" cy="676656"/>
          </a:xfrm>
          <a:prstGeom prst="rect">
            <a:avLst/>
          </a:prstGeom>
          <a:noFill/>
          <a:ln/>
        </p:spPr>
        <p:txBody>
          <a:bodyPr wrap="square" lIns="0" tIns="0" rIns="0" bIns="0" rtlCol="0" anchor="ctr">
            <a:normAutofit/>
          </a:bodyPr>
          <a:lstStyle/>
          <a:p>
            <a:pPr indent="0" marL="0">
              <a:buNone/>
            </a:pPr>
            <a:r>
              <a:rPr lang="en-US" sz="1800" b="1" dirty="0">
                <a:solidFill>
                  <a:schemeClr val="tx2"/>
                </a:solidFill>
              </a:rPr>
              <a:t>Sigstore policy-controller (reference)</a:t>
            </a:r>
            <a:endParaRPr lang="en-US" sz="1800" dirty="0"/>
          </a:p>
        </p:txBody>
      </p:sp>
      <p:sp>
        <p:nvSpPr>
          <p:cNvPr id="19" name="Text 14"/>
          <p:cNvSpPr txBox="1"/>
          <p:nvPr/>
        </p:nvSpPr>
        <p:spPr>
          <a:xfrm>
            <a:off x="8260080" y="2221992"/>
            <a:ext cx="3169920" cy="274320"/>
          </a:xfrm>
          <a:prstGeom prst="rect">
            <a:avLst/>
          </a:prstGeom>
          <a:noFill/>
          <a:ln/>
        </p:spPr>
        <p:txBody>
          <a:bodyPr wrap="square" lIns="0" tIns="0" rIns="0" bIns="0" rtlCol="0" anchor="ctr"/>
          <a:lstStyle/>
          <a:p>
            <a:pPr indent="0" marL="0">
              <a:buNone/>
            </a:pPr>
            <a:r>
              <a:rPr lang="en-US" sz="1100" b="1" dirty="0">
                <a:solidFill>
                  <a:schemeClr val="accent1"/>
                </a:solidFill>
              </a:rPr>
              <a:t>—</a:t>
            </a:r>
            <a:endParaRPr lang="en-US" sz="1100" dirty="0"/>
          </a:p>
        </p:txBody>
      </p:sp>
      <p:sp>
        <p:nvSpPr>
          <p:cNvPr id="20" name="Text 15"/>
          <p:cNvSpPr txBox="1"/>
          <p:nvPr/>
        </p:nvSpPr>
        <p:spPr>
          <a:xfrm>
            <a:off x="8260080" y="2532888"/>
            <a:ext cx="3169920" cy="3566160"/>
          </a:xfrm>
          <a:prstGeom prst="rect">
            <a:avLst/>
          </a:prstGeom>
          <a:noFill/>
          <a:ln/>
        </p:spPr>
        <p:txBody>
          <a:bodyPr wrap="square" lIns="0" tIns="0" rIns="0" bIns="0" rtlCol="0" anchor="t"/>
          <a:lstStyle/>
          <a:p>
            <a:pPr indent="0" marL="0">
              <a:buNone/>
            </a:pPr>
            <a:r>
              <a:rPr lang="en-US" sz="1500" dirty="0">
                <a:solidFill>
                  <a:schemeClr val="tx1"/>
                </a:solidFill>
              </a:rPr>
              <a:t>Alternative to Kyverno using TrustRoot + ClusterImagePolicy. Provided as an untested reference.</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8EAD"/>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7315200" cy="1097280"/>
          </a:xfrm>
          <a:prstGeom prst="rect">
            <a:avLst/>
          </a:prstGeom>
          <a:noFill/>
          <a:ln/>
        </p:spPr>
        <p:txBody>
          <a:bodyPr wrap="square" rtlCol="0" anchor="b"/>
          <a:lstStyle/>
          <a:p>
            <a:pPr algn="l" indent="0" marL="0">
              <a:buNone/>
            </a:pPr>
            <a:r>
              <a:rPr lang="en-US" sz="4000" b="1" dirty="0">
                <a:solidFill>
                  <a:schemeClr val="bg1"/>
                </a:solidFill>
              </a:rPr>
              <a:t>Helper container images</a:t>
            </a:r>
            <a:endParaRPr lang="en-US" sz="4000" dirty="0"/>
          </a:p>
        </p:txBody>
      </p:sp>
      <p:sp>
        <p:nvSpPr>
          <p:cNvPr id="3" name="Text 0"/>
          <p:cNvSpPr/>
          <p:nvPr>
            <p:ph idx="101" type="body" hasCustomPrompt="1"/>
          </p:nvPr>
        </p:nvSpPr>
        <p:spPr>
          <a:xfrm>
            <a:off x="731520" y="3566160"/>
            <a:ext cx="7315200" cy="1280160"/>
          </a:xfrm>
          <a:prstGeom prst="rect">
            <a:avLst/>
          </a:prstGeom>
          <a:noFill/>
          <a:ln/>
        </p:spPr>
        <p:txBody>
          <a:bodyPr wrap="square" rtlCol="0" anchor="t"/>
          <a:lstStyle/>
          <a:p>
            <a:pPr indent="0" marL="0">
              <a:buNone/>
            </a:pPr>
            <a:r>
              <a:rPr lang="en-US" sz="1800" dirty="0">
                <a:solidFill>
                  <a:srgbClr val="9BC4CB"/>
                </a:solidFill>
              </a:rPr>
              <a:t>Small images the charts and scripts run once or in init containers. They appear in bundle/images.txt and you may see them in kubectl get pods.</a:t>
            </a:r>
            <a:endParaRPr lang="en-US" sz="1800" dirty="0"/>
          </a:p>
        </p:txBody>
      </p:sp>
      <p:sp>
        <p:nvSpPr>
          <p:cNvPr id="4" name="Shape 2"/>
          <p:cNvSpPr/>
          <p:nvPr/>
        </p:nvSpPr>
        <p:spPr>
          <a:xfrm>
            <a:off x="8778240" y="2011680"/>
            <a:ext cx="2560320" cy="256032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464040" y="2697480"/>
            <a:ext cx="1188720" cy="1188720"/>
          </a:xfrm>
          <a:prstGeom prst="rect">
            <a:avLst/>
          </a:prstGeom>
        </p:spPr>
      </p:pic>
      <p:sp>
        <p:nvSpPr>
          <p:cNvPr id="6" name="Text 3"/>
          <p:cNvSpPr txBox="1"/>
          <p:nvPr/>
        </p:nvSpPr>
        <p:spPr>
          <a:xfrm>
            <a:off x="8778240" y="4754880"/>
            <a:ext cx="2560320" cy="457200"/>
          </a:xfrm>
          <a:prstGeom prst="rect">
            <a:avLst/>
          </a:prstGeom>
          <a:noFill/>
          <a:ln/>
        </p:spPr>
        <p:txBody>
          <a:bodyPr wrap="square" lIns="0" tIns="0" rIns="0" bIns="0" rtlCol="0" anchor="ctr"/>
          <a:lstStyle/>
          <a:p>
            <a:pPr algn="ctr" indent="0" marL="0">
              <a:buNone/>
            </a:pPr>
            <a:r>
              <a:rPr lang="en-US" sz="1800" b="1" dirty="0">
                <a:solidFill>
                  <a:srgbClr val="9BC4CB"/>
                </a:solidFill>
              </a:rPr>
              <a:t>6 tools</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BC4CB"/>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Helper container images: what each one is for</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651760"/>
                <a:gridCol w="1737360"/>
                <a:gridCol w="6675120"/>
              </a:tblGrid>
              <a:tr h="502920">
                <a:tc>
                  <a:txBody>
                    <a:bodyPr/>
                    <a:lstStyle/>
                    <a:p>
                      <a:pPr indent="0" marL="0">
                        <a:buNone/>
                      </a:pPr>
                      <a:r>
                        <a:rPr lang="en-US" sz="1500" b="1" dirty="0">
                          <a:solidFill>
                            <a:srgbClr val="FFFFFF"/>
                          </a:solidFill>
                        </a:rPr>
                        <a:t>Tool</a:t>
                      </a:r>
                      <a:endParaRPr lang="en-US" sz="15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13294B"/>
                    </a:solidFill>
                  </a:tcPr>
                </a:tc>
                <a:tc>
                  <a:txBody>
                    <a:bodyPr/>
                    <a:lstStyle/>
                    <a:p>
                      <a:pPr indent="0" marL="0">
                        <a:buNone/>
                      </a:pPr>
                      <a:r>
                        <a:rPr lang="en-US" sz="1500" b="1" dirty="0">
                          <a:solidFill>
                            <a:srgbClr val="FFFFFF"/>
                          </a:solidFill>
                        </a:rPr>
                        <a:t>Version</a:t>
                      </a:r>
                      <a:endParaRPr lang="en-US" sz="15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13294B"/>
                    </a:solidFill>
                  </a:tcPr>
                </a:tc>
                <a:tc>
                  <a:txBody>
                    <a:bodyPr/>
                    <a:lstStyle/>
                    <a:p>
                      <a:pPr indent="0" marL="0">
                        <a:buNone/>
                      </a:pPr>
                      <a:r>
                        <a:rPr lang="en-US" sz="1500" b="1" dirty="0">
                          <a:solidFill>
                            <a:srgbClr val="FFFFFF"/>
                          </a:solidFill>
                        </a:rPr>
                        <a:t>Purpose in this kit</a:t>
                      </a:r>
                      <a:endParaRPr lang="en-US" sz="15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13294B"/>
                    </a:solidFill>
                  </a:tcPr>
                </a:tc>
              </a:tr>
              <a:tr h="502920">
                <a:tc>
                  <a:txBody>
                    <a:bodyPr/>
                    <a:lstStyle/>
                    <a:p>
                      <a:pPr indent="0" marL="0">
                        <a:buNone/>
                      </a:pPr>
                      <a:r>
                        <a:rPr lang="en-US" sz="1400" b="1" dirty="0">
                          <a:solidFill>
                            <a:srgbClr val="1B2333"/>
                          </a:solidFill>
                        </a:rPr>
                        <a:t>scaffolding createdb</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rPr>
                        <a:t>v0.7.33</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rPr>
                        <a:t>Creates the trillian database schema in MySQL on first install.</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B2333"/>
                          </a:solidFill>
                        </a:rPr>
                        <a:t>scaffolding createtree</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c>
                  <a:txBody>
                    <a:bodyPr/>
                    <a:lstStyle/>
                    <a:p>
                      <a:pPr indent="0" marL="0">
                        <a:buNone/>
                      </a:pPr>
                      <a:r>
                        <a:rPr lang="en-US" sz="1400" dirty="0">
                          <a:solidFill>
                            <a:srgbClr val="1B2333"/>
                          </a:solidFill>
                        </a:rPr>
                        <a:t>v0.7.33</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c>
                  <a:txBody>
                    <a:bodyPr/>
                    <a:lstStyle/>
                    <a:p>
                      <a:pPr indent="0" marL="0">
                        <a:buNone/>
                      </a:pPr>
                      <a:r>
                        <a:rPr lang="en-US" sz="1400" dirty="0">
                          <a:solidFill>
                            <a:srgbClr val="1B2333"/>
                          </a:solidFill>
                        </a:rPr>
                        <a:t>Creates a Trillian tree for Rekor and for the CT log and stores its ID in a ConfigMap (rekor-config / ctlog-config).</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r>
              <a:tr h="502920">
                <a:tc>
                  <a:txBody>
                    <a:bodyPr/>
                    <a:lstStyle/>
                    <a:p>
                      <a:pPr indent="0" marL="0">
                        <a:buNone/>
                      </a:pPr>
                      <a:r>
                        <a:rPr lang="en-US" sz="1400" b="1" dirty="0">
                          <a:solidFill>
                            <a:srgbClr val="1B2333"/>
                          </a:solidFill>
                        </a:rPr>
                        <a:t>scaffolding createctconfig</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rPr>
                        <a:t>v0.7.33</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rPr>
                        <a:t>Builds the CT log configuration: fetches Fulcio's root, loads your CT key from Secret ctlog-signer, writes Secret ctlog-secret.</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B2333"/>
                          </a:solidFill>
                        </a:rPr>
                        <a:t>curlimages/curl</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c>
                  <a:txBody>
                    <a:bodyPr/>
                    <a:lstStyle/>
                    <a:p>
                      <a:pPr indent="0" marL="0">
                        <a:buNone/>
                      </a:pPr>
                      <a:r>
                        <a:rPr lang="en-US" sz="1400" dirty="0">
                          <a:solidFill>
                            <a:srgbClr val="1B2333"/>
                          </a:solidFill>
                        </a:rPr>
                        <a:t>8.17.0</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c>
                  <a:txBody>
                    <a:bodyPr/>
                    <a:lstStyle/>
                    <a:p>
                      <a:pPr indent="0" marL="0">
                        <a:buNone/>
                      </a:pPr>
                      <a:r>
                        <a:rPr lang="en-US" sz="1400" dirty="0">
                          <a:solidFill>
                            <a:srgbClr val="1B2333"/>
                          </a:solidFill>
                        </a:rPr>
                        <a:t>Init containers that wait for Trillian / Fulcio to answer before Rekor and the CT config job start.</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r>
              <a:tr h="502920">
                <a:tc>
                  <a:txBody>
                    <a:bodyPr/>
                    <a:lstStyle/>
                    <a:p>
                      <a:pPr indent="0" marL="0">
                        <a:buNone/>
                      </a:pPr>
                      <a:r>
                        <a:rPr lang="en-US" sz="1400" b="1" dirty="0">
                          <a:solidFill>
                            <a:srgbClr val="1B2333"/>
                          </a:solidFill>
                        </a:rPr>
                        <a:t>busybox</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rPr>
                        <a:t>1.37 / pinned digest</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rPr>
                        <a:t>Trillian init containers, the TUF unpack init container, DNS check pods, the Keycloak restore pod, and the demo app's base image.</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B2333"/>
                          </a:solidFill>
                        </a:rPr>
                        <a:t>Kyverno helper images</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c>
                  <a:txBody>
                    <a:bodyPr/>
                    <a:lstStyle/>
                    <a:p>
                      <a:pPr indent="0" marL="0">
                        <a:buNone/>
                      </a:pPr>
                      <a:r>
                        <a:rPr lang="en-US" sz="1400" dirty="0">
                          <a:solidFill>
                            <a:srgbClr val="1B2333"/>
                          </a:solidFill>
                        </a:rPr>
                        <a:t>v1.19.1</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c>
                  <a:txBody>
                    <a:bodyPr/>
                    <a:lstStyle/>
                    <a:p>
                      <a:pPr indent="0" marL="0">
                        <a:buNone/>
                      </a:pPr>
                      <a:r>
                        <a:rPr lang="en-US" sz="1400" dirty="0">
                          <a:solidFill>
                            <a:srgbClr val="1B2333"/>
                          </a:solidFill>
                        </a:rPr>
                        <a:t>Pre-start cleanup, CLI used by chart hooks, and readiness checks for the Kyverno install.</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r>
            </a:tbl>
          </a:graphicData>
        </a:graphic>
      </p:graphicFrame>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8EAD"/>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7315200" cy="1097280"/>
          </a:xfrm>
          <a:prstGeom prst="rect">
            <a:avLst/>
          </a:prstGeom>
          <a:noFill/>
          <a:ln/>
        </p:spPr>
        <p:txBody>
          <a:bodyPr wrap="square" rtlCol="0" anchor="b"/>
          <a:lstStyle/>
          <a:p>
            <a:pPr algn="l" indent="0" marL="0">
              <a:buNone/>
            </a:pPr>
            <a:r>
              <a:rPr lang="en-US" sz="4000" b="1" dirty="0">
                <a:solidFill>
                  <a:schemeClr val="bg1"/>
                </a:solidFill>
              </a:rPr>
              <a:t>Build &amp; test tools</a:t>
            </a:r>
            <a:endParaRPr lang="en-US" sz="4000" dirty="0"/>
          </a:p>
        </p:txBody>
      </p:sp>
      <p:sp>
        <p:nvSpPr>
          <p:cNvPr id="3" name="Text 0"/>
          <p:cNvSpPr/>
          <p:nvPr>
            <p:ph idx="101" type="body" hasCustomPrompt="1"/>
          </p:nvPr>
        </p:nvSpPr>
        <p:spPr>
          <a:xfrm>
            <a:off x="731520" y="3566160"/>
            <a:ext cx="7315200" cy="1280160"/>
          </a:xfrm>
          <a:prstGeom prst="rect">
            <a:avLst/>
          </a:prstGeom>
          <a:noFill/>
          <a:ln/>
        </p:spPr>
        <p:txBody>
          <a:bodyPr wrap="square" rtlCol="0" anchor="t"/>
          <a:lstStyle/>
          <a:p>
            <a:pPr indent="0" marL="0">
              <a:buNone/>
            </a:pPr>
            <a:r>
              <a:rPr lang="en-US" sz="1800" dirty="0">
                <a:solidFill>
                  <a:srgbClr val="9BC4CB"/>
                </a:solidFill>
              </a:rPr>
              <a:t>Not needed to run the stack. Used to prove the kit works (test/compose/run.sh) and to lint it. Useful if you change the kit.</a:t>
            </a:r>
            <a:endParaRPr lang="en-US" sz="1800" dirty="0"/>
          </a:p>
        </p:txBody>
      </p:sp>
      <p:sp>
        <p:nvSpPr>
          <p:cNvPr id="4" name="Shape 2"/>
          <p:cNvSpPr/>
          <p:nvPr/>
        </p:nvSpPr>
        <p:spPr>
          <a:xfrm>
            <a:off x="8778240" y="2011680"/>
            <a:ext cx="2560320" cy="256032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464040" y="2697480"/>
            <a:ext cx="1188720" cy="1188720"/>
          </a:xfrm>
          <a:prstGeom prst="rect">
            <a:avLst/>
          </a:prstGeom>
        </p:spPr>
      </p:pic>
      <p:sp>
        <p:nvSpPr>
          <p:cNvPr id="6" name="Text 3"/>
          <p:cNvSpPr txBox="1"/>
          <p:nvPr/>
        </p:nvSpPr>
        <p:spPr>
          <a:xfrm>
            <a:off x="8778240" y="4754880"/>
            <a:ext cx="2560320" cy="457200"/>
          </a:xfrm>
          <a:prstGeom prst="rect">
            <a:avLst/>
          </a:prstGeom>
          <a:noFill/>
          <a:ln/>
        </p:spPr>
        <p:txBody>
          <a:bodyPr wrap="square" lIns="0" tIns="0" rIns="0" bIns="0" rtlCol="0" anchor="ctr"/>
          <a:lstStyle/>
          <a:p>
            <a:pPr algn="ctr" indent="0" marL="0">
              <a:buNone/>
            </a:pPr>
            <a:r>
              <a:rPr lang="en-US" sz="1800" b="1" dirty="0">
                <a:solidFill>
                  <a:srgbClr val="9BC4CB"/>
                </a:solidFill>
              </a:rPr>
              <a:t>8 tools</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BC4CB"/>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Build &amp; test tools: what each one is for</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651760"/>
                <a:gridCol w="1737360"/>
                <a:gridCol w="6675120"/>
              </a:tblGrid>
              <a:tr h="502920">
                <a:tc>
                  <a:txBody>
                    <a:bodyPr/>
                    <a:lstStyle/>
                    <a:p>
                      <a:pPr indent="0" marL="0">
                        <a:buNone/>
                      </a:pPr>
                      <a:r>
                        <a:rPr lang="en-US" sz="1500" b="1" dirty="0">
                          <a:solidFill>
                            <a:srgbClr val="FFFFFF"/>
                          </a:solidFill>
                        </a:rPr>
                        <a:t>Tool</a:t>
                      </a:r>
                      <a:endParaRPr lang="en-US" sz="15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13294B"/>
                    </a:solidFill>
                  </a:tcPr>
                </a:tc>
                <a:tc>
                  <a:txBody>
                    <a:bodyPr/>
                    <a:lstStyle/>
                    <a:p>
                      <a:pPr indent="0" marL="0">
                        <a:buNone/>
                      </a:pPr>
                      <a:r>
                        <a:rPr lang="en-US" sz="1500" b="1" dirty="0">
                          <a:solidFill>
                            <a:srgbClr val="FFFFFF"/>
                          </a:solidFill>
                        </a:rPr>
                        <a:t>Version</a:t>
                      </a:r>
                      <a:endParaRPr lang="en-US" sz="15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13294B"/>
                    </a:solidFill>
                  </a:tcPr>
                </a:tc>
                <a:tc>
                  <a:txBody>
                    <a:bodyPr/>
                    <a:lstStyle/>
                    <a:p>
                      <a:pPr indent="0" marL="0">
                        <a:buNone/>
                      </a:pPr>
                      <a:r>
                        <a:rPr lang="en-US" sz="1500" b="1" dirty="0">
                          <a:solidFill>
                            <a:srgbClr val="FFFFFF"/>
                          </a:solidFill>
                        </a:rPr>
                        <a:t>Purpose in this kit</a:t>
                      </a:r>
                      <a:endParaRPr lang="en-US" sz="15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13294B"/>
                    </a:solidFill>
                  </a:tcPr>
                </a:tc>
              </a:tr>
              <a:tr h="502920">
                <a:tc>
                  <a:txBody>
                    <a:bodyPr/>
                    <a:lstStyle/>
                    <a:p>
                      <a:pPr indent="0" marL="0">
                        <a:buNone/>
                      </a:pPr>
                      <a:r>
                        <a:rPr lang="en-US" sz="1400" b="1" dirty="0">
                          <a:solidFill>
                            <a:srgbClr val="1B2333"/>
                          </a:solidFill>
                        </a:rPr>
                        <a:t>Docker Compose</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rPr>
                        <a:t>v2 (Docker plugin)</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rPr>
                        <a:t>Runs the same Sigstore images and arguments as the charts, without Kubernetes, for the end-to-end offline integration test.</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B2333"/>
                          </a:solidFill>
                        </a:rPr>
                        <a:t>nginx (test gateway)</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c>
                  <a:txBody>
                    <a:bodyPr/>
                    <a:lstStyle/>
                    <a:p>
                      <a:pPr indent="0" marL="0">
                        <a:buNone/>
                      </a:pPr>
                      <a:r>
                        <a:rPr lang="en-US" sz="1400" dirty="0">
                          <a:solidFill>
                            <a:srgbClr val="1B2333"/>
                          </a:solidFill>
                        </a:rPr>
                        <a:t>1.27</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c>
                  <a:txBody>
                    <a:bodyPr/>
                    <a:lstStyle/>
                    <a:p>
                      <a:pPr indent="0" marL="0">
                        <a:buNone/>
                      </a:pPr>
                      <a:r>
                        <a:rPr lang="en-US" sz="1400" dirty="0">
                          <a:solidFill>
                            <a:srgbClr val="1B2333"/>
                          </a:solidFill>
                        </a:rPr>
                        <a:t>Stands in for Traefik in the Docker test: TLS termination and the *.sigstore.local names.</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r>
              <a:tr h="502920">
                <a:tc>
                  <a:txBody>
                    <a:bodyPr/>
                    <a:lstStyle/>
                    <a:p>
                      <a:pPr indent="0" marL="0">
                        <a:buNone/>
                      </a:pPr>
                      <a:r>
                        <a:rPr lang="en-US" sz="1400" b="1" dirty="0">
                          <a:solidFill>
                            <a:srgbClr val="1B2333"/>
                          </a:solidFill>
                        </a:rPr>
                        <a:t>Toolbox image (buildpack-deps)</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rPr>
                        <a:t>bookworm-curl</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rPr>
                        <a:t>A stand-in laptop on an --internal network with no internet, proving every client step works air-gapped.</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B2333"/>
                          </a:solidFill>
                        </a:rPr>
                        <a:t>createtree (Trillian CLI)</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c>
                  <a:txBody>
                    <a:bodyPr/>
                    <a:lstStyle/>
                    <a:p>
                      <a:pPr indent="0" marL="0">
                        <a:buNone/>
                      </a:pPr>
                      <a:r>
                        <a:rPr lang="en-US" sz="1400" dirty="0">
                          <a:solidFill>
                            <a:srgbClr val="1B2333"/>
                          </a:solidFill>
                        </a:rPr>
                        <a:t>v1.7.2</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c>
                  <a:txBody>
                    <a:bodyPr/>
                    <a:lstStyle/>
                    <a:p>
                      <a:pPr indent="0" marL="0">
                        <a:buNone/>
                      </a:pPr>
                      <a:r>
                        <a:rPr lang="en-US" sz="1400" dirty="0">
                          <a:solidFill>
                            <a:srgbClr val="1B2333"/>
                          </a:solidFill>
                        </a:rPr>
                        <a:t>Creates Trillian trees in the Docker test (in Kubernetes the createtree Job does it).</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r>
              <a:tr h="502920">
                <a:tc>
                  <a:txBody>
                    <a:bodyPr/>
                    <a:lstStyle/>
                    <a:p>
                      <a:pPr indent="0" marL="0">
                        <a:buNone/>
                      </a:pPr>
                      <a:r>
                        <a:rPr lang="en-US" sz="1400" b="1" dirty="0">
                          <a:solidFill>
                            <a:srgbClr val="1B2333"/>
                          </a:solidFill>
                        </a:rPr>
                        <a:t>Kyverno CLI</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rPr>
                        <a:t>v1.19.1</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rPr>
                        <a:t>Proved the ImageValidatingPolicy admits signed and denies unsigned images, against the live registry and TUF.</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B2333"/>
                          </a:solidFill>
                        </a:rPr>
                        <a:t>gator</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c>
                  <a:txBody>
                    <a:bodyPr/>
                    <a:lstStyle/>
                    <a:p>
                      <a:pPr indent="0" marL="0">
                        <a:buNone/>
                      </a:pPr>
                      <a:r>
                        <a:rPr lang="en-US" sz="1400" dirty="0">
                          <a:solidFill>
                            <a:srgbClr val="1B2333"/>
                          </a:solidFill>
                        </a:rPr>
                        <a:t>v3.23.1</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c>
                  <a:txBody>
                    <a:bodyPr/>
                    <a:lstStyle/>
                    <a:p>
                      <a:pPr indent="0" marL="0">
                        <a:buNone/>
                      </a:pPr>
                      <a:r>
                        <a:rPr lang="en-US" sz="1400" dirty="0">
                          <a:solidFill>
                            <a:srgbClr val="1B2333"/>
                          </a:solidFill>
                        </a:rPr>
                        <a:t>Validated the Gatekeeper digest/registry constraint.</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r>
              <a:tr h="502920">
                <a:tc>
                  <a:txBody>
                    <a:bodyPr/>
                    <a:lstStyle/>
                    <a:p>
                      <a:pPr indent="0" marL="0">
                        <a:buNone/>
                      </a:pPr>
                      <a:r>
                        <a:rPr lang="en-US" sz="1400" b="1" dirty="0">
                          <a:solidFill>
                            <a:srgbClr val="1B2333"/>
                          </a:solidFill>
                        </a:rPr>
                        <a:t>shellcheck</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rPr>
                        <a:t>v0.10.0</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rPr>
                        <a:t>Linted every script for bugs.</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B2333"/>
                          </a:solidFill>
                        </a:rPr>
                        <a:t>kubeconform</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c>
                  <a:txBody>
                    <a:bodyPr/>
                    <a:lstStyle/>
                    <a:p>
                      <a:pPr indent="0" marL="0">
                        <a:buNone/>
                      </a:pPr>
                      <a:r>
                        <a:rPr lang="en-US" sz="1400" dirty="0">
                          <a:solidFill>
                            <a:srgbClr val="1B2333"/>
                          </a:solidFill>
                        </a:rPr>
                        <a:t>v0.6.7</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c>
                  <a:txBody>
                    <a:bodyPr/>
                    <a:lstStyle/>
                    <a:p>
                      <a:pPr indent="0" marL="0">
                        <a:buNone/>
                      </a:pPr>
                      <a:r>
                        <a:rPr lang="en-US" sz="1400" dirty="0">
                          <a:solidFill>
                            <a:srgbClr val="1B2333"/>
                          </a:solidFill>
                        </a:rPr>
                        <a:t>Validated the registry, Keycloak and TUF manifests against the Kubernetes API schema.</a:t>
                      </a:r>
                      <a:endParaRPr lang="en-US" sz="1400" dirty="0"/>
                    </a:p>
                  </a:txBody>
                  <a:tcPr marL="73152" marR="73152" marT="73152" marB="73152"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EF3F6"/>
                    </a:solidFill>
                  </a:tcPr>
                </a:tc>
              </a:tr>
            </a:tbl>
          </a:graphicData>
        </a:graphic>
      </p:graphicFrame>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8EAD"/>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Which tools you touch, and when</a:t>
            </a:r>
            <a:endParaRPr lang="en-US" sz="3200" dirty="0"/>
          </a:p>
        </p:txBody>
      </p:sp>
      <p:sp>
        <p:nvSpPr>
          <p:cNvPr id="3" name="Shape 1"/>
          <p:cNvSpPr/>
          <p:nvPr/>
        </p:nvSpPr>
        <p:spPr>
          <a:xfrm>
            <a:off x="548640" y="1371600"/>
            <a:ext cx="11064240" cy="804672"/>
          </a:xfrm>
          <a:prstGeom prst="roundRect">
            <a:avLst>
              <a:gd name="adj" fmla="val 6818"/>
            </a:avLst>
          </a:prstGeom>
          <a:solidFill>
            <a:schemeClr val="bg2"/>
          </a:solidFill>
          <a:ln w="12700">
            <a:solidFill>
              <a:schemeClr val="bg2"/>
            </a:solidFill>
            <a:prstDash val="solid"/>
          </a:ln>
        </p:spPr>
      </p:sp>
      <p:sp>
        <p:nvSpPr>
          <p:cNvPr id="4" name="Shape 2"/>
          <p:cNvSpPr/>
          <p:nvPr/>
        </p:nvSpPr>
        <p:spPr>
          <a:xfrm>
            <a:off x="731520" y="1527048"/>
            <a:ext cx="493776" cy="493776"/>
          </a:xfrm>
          <a:prstGeom prst="ellipse">
            <a:avLst/>
          </a:prstGeom>
          <a:solidFill>
            <a:schemeClr val="accent1"/>
          </a:solidFill>
          <a:ln w="12700">
            <a:solidFill>
              <a:schemeClr val="accent1"/>
            </a:solidFill>
            <a:prstDash val="solid"/>
          </a:ln>
        </p:spPr>
      </p:sp>
      <p:sp>
        <p:nvSpPr>
          <p:cNvPr id="5" name="Text 3"/>
          <p:cNvSpPr txBox="1"/>
          <p:nvPr/>
        </p:nvSpPr>
        <p:spPr>
          <a:xfrm>
            <a:off x="731520" y="1527048"/>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417320" y="1371600"/>
            <a:ext cx="3566160" cy="804672"/>
          </a:xfrm>
          <a:prstGeom prst="rect">
            <a:avLst/>
          </a:prstGeom>
          <a:noFill/>
          <a:ln/>
        </p:spPr>
        <p:txBody>
          <a:bodyPr wrap="square" lIns="0" tIns="0" rIns="0" bIns="0" rtlCol="0" anchor="ctr"/>
          <a:lstStyle/>
          <a:p>
            <a:pPr indent="0" marL="0">
              <a:buNone/>
            </a:pPr>
            <a:r>
              <a:rPr lang="en-US" sz="1600" b="1" dirty="0">
                <a:solidFill>
                  <a:schemeClr val="tx2"/>
                </a:solidFill>
              </a:rPr>
              <a:t>Build the bundle (online, once)</a:t>
            </a:r>
            <a:endParaRPr lang="en-US" sz="1600" dirty="0"/>
          </a:p>
        </p:txBody>
      </p:sp>
      <p:sp>
        <p:nvSpPr>
          <p:cNvPr id="7" name="Text 5"/>
          <p:cNvSpPr txBox="1"/>
          <p:nvPr/>
        </p:nvSpPr>
        <p:spPr>
          <a:xfrm>
            <a:off x="5029200" y="1371600"/>
            <a:ext cx="3749040" cy="804672"/>
          </a:xfrm>
          <a:prstGeom prst="rect">
            <a:avLst/>
          </a:prstGeom>
          <a:noFill/>
          <a:ln/>
        </p:spPr>
        <p:txBody>
          <a:bodyPr wrap="square" lIns="0" tIns="0" rIns="0" bIns="0" rtlCol="0" anchor="ctr"/>
          <a:lstStyle/>
          <a:p>
            <a:pPr indent="0" marL="0">
              <a:buNone/>
            </a:pPr>
            <a:r>
              <a:rPr lang="en-US" sz="1400" dirty="0">
                <a:solidFill>
                  <a:schemeClr val="tx1"/>
                </a:solidFill>
              </a:rPr>
              <a:t>Docker · Helm · crane · curl · bash</a:t>
            </a:r>
            <a:endParaRPr lang="en-US" sz="1400" dirty="0"/>
          </a:p>
        </p:txBody>
      </p:sp>
      <p:sp>
        <p:nvSpPr>
          <p:cNvPr id="8" name="Text 6"/>
          <p:cNvSpPr txBox="1"/>
          <p:nvPr/>
        </p:nvSpPr>
        <p:spPr>
          <a:xfrm>
            <a:off x="8869680" y="1371600"/>
            <a:ext cx="2651760" cy="804672"/>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01-build-offline-bundle.sh</a:t>
            </a:r>
            <a:endParaRPr lang="en-US" sz="1200" dirty="0"/>
          </a:p>
        </p:txBody>
      </p:sp>
      <p:sp>
        <p:nvSpPr>
          <p:cNvPr id="9" name="Shape 7"/>
          <p:cNvSpPr/>
          <p:nvPr/>
        </p:nvSpPr>
        <p:spPr>
          <a:xfrm>
            <a:off x="548640" y="2331720"/>
            <a:ext cx="11064240" cy="804672"/>
          </a:xfrm>
          <a:prstGeom prst="roundRect">
            <a:avLst>
              <a:gd name="adj" fmla="val 6818"/>
            </a:avLst>
          </a:prstGeom>
          <a:solidFill>
            <a:schemeClr val="bg2"/>
          </a:solidFill>
          <a:ln w="12700">
            <a:solidFill>
              <a:schemeClr val="bg2"/>
            </a:solidFill>
            <a:prstDash val="solid"/>
          </a:ln>
        </p:spPr>
      </p:sp>
      <p:sp>
        <p:nvSpPr>
          <p:cNvPr id="10" name="Shape 8"/>
          <p:cNvSpPr/>
          <p:nvPr/>
        </p:nvSpPr>
        <p:spPr>
          <a:xfrm>
            <a:off x="731520" y="2487168"/>
            <a:ext cx="493776" cy="493776"/>
          </a:xfrm>
          <a:prstGeom prst="ellipse">
            <a:avLst/>
          </a:prstGeom>
          <a:solidFill>
            <a:schemeClr val="accent1"/>
          </a:solidFill>
          <a:ln w="12700">
            <a:solidFill>
              <a:schemeClr val="accent1"/>
            </a:solidFill>
            <a:prstDash val="solid"/>
          </a:ln>
        </p:spPr>
      </p:sp>
      <p:sp>
        <p:nvSpPr>
          <p:cNvPr id="11" name="Text 9"/>
          <p:cNvSpPr txBox="1"/>
          <p:nvPr/>
        </p:nvSpPr>
        <p:spPr>
          <a:xfrm>
            <a:off x="731520" y="2487168"/>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1417320" y="2331720"/>
            <a:ext cx="3566160" cy="804672"/>
          </a:xfrm>
          <a:prstGeom prst="rect">
            <a:avLst/>
          </a:prstGeom>
          <a:noFill/>
          <a:ln/>
        </p:spPr>
        <p:txBody>
          <a:bodyPr wrap="square" lIns="0" tIns="0" rIns="0" bIns="0" rtlCol="0" anchor="ctr"/>
          <a:lstStyle/>
          <a:p>
            <a:pPr indent="0" marL="0">
              <a:buNone/>
            </a:pPr>
            <a:r>
              <a:rPr lang="en-US" sz="1600" b="1" dirty="0">
                <a:solidFill>
                  <a:schemeClr val="tx2"/>
                </a:solidFill>
              </a:rPr>
              <a:t>Install on the offline laptop</a:t>
            </a:r>
            <a:endParaRPr lang="en-US" sz="1600" dirty="0"/>
          </a:p>
        </p:txBody>
      </p:sp>
      <p:sp>
        <p:nvSpPr>
          <p:cNvPr id="13" name="Text 11"/>
          <p:cNvSpPr txBox="1"/>
          <p:nvPr/>
        </p:nvSpPr>
        <p:spPr>
          <a:xfrm>
            <a:off x="5029200" y="2331720"/>
            <a:ext cx="3749040" cy="804672"/>
          </a:xfrm>
          <a:prstGeom prst="rect">
            <a:avLst/>
          </a:prstGeom>
          <a:noFill/>
          <a:ln/>
        </p:spPr>
        <p:txBody>
          <a:bodyPr wrap="square" lIns="0" tIns="0" rIns="0" bIns="0" rtlCol="0" anchor="ctr"/>
          <a:lstStyle/>
          <a:p>
            <a:pPr indent="0" marL="0">
              <a:buNone/>
            </a:pPr>
            <a:r>
              <a:rPr lang="en-US" sz="1400" dirty="0">
                <a:solidFill>
                  <a:schemeClr val="tx1"/>
                </a:solidFill>
              </a:rPr>
              <a:t>Docker · kind · kubectl · Helm · OpenSSL · crane · cosign · jq</a:t>
            </a:r>
            <a:endParaRPr lang="en-US" sz="1400" dirty="0"/>
          </a:p>
        </p:txBody>
      </p:sp>
      <p:sp>
        <p:nvSpPr>
          <p:cNvPr id="14" name="Text 12"/>
          <p:cNvSpPr txBox="1"/>
          <p:nvPr/>
        </p:nvSpPr>
        <p:spPr>
          <a:xfrm>
            <a:off x="8869680" y="2331720"/>
            <a:ext cx="2651760" cy="804672"/>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install-all.sh</a:t>
            </a:r>
            <a:endParaRPr lang="en-US" sz="1200" dirty="0"/>
          </a:p>
        </p:txBody>
      </p:sp>
      <p:sp>
        <p:nvSpPr>
          <p:cNvPr id="15" name="Shape 13"/>
          <p:cNvSpPr/>
          <p:nvPr/>
        </p:nvSpPr>
        <p:spPr>
          <a:xfrm>
            <a:off x="548640" y="3291840"/>
            <a:ext cx="11064240" cy="804672"/>
          </a:xfrm>
          <a:prstGeom prst="roundRect">
            <a:avLst>
              <a:gd name="adj" fmla="val 6818"/>
            </a:avLst>
          </a:prstGeom>
          <a:solidFill>
            <a:schemeClr val="bg2"/>
          </a:solidFill>
          <a:ln w="12700">
            <a:solidFill>
              <a:schemeClr val="bg2"/>
            </a:solidFill>
            <a:prstDash val="solid"/>
          </a:ln>
        </p:spPr>
      </p:sp>
      <p:sp>
        <p:nvSpPr>
          <p:cNvPr id="16" name="Shape 14"/>
          <p:cNvSpPr/>
          <p:nvPr/>
        </p:nvSpPr>
        <p:spPr>
          <a:xfrm>
            <a:off x="731520" y="3447288"/>
            <a:ext cx="493776" cy="493776"/>
          </a:xfrm>
          <a:prstGeom prst="ellipse">
            <a:avLst/>
          </a:prstGeom>
          <a:solidFill>
            <a:schemeClr val="accent1"/>
          </a:solidFill>
          <a:ln w="12700">
            <a:solidFill>
              <a:schemeClr val="accent1"/>
            </a:solidFill>
            <a:prstDash val="solid"/>
          </a:ln>
        </p:spPr>
      </p:sp>
      <p:sp>
        <p:nvSpPr>
          <p:cNvPr id="17" name="Text 15"/>
          <p:cNvSpPr txBox="1"/>
          <p:nvPr/>
        </p:nvSpPr>
        <p:spPr>
          <a:xfrm>
            <a:off x="731520" y="3447288"/>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1417320" y="3291840"/>
            <a:ext cx="3566160" cy="804672"/>
          </a:xfrm>
          <a:prstGeom prst="rect">
            <a:avLst/>
          </a:prstGeom>
          <a:noFill/>
          <a:ln/>
        </p:spPr>
        <p:txBody>
          <a:bodyPr wrap="square" lIns="0" tIns="0" rIns="0" bIns="0" rtlCol="0" anchor="ctr"/>
          <a:lstStyle/>
          <a:p>
            <a:pPr indent="0" marL="0">
              <a:buNone/>
            </a:pPr>
            <a:r>
              <a:rPr lang="en-US" sz="1600" b="1" dirty="0">
                <a:solidFill>
                  <a:schemeClr val="tx2"/>
                </a:solidFill>
              </a:rPr>
              <a:t>Sign and verify every day</a:t>
            </a:r>
            <a:endParaRPr lang="en-US" sz="1600" dirty="0"/>
          </a:p>
        </p:txBody>
      </p:sp>
      <p:sp>
        <p:nvSpPr>
          <p:cNvPr id="19" name="Text 17"/>
          <p:cNvSpPr txBox="1"/>
          <p:nvPr/>
        </p:nvSpPr>
        <p:spPr>
          <a:xfrm>
            <a:off x="5029200" y="3291840"/>
            <a:ext cx="3749040" cy="804672"/>
          </a:xfrm>
          <a:prstGeom prst="rect">
            <a:avLst/>
          </a:prstGeom>
          <a:noFill/>
          <a:ln/>
        </p:spPr>
        <p:txBody>
          <a:bodyPr wrap="square" lIns="0" tIns="0" rIns="0" bIns="0" rtlCol="0" anchor="ctr"/>
          <a:lstStyle/>
          <a:p>
            <a:pPr indent="0" marL="0">
              <a:buNone/>
            </a:pPr>
            <a:r>
              <a:rPr lang="en-US" sz="1400" dirty="0">
                <a:solidFill>
                  <a:schemeClr val="tx1"/>
                </a:solidFill>
              </a:rPr>
              <a:t>cosign (+ crane for digests)</a:t>
            </a:r>
            <a:endParaRPr lang="en-US" sz="1400" dirty="0"/>
          </a:p>
        </p:txBody>
      </p:sp>
      <p:sp>
        <p:nvSpPr>
          <p:cNvPr id="20" name="Text 18"/>
          <p:cNvSpPr txBox="1"/>
          <p:nvPr/>
        </p:nvSpPr>
        <p:spPr>
          <a:xfrm>
            <a:off x="8869680" y="3291840"/>
            <a:ext cx="2651760" cy="804672"/>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10-sign-and-verify.sh</a:t>
            </a:r>
            <a:endParaRPr lang="en-US" sz="1200" dirty="0"/>
          </a:p>
        </p:txBody>
      </p:sp>
      <p:sp>
        <p:nvSpPr>
          <p:cNvPr id="21" name="Shape 19"/>
          <p:cNvSpPr/>
          <p:nvPr/>
        </p:nvSpPr>
        <p:spPr>
          <a:xfrm>
            <a:off x="548640" y="4251960"/>
            <a:ext cx="11064240" cy="804672"/>
          </a:xfrm>
          <a:prstGeom prst="roundRect">
            <a:avLst>
              <a:gd name="adj" fmla="val 6818"/>
            </a:avLst>
          </a:prstGeom>
          <a:solidFill>
            <a:schemeClr val="bg2"/>
          </a:solidFill>
          <a:ln w="12700">
            <a:solidFill>
              <a:schemeClr val="bg2"/>
            </a:solidFill>
            <a:prstDash val="solid"/>
          </a:ln>
        </p:spPr>
      </p:sp>
      <p:sp>
        <p:nvSpPr>
          <p:cNvPr id="22" name="Shape 20"/>
          <p:cNvSpPr/>
          <p:nvPr/>
        </p:nvSpPr>
        <p:spPr>
          <a:xfrm>
            <a:off x="731520" y="4407408"/>
            <a:ext cx="493776" cy="493776"/>
          </a:xfrm>
          <a:prstGeom prst="ellipse">
            <a:avLst/>
          </a:prstGeom>
          <a:solidFill>
            <a:schemeClr val="accent1"/>
          </a:solidFill>
          <a:ln w="12700">
            <a:solidFill>
              <a:schemeClr val="accent1"/>
            </a:solidFill>
            <a:prstDash val="solid"/>
          </a:ln>
        </p:spPr>
      </p:sp>
      <p:sp>
        <p:nvSpPr>
          <p:cNvPr id="23" name="Text 21"/>
          <p:cNvSpPr txBox="1"/>
          <p:nvPr/>
        </p:nvSpPr>
        <p:spPr>
          <a:xfrm>
            <a:off x="731520" y="4407408"/>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 22"/>
          <p:cNvSpPr txBox="1"/>
          <p:nvPr/>
        </p:nvSpPr>
        <p:spPr>
          <a:xfrm>
            <a:off x="1417320" y="4251960"/>
            <a:ext cx="3566160" cy="804672"/>
          </a:xfrm>
          <a:prstGeom prst="rect">
            <a:avLst/>
          </a:prstGeom>
          <a:noFill/>
          <a:ln/>
        </p:spPr>
        <p:txBody>
          <a:bodyPr wrap="square" lIns="0" tIns="0" rIns="0" bIns="0" rtlCol="0" anchor="ctr"/>
          <a:lstStyle/>
          <a:p>
            <a:pPr indent="0" marL="0">
              <a:buNone/>
            </a:pPr>
            <a:r>
              <a:rPr lang="en-US" sz="1600" b="1" dirty="0">
                <a:solidFill>
                  <a:schemeClr val="tx2"/>
                </a:solidFill>
              </a:rPr>
              <a:t>Operate and recover</a:t>
            </a:r>
            <a:endParaRPr lang="en-US" sz="1600" dirty="0"/>
          </a:p>
        </p:txBody>
      </p:sp>
      <p:sp>
        <p:nvSpPr>
          <p:cNvPr id="25" name="Text 23"/>
          <p:cNvSpPr txBox="1"/>
          <p:nvPr/>
        </p:nvSpPr>
        <p:spPr>
          <a:xfrm>
            <a:off x="5029200" y="4251960"/>
            <a:ext cx="3749040" cy="804672"/>
          </a:xfrm>
          <a:prstGeom prst="rect">
            <a:avLst/>
          </a:prstGeom>
          <a:noFill/>
          <a:ln/>
        </p:spPr>
        <p:txBody>
          <a:bodyPr wrap="square" lIns="0" tIns="0" rIns="0" bIns="0" rtlCol="0" anchor="ctr"/>
          <a:lstStyle/>
          <a:p>
            <a:pPr indent="0" marL="0">
              <a:buNone/>
            </a:pPr>
            <a:r>
              <a:rPr lang="en-US" sz="1400" dirty="0">
                <a:solidFill>
                  <a:schemeClr val="tx1"/>
                </a:solidFill>
              </a:rPr>
              <a:t>kubectl · verify-stack · backup / restore</a:t>
            </a:r>
            <a:endParaRPr lang="en-US" sz="1400" dirty="0"/>
          </a:p>
        </p:txBody>
      </p:sp>
      <p:sp>
        <p:nvSpPr>
          <p:cNvPr id="26" name="Text 24"/>
          <p:cNvSpPr txBox="1"/>
          <p:nvPr/>
        </p:nvSpPr>
        <p:spPr>
          <a:xfrm>
            <a:off x="8869680" y="4251960"/>
            <a:ext cx="2651760" cy="804672"/>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verify-stack.sh, backup.sh</a:t>
            </a:r>
            <a:endParaRPr lang="en-US" sz="1200" dirty="0"/>
          </a:p>
        </p:txBody>
      </p:sp>
      <p:sp>
        <p:nvSpPr>
          <p:cNvPr id="27" name="Shape 25"/>
          <p:cNvSpPr/>
          <p:nvPr/>
        </p:nvSpPr>
        <p:spPr>
          <a:xfrm>
            <a:off x="548640" y="5212080"/>
            <a:ext cx="11064240" cy="804672"/>
          </a:xfrm>
          <a:prstGeom prst="roundRect">
            <a:avLst>
              <a:gd name="adj" fmla="val 6818"/>
            </a:avLst>
          </a:prstGeom>
          <a:solidFill>
            <a:schemeClr val="bg2"/>
          </a:solidFill>
          <a:ln w="12700">
            <a:solidFill>
              <a:schemeClr val="bg2"/>
            </a:solidFill>
            <a:prstDash val="solid"/>
          </a:ln>
        </p:spPr>
      </p:sp>
      <p:sp>
        <p:nvSpPr>
          <p:cNvPr id="28" name="Shape 26"/>
          <p:cNvSpPr/>
          <p:nvPr/>
        </p:nvSpPr>
        <p:spPr>
          <a:xfrm>
            <a:off x="731520" y="5367528"/>
            <a:ext cx="493776" cy="493776"/>
          </a:xfrm>
          <a:prstGeom prst="ellipse">
            <a:avLst/>
          </a:prstGeom>
          <a:solidFill>
            <a:schemeClr val="accent1"/>
          </a:solidFill>
          <a:ln w="12700">
            <a:solidFill>
              <a:schemeClr val="accent1"/>
            </a:solidFill>
            <a:prstDash val="solid"/>
          </a:ln>
        </p:spPr>
      </p:sp>
      <p:sp>
        <p:nvSpPr>
          <p:cNvPr id="29" name="Text 27"/>
          <p:cNvSpPr txBox="1"/>
          <p:nvPr/>
        </p:nvSpPr>
        <p:spPr>
          <a:xfrm>
            <a:off x="731520" y="5367528"/>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0" name="Text 28"/>
          <p:cNvSpPr txBox="1"/>
          <p:nvPr/>
        </p:nvSpPr>
        <p:spPr>
          <a:xfrm>
            <a:off x="1417320" y="5212080"/>
            <a:ext cx="3566160" cy="804672"/>
          </a:xfrm>
          <a:prstGeom prst="rect">
            <a:avLst/>
          </a:prstGeom>
          <a:noFill/>
          <a:ln/>
        </p:spPr>
        <p:txBody>
          <a:bodyPr wrap="square" lIns="0" tIns="0" rIns="0" bIns="0" rtlCol="0" anchor="ctr"/>
          <a:lstStyle/>
          <a:p>
            <a:pPr indent="0" marL="0">
              <a:buNone/>
            </a:pPr>
            <a:r>
              <a:rPr lang="en-US" sz="1600" b="1" dirty="0">
                <a:solidFill>
                  <a:schemeClr val="tx2"/>
                </a:solidFill>
              </a:rPr>
              <a:t>Change or re-test the kit</a:t>
            </a:r>
            <a:endParaRPr lang="en-US" sz="1600" dirty="0"/>
          </a:p>
        </p:txBody>
      </p:sp>
      <p:sp>
        <p:nvSpPr>
          <p:cNvPr id="31" name="Text 29"/>
          <p:cNvSpPr txBox="1"/>
          <p:nvPr/>
        </p:nvSpPr>
        <p:spPr>
          <a:xfrm>
            <a:off x="5029200" y="5212080"/>
            <a:ext cx="3749040" cy="804672"/>
          </a:xfrm>
          <a:prstGeom prst="rect">
            <a:avLst/>
          </a:prstGeom>
          <a:noFill/>
          <a:ln/>
        </p:spPr>
        <p:txBody>
          <a:bodyPr wrap="square" lIns="0" tIns="0" rIns="0" bIns="0" rtlCol="0" anchor="ctr"/>
          <a:lstStyle/>
          <a:p>
            <a:pPr indent="0" marL="0">
              <a:buNone/>
            </a:pPr>
            <a:r>
              <a:rPr lang="en-US" sz="1400" dirty="0">
                <a:solidFill>
                  <a:schemeClr val="tx1"/>
                </a:solidFill>
              </a:rPr>
              <a:t>Docker Compose · Kyverno CLI · gator · shellcheck · kubeconform</a:t>
            </a:r>
            <a:endParaRPr lang="en-US" sz="1400" dirty="0"/>
          </a:p>
        </p:txBody>
      </p:sp>
      <p:sp>
        <p:nvSpPr>
          <p:cNvPr id="32" name="Text 30"/>
          <p:cNvSpPr txBox="1"/>
          <p:nvPr/>
        </p:nvSpPr>
        <p:spPr>
          <a:xfrm>
            <a:off x="8869680" y="5212080"/>
            <a:ext cx="2651760" cy="804672"/>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test/compose/run.sh</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8EAD"/>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The install path: one script per step</a:t>
            </a:r>
            <a:endParaRPr lang="en-US" sz="3200" dirty="0"/>
          </a:p>
        </p:txBody>
      </p:sp>
      <p:sp>
        <p:nvSpPr>
          <p:cNvPr id="3" name="Shape 1"/>
          <p:cNvSpPr/>
          <p:nvPr/>
        </p:nvSpPr>
        <p:spPr>
          <a:xfrm>
            <a:off x="960120" y="1463040"/>
            <a:ext cx="731520" cy="731520"/>
          </a:xfrm>
          <a:prstGeom prst="ellipse">
            <a:avLst/>
          </a:prstGeom>
          <a:solidFill>
            <a:schemeClr val="accent1"/>
          </a:solidFill>
          <a:ln w="12700">
            <a:solidFill>
              <a:schemeClr val="accent1"/>
            </a:solidFill>
            <a:prstDash val="solid"/>
          </a:ln>
        </p:spPr>
      </p:sp>
      <p:sp>
        <p:nvSpPr>
          <p:cNvPr id="4" name="Text 2"/>
          <p:cNvSpPr txBox="1"/>
          <p:nvPr/>
        </p:nvSpPr>
        <p:spPr>
          <a:xfrm>
            <a:off x="960120" y="14630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00</a:t>
            </a:r>
            <a:endParaRPr lang="en-US" sz="1800" dirty="0"/>
          </a:p>
        </p:txBody>
      </p:sp>
      <p:sp>
        <p:nvSpPr>
          <p:cNvPr id="5" name="Shape 3"/>
          <p:cNvSpPr/>
          <p:nvPr/>
        </p:nvSpPr>
        <p:spPr>
          <a:xfrm>
            <a:off x="1737360" y="1828800"/>
            <a:ext cx="548640" cy="0"/>
          </a:xfrm>
          <a:prstGeom prst="line">
            <a:avLst/>
          </a:prstGeom>
          <a:noFill/>
          <a:ln w="19050">
            <a:solidFill>
              <a:srgbClr val="9BC4CB"/>
            </a:solidFill>
            <a:prstDash val="solid"/>
            <a:tailEnd type="triangle"/>
          </a:ln>
        </p:spPr>
      </p:sp>
      <p:sp>
        <p:nvSpPr>
          <p:cNvPr id="6" name="Text 4"/>
          <p:cNvSpPr txBox="1"/>
          <p:nvPr/>
        </p:nvSpPr>
        <p:spPr>
          <a:xfrm>
            <a:off x="548640" y="2286000"/>
            <a:ext cx="1554480" cy="502920"/>
          </a:xfrm>
          <a:prstGeom prst="rect">
            <a:avLst/>
          </a:prstGeom>
          <a:noFill/>
          <a:ln/>
        </p:spPr>
        <p:txBody>
          <a:bodyPr wrap="square" lIns="0" tIns="0" rIns="0" bIns="0" rtlCol="0" anchor="ctr"/>
          <a:lstStyle/>
          <a:p>
            <a:pPr algn="ctr" indent="0" marL="0">
              <a:buNone/>
            </a:pPr>
            <a:r>
              <a:rPr lang="en-US" sz="1400" b="1" dirty="0">
                <a:solidFill>
                  <a:schemeClr val="tx2"/>
                </a:solidFill>
              </a:rPr>
              <a:t>Check prerequisites</a:t>
            </a:r>
            <a:endParaRPr lang="en-US" sz="1400" dirty="0"/>
          </a:p>
        </p:txBody>
      </p:sp>
      <p:sp>
        <p:nvSpPr>
          <p:cNvPr id="7" name="Text 5"/>
          <p:cNvSpPr txBox="1"/>
          <p:nvPr/>
        </p:nvSpPr>
        <p:spPr>
          <a:xfrm>
            <a:off x="566928" y="2788920"/>
            <a:ext cx="1517904" cy="1097280"/>
          </a:xfrm>
          <a:prstGeom prst="rect">
            <a:avLst/>
          </a:prstGeom>
          <a:noFill/>
          <a:ln/>
        </p:spPr>
        <p:txBody>
          <a:bodyPr wrap="square" lIns="0" tIns="0" rIns="0" bIns="0" rtlCol="0" anchor="t"/>
          <a:lstStyle/>
          <a:p>
            <a:pPr algn="ctr" indent="0" marL="0">
              <a:buNone/>
            </a:pPr>
            <a:r>
              <a:rPr lang="en-US" sz="1100" dirty="0">
                <a:solidFill>
                  <a:schemeClr val="accent4"/>
                </a:solidFill>
              </a:rPr>
              <a:t>Checks Docker resources, ports, kernel limits, bundled tools and hosts entries.</a:t>
            </a:r>
            <a:endParaRPr lang="en-US" sz="1100" dirty="0"/>
          </a:p>
        </p:txBody>
      </p:sp>
      <p:sp>
        <p:nvSpPr>
          <p:cNvPr id="8" name="Shape 6"/>
          <p:cNvSpPr/>
          <p:nvPr/>
        </p:nvSpPr>
        <p:spPr>
          <a:xfrm>
            <a:off x="2560320" y="1463040"/>
            <a:ext cx="731520" cy="731520"/>
          </a:xfrm>
          <a:prstGeom prst="ellipse">
            <a:avLst/>
          </a:prstGeom>
          <a:solidFill>
            <a:schemeClr val="accent2"/>
          </a:solidFill>
          <a:ln w="12700">
            <a:solidFill>
              <a:schemeClr val="accent2"/>
            </a:solidFill>
            <a:prstDash val="solid"/>
          </a:ln>
        </p:spPr>
      </p:sp>
      <p:sp>
        <p:nvSpPr>
          <p:cNvPr id="9" name="Text 7"/>
          <p:cNvSpPr txBox="1"/>
          <p:nvPr/>
        </p:nvSpPr>
        <p:spPr>
          <a:xfrm>
            <a:off x="2560320" y="14630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01</a:t>
            </a:r>
            <a:endParaRPr lang="en-US" sz="1800" dirty="0"/>
          </a:p>
        </p:txBody>
      </p:sp>
      <p:sp>
        <p:nvSpPr>
          <p:cNvPr id="10" name="Shape 8"/>
          <p:cNvSpPr/>
          <p:nvPr/>
        </p:nvSpPr>
        <p:spPr>
          <a:xfrm>
            <a:off x="3337560" y="1828800"/>
            <a:ext cx="548640" cy="0"/>
          </a:xfrm>
          <a:prstGeom prst="line">
            <a:avLst/>
          </a:prstGeom>
          <a:noFill/>
          <a:ln w="19050">
            <a:solidFill>
              <a:srgbClr val="9BC4CB"/>
            </a:solidFill>
            <a:prstDash val="solid"/>
            <a:tailEnd type="triangle"/>
          </a:ln>
        </p:spPr>
      </p:sp>
      <p:sp>
        <p:nvSpPr>
          <p:cNvPr id="11" name="Text 9"/>
          <p:cNvSpPr txBox="1"/>
          <p:nvPr/>
        </p:nvSpPr>
        <p:spPr>
          <a:xfrm>
            <a:off x="2148840" y="2286000"/>
            <a:ext cx="1554480" cy="502920"/>
          </a:xfrm>
          <a:prstGeom prst="rect">
            <a:avLst/>
          </a:prstGeom>
          <a:noFill/>
          <a:ln/>
        </p:spPr>
        <p:txBody>
          <a:bodyPr wrap="square" lIns="0" tIns="0" rIns="0" bIns="0" rtlCol="0" anchor="ctr"/>
          <a:lstStyle/>
          <a:p>
            <a:pPr algn="ctr" indent="0" marL="0">
              <a:buNone/>
            </a:pPr>
            <a:r>
              <a:rPr lang="en-US" sz="1400" b="1" dirty="0">
                <a:solidFill>
                  <a:schemeClr val="tx2"/>
                </a:solidFill>
              </a:rPr>
              <a:t>Build bundle (online)</a:t>
            </a:r>
            <a:endParaRPr lang="en-US" sz="1400" dirty="0"/>
          </a:p>
        </p:txBody>
      </p:sp>
      <p:sp>
        <p:nvSpPr>
          <p:cNvPr id="12" name="Text 10"/>
          <p:cNvSpPr txBox="1"/>
          <p:nvPr/>
        </p:nvSpPr>
        <p:spPr>
          <a:xfrm>
            <a:off x="2167128" y="2788920"/>
            <a:ext cx="1517904" cy="1097280"/>
          </a:xfrm>
          <a:prstGeom prst="rect">
            <a:avLst/>
          </a:prstGeom>
          <a:noFill/>
          <a:ln/>
        </p:spPr>
        <p:txBody>
          <a:bodyPr wrap="square" lIns="0" tIns="0" rIns="0" bIns="0" rtlCol="0" anchor="t"/>
          <a:lstStyle/>
          <a:p>
            <a:pPr algn="ctr" indent="0" marL="0">
              <a:buNone/>
            </a:pPr>
            <a:r>
              <a:rPr lang="en-US" sz="1100" dirty="0">
                <a:solidFill>
                  <a:schemeClr val="accent4"/>
                </a:solidFill>
              </a:rPr>
              <a:t>ONLINE ONLY. Downloads tools and charts, mirrors all 25 images with digests, saves host images, writes checksums.</a:t>
            </a:r>
            <a:endParaRPr lang="en-US" sz="1100" dirty="0"/>
          </a:p>
        </p:txBody>
      </p:sp>
      <p:sp>
        <p:nvSpPr>
          <p:cNvPr id="13" name="Shape 11"/>
          <p:cNvSpPr/>
          <p:nvPr/>
        </p:nvSpPr>
        <p:spPr>
          <a:xfrm>
            <a:off x="4160520" y="1463040"/>
            <a:ext cx="731520" cy="731520"/>
          </a:xfrm>
          <a:prstGeom prst="ellipse">
            <a:avLst/>
          </a:prstGeom>
          <a:solidFill>
            <a:schemeClr val="accent1"/>
          </a:solidFill>
          <a:ln w="12700">
            <a:solidFill>
              <a:schemeClr val="accent1"/>
            </a:solidFill>
            <a:prstDash val="solid"/>
          </a:ln>
        </p:spPr>
      </p:sp>
      <p:sp>
        <p:nvSpPr>
          <p:cNvPr id="14" name="Text 12"/>
          <p:cNvSpPr txBox="1"/>
          <p:nvPr/>
        </p:nvSpPr>
        <p:spPr>
          <a:xfrm>
            <a:off x="4160520" y="14630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02</a:t>
            </a:r>
            <a:endParaRPr lang="en-US" sz="1800" dirty="0"/>
          </a:p>
        </p:txBody>
      </p:sp>
      <p:sp>
        <p:nvSpPr>
          <p:cNvPr id="15" name="Shape 13"/>
          <p:cNvSpPr/>
          <p:nvPr/>
        </p:nvSpPr>
        <p:spPr>
          <a:xfrm>
            <a:off x="4937760" y="1828800"/>
            <a:ext cx="548640" cy="0"/>
          </a:xfrm>
          <a:prstGeom prst="line">
            <a:avLst/>
          </a:prstGeom>
          <a:noFill/>
          <a:ln w="19050">
            <a:solidFill>
              <a:srgbClr val="9BC4CB"/>
            </a:solidFill>
            <a:prstDash val="solid"/>
            <a:tailEnd type="triangle"/>
          </a:ln>
        </p:spPr>
      </p:sp>
      <p:sp>
        <p:nvSpPr>
          <p:cNvPr id="16" name="Text 14"/>
          <p:cNvSpPr txBox="1"/>
          <p:nvPr/>
        </p:nvSpPr>
        <p:spPr>
          <a:xfrm>
            <a:off x="3749040" y="2286000"/>
            <a:ext cx="1554480" cy="502920"/>
          </a:xfrm>
          <a:prstGeom prst="rect">
            <a:avLst/>
          </a:prstGeom>
          <a:noFill/>
          <a:ln/>
        </p:spPr>
        <p:txBody>
          <a:bodyPr wrap="square" lIns="0" tIns="0" rIns="0" bIns="0" rtlCol="0" anchor="ctr"/>
          <a:lstStyle/>
          <a:p>
            <a:pPr algn="ctr" indent="0" marL="0">
              <a:buNone/>
            </a:pPr>
            <a:r>
              <a:rPr lang="en-US" sz="1400" b="1" dirty="0">
                <a:solidFill>
                  <a:schemeClr val="tx2"/>
                </a:solidFill>
              </a:rPr>
              <a:t>Load bundle</a:t>
            </a:r>
            <a:endParaRPr lang="en-US" sz="1400" dirty="0"/>
          </a:p>
        </p:txBody>
      </p:sp>
      <p:sp>
        <p:nvSpPr>
          <p:cNvPr id="17" name="Text 15"/>
          <p:cNvSpPr txBox="1"/>
          <p:nvPr/>
        </p:nvSpPr>
        <p:spPr>
          <a:xfrm>
            <a:off x="3767328" y="2788920"/>
            <a:ext cx="1517904" cy="1097280"/>
          </a:xfrm>
          <a:prstGeom prst="rect">
            <a:avLst/>
          </a:prstGeom>
          <a:noFill/>
          <a:ln/>
        </p:spPr>
        <p:txBody>
          <a:bodyPr wrap="square" lIns="0" tIns="0" rIns="0" bIns="0" rtlCol="0" anchor="t"/>
          <a:lstStyle/>
          <a:p>
            <a:pPr algn="ctr" indent="0" marL="0">
              <a:buNone/>
            </a:pPr>
            <a:r>
              <a:rPr lang="en-US" sz="1100" dirty="0">
                <a:solidFill>
                  <a:schemeClr val="accent4"/>
                </a:solidFill>
              </a:rPr>
              <a:t>Verifies checksums, loads host images, starts the local image mirror.</a:t>
            </a:r>
            <a:endParaRPr lang="en-US" sz="1100" dirty="0"/>
          </a:p>
        </p:txBody>
      </p:sp>
      <p:sp>
        <p:nvSpPr>
          <p:cNvPr id="18" name="Shape 16"/>
          <p:cNvSpPr/>
          <p:nvPr/>
        </p:nvSpPr>
        <p:spPr>
          <a:xfrm>
            <a:off x="5760720" y="1463040"/>
            <a:ext cx="731520" cy="731520"/>
          </a:xfrm>
          <a:prstGeom prst="ellipse">
            <a:avLst/>
          </a:prstGeom>
          <a:solidFill>
            <a:schemeClr val="accent1"/>
          </a:solidFill>
          <a:ln w="12700">
            <a:solidFill>
              <a:schemeClr val="accent1"/>
            </a:solidFill>
            <a:prstDash val="solid"/>
          </a:ln>
        </p:spPr>
      </p:sp>
      <p:sp>
        <p:nvSpPr>
          <p:cNvPr id="19" name="Text 17"/>
          <p:cNvSpPr txBox="1"/>
          <p:nvPr/>
        </p:nvSpPr>
        <p:spPr>
          <a:xfrm>
            <a:off x="5760720" y="14630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03</a:t>
            </a:r>
            <a:endParaRPr lang="en-US" sz="1800" dirty="0"/>
          </a:p>
        </p:txBody>
      </p:sp>
      <p:sp>
        <p:nvSpPr>
          <p:cNvPr id="20" name="Shape 18"/>
          <p:cNvSpPr/>
          <p:nvPr/>
        </p:nvSpPr>
        <p:spPr>
          <a:xfrm>
            <a:off x="6537960" y="1828800"/>
            <a:ext cx="548640" cy="0"/>
          </a:xfrm>
          <a:prstGeom prst="line">
            <a:avLst/>
          </a:prstGeom>
          <a:noFill/>
          <a:ln w="19050">
            <a:solidFill>
              <a:srgbClr val="9BC4CB"/>
            </a:solidFill>
            <a:prstDash val="solid"/>
            <a:tailEnd type="triangle"/>
          </a:ln>
        </p:spPr>
      </p:sp>
      <p:sp>
        <p:nvSpPr>
          <p:cNvPr id="21" name="Text 19"/>
          <p:cNvSpPr txBox="1"/>
          <p:nvPr/>
        </p:nvSpPr>
        <p:spPr>
          <a:xfrm>
            <a:off x="5349240" y="2286000"/>
            <a:ext cx="1554480" cy="502920"/>
          </a:xfrm>
          <a:prstGeom prst="rect">
            <a:avLst/>
          </a:prstGeom>
          <a:noFill/>
          <a:ln/>
        </p:spPr>
        <p:txBody>
          <a:bodyPr wrap="square" lIns="0" tIns="0" rIns="0" bIns="0" rtlCol="0" anchor="ctr"/>
          <a:lstStyle/>
          <a:p>
            <a:pPr algn="ctr" indent="0" marL="0">
              <a:buNone/>
            </a:pPr>
            <a:r>
              <a:rPr lang="en-US" sz="1400" b="1" dirty="0">
                <a:solidFill>
                  <a:schemeClr val="tx2"/>
                </a:solidFill>
              </a:rPr>
              <a:t>Generate PKI</a:t>
            </a:r>
            <a:endParaRPr lang="en-US" sz="1400" dirty="0"/>
          </a:p>
        </p:txBody>
      </p:sp>
      <p:sp>
        <p:nvSpPr>
          <p:cNvPr id="22" name="Text 20"/>
          <p:cNvSpPr txBox="1"/>
          <p:nvPr/>
        </p:nvSpPr>
        <p:spPr>
          <a:xfrm>
            <a:off x="5367528" y="2788920"/>
            <a:ext cx="1517904" cy="1097280"/>
          </a:xfrm>
          <a:prstGeom prst="rect">
            <a:avLst/>
          </a:prstGeom>
          <a:noFill/>
          <a:ln/>
        </p:spPr>
        <p:txBody>
          <a:bodyPr wrap="square" lIns="0" tIns="0" rIns="0" bIns="0" rtlCol="0" anchor="t"/>
          <a:lstStyle/>
          <a:p>
            <a:pPr algn="ctr" indent="0" marL="0">
              <a:buNone/>
            </a:pPr>
            <a:r>
              <a:rPr lang="en-US" sz="1100" dirty="0">
                <a:solidFill>
                  <a:schemeClr val="accent4"/>
                </a:solidFill>
              </a:rPr>
              <a:t>Generates all keys, certificates and random passwords into pki/.</a:t>
            </a:r>
            <a:endParaRPr lang="en-US" sz="1100" dirty="0"/>
          </a:p>
        </p:txBody>
      </p:sp>
      <p:sp>
        <p:nvSpPr>
          <p:cNvPr id="23" name="Shape 21"/>
          <p:cNvSpPr/>
          <p:nvPr/>
        </p:nvSpPr>
        <p:spPr>
          <a:xfrm>
            <a:off x="7360920" y="1463040"/>
            <a:ext cx="731520" cy="731520"/>
          </a:xfrm>
          <a:prstGeom prst="ellipse">
            <a:avLst/>
          </a:prstGeom>
          <a:solidFill>
            <a:schemeClr val="accent1"/>
          </a:solidFill>
          <a:ln w="12700">
            <a:solidFill>
              <a:schemeClr val="accent1"/>
            </a:solidFill>
            <a:prstDash val="solid"/>
          </a:ln>
        </p:spPr>
      </p:sp>
      <p:sp>
        <p:nvSpPr>
          <p:cNvPr id="24" name="Text 22"/>
          <p:cNvSpPr txBox="1"/>
          <p:nvPr/>
        </p:nvSpPr>
        <p:spPr>
          <a:xfrm>
            <a:off x="7360920" y="14630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04</a:t>
            </a:r>
            <a:endParaRPr lang="en-US" sz="1800" dirty="0"/>
          </a:p>
        </p:txBody>
      </p:sp>
      <p:sp>
        <p:nvSpPr>
          <p:cNvPr id="25" name="Shape 23"/>
          <p:cNvSpPr/>
          <p:nvPr/>
        </p:nvSpPr>
        <p:spPr>
          <a:xfrm>
            <a:off x="8138160" y="1828800"/>
            <a:ext cx="548640" cy="0"/>
          </a:xfrm>
          <a:prstGeom prst="line">
            <a:avLst/>
          </a:prstGeom>
          <a:noFill/>
          <a:ln w="19050">
            <a:solidFill>
              <a:srgbClr val="9BC4CB"/>
            </a:solidFill>
            <a:prstDash val="solid"/>
            <a:tailEnd type="triangle"/>
          </a:ln>
        </p:spPr>
      </p:sp>
      <p:sp>
        <p:nvSpPr>
          <p:cNvPr id="26" name="Text 24"/>
          <p:cNvSpPr txBox="1"/>
          <p:nvPr/>
        </p:nvSpPr>
        <p:spPr>
          <a:xfrm>
            <a:off x="6949440" y="2286000"/>
            <a:ext cx="1554480" cy="502920"/>
          </a:xfrm>
          <a:prstGeom prst="rect">
            <a:avLst/>
          </a:prstGeom>
          <a:noFill/>
          <a:ln/>
        </p:spPr>
        <p:txBody>
          <a:bodyPr wrap="square" lIns="0" tIns="0" rIns="0" bIns="0" rtlCol="0" anchor="ctr"/>
          <a:lstStyle/>
          <a:p>
            <a:pPr algn="ctr" indent="0" marL="0">
              <a:buNone/>
            </a:pPr>
            <a:r>
              <a:rPr lang="en-US" sz="1400" b="1" dirty="0">
                <a:solidFill>
                  <a:schemeClr val="tx2"/>
                </a:solidFill>
              </a:rPr>
              <a:t>Create cluster</a:t>
            </a:r>
            <a:endParaRPr lang="en-US" sz="1400" dirty="0"/>
          </a:p>
        </p:txBody>
      </p:sp>
      <p:sp>
        <p:nvSpPr>
          <p:cNvPr id="27" name="Text 25"/>
          <p:cNvSpPr txBox="1"/>
          <p:nvPr/>
        </p:nvSpPr>
        <p:spPr>
          <a:xfrm>
            <a:off x="6967728" y="2788920"/>
            <a:ext cx="1517904" cy="1097280"/>
          </a:xfrm>
          <a:prstGeom prst="rect">
            <a:avLst/>
          </a:prstGeom>
          <a:noFill/>
          <a:ln/>
        </p:spPr>
        <p:txBody>
          <a:bodyPr wrap="square" lIns="0" tIns="0" rIns="0" bIns="0" rtlCol="0" anchor="t"/>
          <a:lstStyle/>
          <a:p>
            <a:pPr algn="ctr" indent="0" marL="0">
              <a:buNone/>
            </a:pPr>
            <a:r>
              <a:rPr lang="en-US" sz="1100" dirty="0">
                <a:solidFill>
                  <a:schemeClr val="accent4"/>
                </a:solidFill>
              </a:rPr>
              <a:t>Creates the kind cluster wired to the mirror and private registry.</a:t>
            </a:r>
            <a:endParaRPr lang="en-US" sz="1100" dirty="0"/>
          </a:p>
        </p:txBody>
      </p:sp>
      <p:sp>
        <p:nvSpPr>
          <p:cNvPr id="28" name="Shape 26"/>
          <p:cNvSpPr/>
          <p:nvPr/>
        </p:nvSpPr>
        <p:spPr>
          <a:xfrm>
            <a:off x="8961120" y="1463040"/>
            <a:ext cx="731520" cy="731520"/>
          </a:xfrm>
          <a:prstGeom prst="ellipse">
            <a:avLst/>
          </a:prstGeom>
          <a:solidFill>
            <a:schemeClr val="accent1"/>
          </a:solidFill>
          <a:ln w="12700">
            <a:solidFill>
              <a:schemeClr val="accent1"/>
            </a:solidFill>
            <a:prstDash val="solid"/>
          </a:ln>
        </p:spPr>
      </p:sp>
      <p:sp>
        <p:nvSpPr>
          <p:cNvPr id="29" name="Text 27"/>
          <p:cNvSpPr txBox="1"/>
          <p:nvPr/>
        </p:nvSpPr>
        <p:spPr>
          <a:xfrm>
            <a:off x="8961120" y="14630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05</a:t>
            </a:r>
            <a:endParaRPr lang="en-US" sz="1800" dirty="0"/>
          </a:p>
        </p:txBody>
      </p:sp>
      <p:sp>
        <p:nvSpPr>
          <p:cNvPr id="30" name="Shape 28"/>
          <p:cNvSpPr/>
          <p:nvPr/>
        </p:nvSpPr>
        <p:spPr>
          <a:xfrm>
            <a:off x="9738360" y="1828800"/>
            <a:ext cx="548640" cy="0"/>
          </a:xfrm>
          <a:prstGeom prst="line">
            <a:avLst/>
          </a:prstGeom>
          <a:noFill/>
          <a:ln w="19050">
            <a:solidFill>
              <a:srgbClr val="9BC4CB"/>
            </a:solidFill>
            <a:prstDash val="solid"/>
            <a:tailEnd type="triangle"/>
          </a:ln>
        </p:spPr>
      </p:sp>
      <p:sp>
        <p:nvSpPr>
          <p:cNvPr id="31" name="Text 29"/>
          <p:cNvSpPr txBox="1"/>
          <p:nvPr/>
        </p:nvSpPr>
        <p:spPr>
          <a:xfrm>
            <a:off x="8549640" y="2286000"/>
            <a:ext cx="1554480" cy="502920"/>
          </a:xfrm>
          <a:prstGeom prst="rect">
            <a:avLst/>
          </a:prstGeom>
          <a:noFill/>
          <a:ln/>
        </p:spPr>
        <p:txBody>
          <a:bodyPr wrap="square" lIns="0" tIns="0" rIns="0" bIns="0" rtlCol="0" anchor="ctr"/>
          <a:lstStyle/>
          <a:p>
            <a:pPr algn="ctr" indent="0" marL="0">
              <a:buNone/>
            </a:pPr>
            <a:r>
              <a:rPr lang="en-US" sz="1400" b="1" dirty="0">
                <a:solidFill>
                  <a:schemeClr val="tx2"/>
                </a:solidFill>
              </a:rPr>
              <a:t>Ingress + DNS</a:t>
            </a:r>
            <a:endParaRPr lang="en-US" sz="1400" dirty="0"/>
          </a:p>
        </p:txBody>
      </p:sp>
      <p:sp>
        <p:nvSpPr>
          <p:cNvPr id="32" name="Text 30"/>
          <p:cNvSpPr txBox="1"/>
          <p:nvPr/>
        </p:nvSpPr>
        <p:spPr>
          <a:xfrm>
            <a:off x="8567928" y="2788920"/>
            <a:ext cx="1517904" cy="1097280"/>
          </a:xfrm>
          <a:prstGeom prst="rect">
            <a:avLst/>
          </a:prstGeom>
          <a:noFill/>
          <a:ln/>
        </p:spPr>
        <p:txBody>
          <a:bodyPr wrap="square" lIns="0" tIns="0" rIns="0" bIns="0" rtlCol="0" anchor="t"/>
          <a:lstStyle/>
          <a:p>
            <a:pPr algn="ctr" indent="0" marL="0">
              <a:buNone/>
            </a:pPr>
            <a:r>
              <a:rPr lang="en-US" sz="1100" dirty="0">
                <a:solidFill>
                  <a:schemeClr val="accent4"/>
                </a:solidFill>
              </a:rPr>
              <a:t>Installs Traefik, TLS secrets and the CoreDNS *.sigstore.local zone.</a:t>
            </a:r>
            <a:endParaRPr lang="en-US" sz="1100" dirty="0"/>
          </a:p>
        </p:txBody>
      </p:sp>
      <p:sp>
        <p:nvSpPr>
          <p:cNvPr id="33" name="Shape 31"/>
          <p:cNvSpPr/>
          <p:nvPr/>
        </p:nvSpPr>
        <p:spPr>
          <a:xfrm>
            <a:off x="10561320" y="1463040"/>
            <a:ext cx="731520" cy="731520"/>
          </a:xfrm>
          <a:prstGeom prst="ellipse">
            <a:avLst/>
          </a:prstGeom>
          <a:solidFill>
            <a:schemeClr val="accent1"/>
          </a:solidFill>
          <a:ln w="12700">
            <a:solidFill>
              <a:schemeClr val="accent1"/>
            </a:solidFill>
            <a:prstDash val="solid"/>
          </a:ln>
        </p:spPr>
      </p:sp>
      <p:sp>
        <p:nvSpPr>
          <p:cNvPr id="34" name="Text 32"/>
          <p:cNvSpPr txBox="1"/>
          <p:nvPr/>
        </p:nvSpPr>
        <p:spPr>
          <a:xfrm>
            <a:off x="10561320" y="14630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06</a:t>
            </a:r>
            <a:endParaRPr lang="en-US" sz="1800" dirty="0"/>
          </a:p>
        </p:txBody>
      </p:sp>
      <p:sp>
        <p:nvSpPr>
          <p:cNvPr id="35" name="Text 33"/>
          <p:cNvSpPr txBox="1"/>
          <p:nvPr/>
        </p:nvSpPr>
        <p:spPr>
          <a:xfrm>
            <a:off x="10149840" y="2286000"/>
            <a:ext cx="1554480" cy="502920"/>
          </a:xfrm>
          <a:prstGeom prst="rect">
            <a:avLst/>
          </a:prstGeom>
          <a:noFill/>
          <a:ln/>
        </p:spPr>
        <p:txBody>
          <a:bodyPr wrap="square" lIns="0" tIns="0" rIns="0" bIns="0" rtlCol="0" anchor="ctr"/>
          <a:lstStyle/>
          <a:p>
            <a:pPr algn="ctr" indent="0" marL="0">
              <a:buNone/>
            </a:pPr>
            <a:r>
              <a:rPr lang="en-US" sz="1400" b="1" dirty="0">
                <a:solidFill>
                  <a:schemeClr val="tx2"/>
                </a:solidFill>
              </a:rPr>
              <a:t>Registry</a:t>
            </a:r>
            <a:endParaRPr lang="en-US" sz="1400" dirty="0"/>
          </a:p>
        </p:txBody>
      </p:sp>
      <p:sp>
        <p:nvSpPr>
          <p:cNvPr id="36" name="Text 34"/>
          <p:cNvSpPr txBox="1"/>
          <p:nvPr/>
        </p:nvSpPr>
        <p:spPr>
          <a:xfrm>
            <a:off x="10168128" y="2788920"/>
            <a:ext cx="1517904" cy="1097280"/>
          </a:xfrm>
          <a:prstGeom prst="rect">
            <a:avLst/>
          </a:prstGeom>
          <a:noFill/>
          <a:ln/>
        </p:spPr>
        <p:txBody>
          <a:bodyPr wrap="square" lIns="0" tIns="0" rIns="0" bIns="0" rtlCol="0" anchor="t"/>
          <a:lstStyle/>
          <a:p>
            <a:pPr algn="ctr" indent="0" marL="0">
              <a:buNone/>
            </a:pPr>
            <a:r>
              <a:rPr lang="en-US" sz="1100" dirty="0">
                <a:solidFill>
                  <a:schemeClr val="accent4"/>
                </a:solidFill>
              </a:rPr>
              <a:t>Deploys the private OCI registry.</a:t>
            </a:r>
            <a:endParaRPr lang="en-US" sz="1100" dirty="0"/>
          </a:p>
        </p:txBody>
      </p:sp>
      <p:sp>
        <p:nvSpPr>
          <p:cNvPr id="37" name="Shape 35"/>
          <p:cNvSpPr/>
          <p:nvPr/>
        </p:nvSpPr>
        <p:spPr>
          <a:xfrm>
            <a:off x="960120" y="3977640"/>
            <a:ext cx="731520" cy="731520"/>
          </a:xfrm>
          <a:prstGeom prst="ellipse">
            <a:avLst/>
          </a:prstGeom>
          <a:solidFill>
            <a:schemeClr val="accent1"/>
          </a:solidFill>
          <a:ln w="12700">
            <a:solidFill>
              <a:schemeClr val="accent1"/>
            </a:solidFill>
            <a:prstDash val="solid"/>
          </a:ln>
        </p:spPr>
      </p:sp>
      <p:sp>
        <p:nvSpPr>
          <p:cNvPr id="38" name="Text 36"/>
          <p:cNvSpPr txBox="1"/>
          <p:nvPr/>
        </p:nvSpPr>
        <p:spPr>
          <a:xfrm>
            <a:off x="960120" y="39776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07</a:t>
            </a:r>
            <a:endParaRPr lang="en-US" sz="1800" dirty="0"/>
          </a:p>
        </p:txBody>
      </p:sp>
      <p:sp>
        <p:nvSpPr>
          <p:cNvPr id="39" name="Shape 37"/>
          <p:cNvSpPr/>
          <p:nvPr/>
        </p:nvSpPr>
        <p:spPr>
          <a:xfrm>
            <a:off x="1737360" y="4343400"/>
            <a:ext cx="548640" cy="0"/>
          </a:xfrm>
          <a:prstGeom prst="line">
            <a:avLst/>
          </a:prstGeom>
          <a:noFill/>
          <a:ln w="19050">
            <a:solidFill>
              <a:srgbClr val="9BC4CB"/>
            </a:solidFill>
            <a:prstDash val="solid"/>
            <a:tailEnd type="triangle"/>
          </a:ln>
        </p:spPr>
      </p:sp>
      <p:sp>
        <p:nvSpPr>
          <p:cNvPr id="40" name="Text 38"/>
          <p:cNvSpPr txBox="1"/>
          <p:nvPr/>
        </p:nvSpPr>
        <p:spPr>
          <a:xfrm>
            <a:off x="548640" y="4800600"/>
            <a:ext cx="1554480" cy="502920"/>
          </a:xfrm>
          <a:prstGeom prst="rect">
            <a:avLst/>
          </a:prstGeom>
          <a:noFill/>
          <a:ln/>
        </p:spPr>
        <p:txBody>
          <a:bodyPr wrap="square" lIns="0" tIns="0" rIns="0" bIns="0" rtlCol="0" anchor="ctr"/>
          <a:lstStyle/>
          <a:p>
            <a:pPr algn="ctr" indent="0" marL="0">
              <a:buNone/>
            </a:pPr>
            <a:r>
              <a:rPr lang="en-US" sz="1400" b="1" dirty="0">
                <a:solidFill>
                  <a:schemeClr val="tx2"/>
                </a:solidFill>
              </a:rPr>
              <a:t>Keycloak</a:t>
            </a:r>
            <a:endParaRPr lang="en-US" sz="1400" dirty="0"/>
          </a:p>
        </p:txBody>
      </p:sp>
      <p:sp>
        <p:nvSpPr>
          <p:cNvPr id="41" name="Text 39"/>
          <p:cNvSpPr txBox="1"/>
          <p:nvPr/>
        </p:nvSpPr>
        <p:spPr>
          <a:xfrm>
            <a:off x="566928" y="5303520"/>
            <a:ext cx="1517904" cy="1097280"/>
          </a:xfrm>
          <a:prstGeom prst="rect">
            <a:avLst/>
          </a:prstGeom>
          <a:noFill/>
          <a:ln/>
        </p:spPr>
        <p:txBody>
          <a:bodyPr wrap="square" lIns="0" tIns="0" rIns="0" bIns="0" rtlCol="0" anchor="t"/>
          <a:lstStyle/>
          <a:p>
            <a:pPr algn="ctr" indent="0" marL="0">
              <a:buNone/>
            </a:pPr>
            <a:r>
              <a:rPr lang="en-US" sz="1100" dirty="0">
                <a:solidFill>
                  <a:schemeClr val="accent4"/>
                </a:solidFill>
              </a:rPr>
              <a:t>Deploys Keycloak, imports the realm, smoke-tests a token.</a:t>
            </a:r>
            <a:endParaRPr lang="en-US" sz="1100" dirty="0"/>
          </a:p>
        </p:txBody>
      </p:sp>
      <p:sp>
        <p:nvSpPr>
          <p:cNvPr id="42" name="Shape 40"/>
          <p:cNvSpPr/>
          <p:nvPr/>
        </p:nvSpPr>
        <p:spPr>
          <a:xfrm>
            <a:off x="2560320" y="3977640"/>
            <a:ext cx="731520" cy="731520"/>
          </a:xfrm>
          <a:prstGeom prst="ellipse">
            <a:avLst/>
          </a:prstGeom>
          <a:solidFill>
            <a:schemeClr val="accent1"/>
          </a:solidFill>
          <a:ln w="12700">
            <a:solidFill>
              <a:schemeClr val="accent1"/>
            </a:solidFill>
            <a:prstDash val="solid"/>
          </a:ln>
        </p:spPr>
      </p:sp>
      <p:sp>
        <p:nvSpPr>
          <p:cNvPr id="43" name="Text 41"/>
          <p:cNvSpPr txBox="1"/>
          <p:nvPr/>
        </p:nvSpPr>
        <p:spPr>
          <a:xfrm>
            <a:off x="2560320" y="39776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08</a:t>
            </a:r>
            <a:endParaRPr lang="en-US" sz="1800" dirty="0"/>
          </a:p>
        </p:txBody>
      </p:sp>
      <p:sp>
        <p:nvSpPr>
          <p:cNvPr id="44" name="Shape 42"/>
          <p:cNvSpPr/>
          <p:nvPr/>
        </p:nvSpPr>
        <p:spPr>
          <a:xfrm>
            <a:off x="3337560" y="4343400"/>
            <a:ext cx="548640" cy="0"/>
          </a:xfrm>
          <a:prstGeom prst="line">
            <a:avLst/>
          </a:prstGeom>
          <a:noFill/>
          <a:ln w="19050">
            <a:solidFill>
              <a:srgbClr val="9BC4CB"/>
            </a:solidFill>
            <a:prstDash val="solid"/>
            <a:tailEnd type="triangle"/>
          </a:ln>
        </p:spPr>
      </p:sp>
      <p:sp>
        <p:nvSpPr>
          <p:cNvPr id="45" name="Text 43"/>
          <p:cNvSpPr txBox="1"/>
          <p:nvPr/>
        </p:nvSpPr>
        <p:spPr>
          <a:xfrm>
            <a:off x="2148840" y="4800600"/>
            <a:ext cx="1554480" cy="502920"/>
          </a:xfrm>
          <a:prstGeom prst="rect">
            <a:avLst/>
          </a:prstGeom>
          <a:noFill/>
          <a:ln/>
        </p:spPr>
        <p:txBody>
          <a:bodyPr wrap="square" lIns="0" tIns="0" rIns="0" bIns="0" rtlCol="0" anchor="ctr"/>
          <a:lstStyle/>
          <a:p>
            <a:pPr algn="ctr" indent="0" marL="0">
              <a:buNone/>
            </a:pPr>
            <a:r>
              <a:rPr lang="en-US" sz="1400" b="1" dirty="0">
                <a:solidFill>
                  <a:schemeClr val="tx2"/>
                </a:solidFill>
              </a:rPr>
              <a:t>Sigstore services</a:t>
            </a:r>
            <a:endParaRPr lang="en-US" sz="1400" dirty="0"/>
          </a:p>
        </p:txBody>
      </p:sp>
      <p:sp>
        <p:nvSpPr>
          <p:cNvPr id="46" name="Text 44"/>
          <p:cNvSpPr txBox="1"/>
          <p:nvPr/>
        </p:nvSpPr>
        <p:spPr>
          <a:xfrm>
            <a:off x="2167128" y="5303520"/>
            <a:ext cx="1517904" cy="1097280"/>
          </a:xfrm>
          <a:prstGeom prst="rect">
            <a:avLst/>
          </a:prstGeom>
          <a:noFill/>
          <a:ln/>
        </p:spPr>
        <p:txBody>
          <a:bodyPr wrap="square" lIns="0" tIns="0" rIns="0" bIns="0" rtlCol="0" anchor="t"/>
          <a:lstStyle/>
          <a:p>
            <a:pPr algn="ctr" indent="0" marL="0">
              <a:buNone/>
            </a:pPr>
            <a:r>
              <a:rPr lang="en-US" sz="1100" dirty="0">
                <a:solidFill>
                  <a:schemeClr val="accent4"/>
                </a:solidFill>
              </a:rPr>
              <a:t>Installs Trillian, Rekor, Fulcio and the CT log; verifies they use your keys.</a:t>
            </a:r>
            <a:endParaRPr lang="en-US" sz="1100" dirty="0"/>
          </a:p>
        </p:txBody>
      </p:sp>
      <p:sp>
        <p:nvSpPr>
          <p:cNvPr id="47" name="Shape 45"/>
          <p:cNvSpPr/>
          <p:nvPr/>
        </p:nvSpPr>
        <p:spPr>
          <a:xfrm>
            <a:off x="4160520" y="3977640"/>
            <a:ext cx="731520" cy="731520"/>
          </a:xfrm>
          <a:prstGeom prst="ellipse">
            <a:avLst/>
          </a:prstGeom>
          <a:solidFill>
            <a:schemeClr val="accent1"/>
          </a:solidFill>
          <a:ln w="12700">
            <a:solidFill>
              <a:schemeClr val="accent1"/>
            </a:solidFill>
            <a:prstDash val="solid"/>
          </a:ln>
        </p:spPr>
      </p:sp>
      <p:sp>
        <p:nvSpPr>
          <p:cNvPr id="48" name="Text 46"/>
          <p:cNvSpPr txBox="1"/>
          <p:nvPr/>
        </p:nvSpPr>
        <p:spPr>
          <a:xfrm>
            <a:off x="4160520" y="39776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09</a:t>
            </a:r>
            <a:endParaRPr lang="en-US" sz="1800" dirty="0"/>
          </a:p>
        </p:txBody>
      </p:sp>
      <p:sp>
        <p:nvSpPr>
          <p:cNvPr id="49" name="Shape 47"/>
          <p:cNvSpPr/>
          <p:nvPr/>
        </p:nvSpPr>
        <p:spPr>
          <a:xfrm>
            <a:off x="4937760" y="4343400"/>
            <a:ext cx="548640" cy="0"/>
          </a:xfrm>
          <a:prstGeom prst="line">
            <a:avLst/>
          </a:prstGeom>
          <a:noFill/>
          <a:ln w="19050">
            <a:solidFill>
              <a:srgbClr val="9BC4CB"/>
            </a:solidFill>
            <a:prstDash val="solid"/>
            <a:tailEnd type="triangle"/>
          </a:ln>
        </p:spPr>
      </p:sp>
      <p:sp>
        <p:nvSpPr>
          <p:cNvPr id="50" name="Text 48"/>
          <p:cNvSpPr txBox="1"/>
          <p:nvPr/>
        </p:nvSpPr>
        <p:spPr>
          <a:xfrm>
            <a:off x="3749040" y="4800600"/>
            <a:ext cx="1554480" cy="502920"/>
          </a:xfrm>
          <a:prstGeom prst="rect">
            <a:avLst/>
          </a:prstGeom>
          <a:noFill/>
          <a:ln/>
        </p:spPr>
        <p:txBody>
          <a:bodyPr wrap="square" lIns="0" tIns="0" rIns="0" bIns="0" rtlCol="0" anchor="ctr"/>
          <a:lstStyle/>
          <a:p>
            <a:pPr algn="ctr" indent="0" marL="0">
              <a:buNone/>
            </a:pPr>
            <a:r>
              <a:rPr lang="en-US" sz="1400" b="1" dirty="0">
                <a:solidFill>
                  <a:schemeClr val="tx2"/>
                </a:solidFill>
              </a:rPr>
              <a:t>Configure cosign</a:t>
            </a:r>
            <a:endParaRPr lang="en-US" sz="1400" dirty="0"/>
          </a:p>
        </p:txBody>
      </p:sp>
      <p:sp>
        <p:nvSpPr>
          <p:cNvPr id="51" name="Text 49"/>
          <p:cNvSpPr txBox="1"/>
          <p:nvPr/>
        </p:nvSpPr>
        <p:spPr>
          <a:xfrm>
            <a:off x="3767328" y="5303520"/>
            <a:ext cx="1517904" cy="1097280"/>
          </a:xfrm>
          <a:prstGeom prst="rect">
            <a:avLst/>
          </a:prstGeom>
          <a:noFill/>
          <a:ln/>
        </p:spPr>
        <p:txBody>
          <a:bodyPr wrap="square" lIns="0" tIns="0" rIns="0" bIns="0" rtlCol="0" anchor="t"/>
          <a:lstStyle/>
          <a:p>
            <a:pPr algn="ctr" indent="0" marL="0">
              <a:buNone/>
            </a:pPr>
            <a:r>
              <a:rPr lang="en-US" sz="1100" dirty="0">
                <a:solidFill>
                  <a:schemeClr val="accent4"/>
                </a:solidFill>
              </a:rPr>
              <a:t>Creates trusted_root.json, signing_config.json, CA bundle, cosign.env.</a:t>
            </a:r>
            <a:endParaRPr lang="en-US" sz="1100" dirty="0"/>
          </a:p>
        </p:txBody>
      </p:sp>
      <p:sp>
        <p:nvSpPr>
          <p:cNvPr id="52" name="Shape 50"/>
          <p:cNvSpPr/>
          <p:nvPr/>
        </p:nvSpPr>
        <p:spPr>
          <a:xfrm>
            <a:off x="5760720" y="3977640"/>
            <a:ext cx="731520" cy="731520"/>
          </a:xfrm>
          <a:prstGeom prst="ellipse">
            <a:avLst/>
          </a:prstGeom>
          <a:solidFill>
            <a:schemeClr val="accent1"/>
          </a:solidFill>
          <a:ln w="12700">
            <a:solidFill>
              <a:schemeClr val="accent1"/>
            </a:solidFill>
            <a:prstDash val="solid"/>
          </a:ln>
        </p:spPr>
      </p:sp>
      <p:sp>
        <p:nvSpPr>
          <p:cNvPr id="53" name="Text 51"/>
          <p:cNvSpPr txBox="1"/>
          <p:nvPr/>
        </p:nvSpPr>
        <p:spPr>
          <a:xfrm>
            <a:off x="5760720" y="39776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10</a:t>
            </a:r>
            <a:endParaRPr lang="en-US" sz="1800" dirty="0"/>
          </a:p>
        </p:txBody>
      </p:sp>
      <p:sp>
        <p:nvSpPr>
          <p:cNvPr id="54" name="Shape 52"/>
          <p:cNvSpPr/>
          <p:nvPr/>
        </p:nvSpPr>
        <p:spPr>
          <a:xfrm>
            <a:off x="6537960" y="4343400"/>
            <a:ext cx="548640" cy="0"/>
          </a:xfrm>
          <a:prstGeom prst="line">
            <a:avLst/>
          </a:prstGeom>
          <a:noFill/>
          <a:ln w="19050">
            <a:solidFill>
              <a:srgbClr val="9BC4CB"/>
            </a:solidFill>
            <a:prstDash val="solid"/>
            <a:tailEnd type="triangle"/>
          </a:ln>
        </p:spPr>
      </p:sp>
      <p:sp>
        <p:nvSpPr>
          <p:cNvPr id="55" name="Text 53"/>
          <p:cNvSpPr txBox="1"/>
          <p:nvPr/>
        </p:nvSpPr>
        <p:spPr>
          <a:xfrm>
            <a:off x="5349240" y="4800600"/>
            <a:ext cx="1554480" cy="502920"/>
          </a:xfrm>
          <a:prstGeom prst="rect">
            <a:avLst/>
          </a:prstGeom>
          <a:noFill/>
          <a:ln/>
        </p:spPr>
        <p:txBody>
          <a:bodyPr wrap="square" lIns="0" tIns="0" rIns="0" bIns="0" rtlCol="0" anchor="ctr"/>
          <a:lstStyle/>
          <a:p>
            <a:pPr algn="ctr" indent="0" marL="0">
              <a:buNone/>
            </a:pPr>
            <a:r>
              <a:rPr lang="en-US" sz="1400" b="1" dirty="0">
                <a:solidFill>
                  <a:schemeClr val="tx2"/>
                </a:solidFill>
              </a:rPr>
              <a:t>Sign + verify</a:t>
            </a:r>
            <a:endParaRPr lang="en-US" sz="1400" dirty="0"/>
          </a:p>
        </p:txBody>
      </p:sp>
      <p:sp>
        <p:nvSpPr>
          <p:cNvPr id="56" name="Text 54"/>
          <p:cNvSpPr txBox="1"/>
          <p:nvPr/>
        </p:nvSpPr>
        <p:spPr>
          <a:xfrm>
            <a:off x="5367528" y="5303520"/>
            <a:ext cx="1517904" cy="1097280"/>
          </a:xfrm>
          <a:prstGeom prst="rect">
            <a:avLst/>
          </a:prstGeom>
          <a:noFill/>
          <a:ln/>
        </p:spPr>
        <p:txBody>
          <a:bodyPr wrap="square" lIns="0" tIns="0" rIns="0" bIns="0" rtlCol="0" anchor="t"/>
          <a:lstStyle/>
          <a:p>
            <a:pPr algn="ctr" indent="0" marL="0">
              <a:buNone/>
            </a:pPr>
            <a:r>
              <a:rPr lang="en-US" sz="1100" dirty="0">
                <a:solidFill>
                  <a:schemeClr val="accent4"/>
                </a:solidFill>
              </a:rPr>
              <a:t>Builds, pushes, keyless-signs and verifies the demo image.</a:t>
            </a:r>
            <a:endParaRPr lang="en-US" sz="1100" dirty="0"/>
          </a:p>
        </p:txBody>
      </p:sp>
      <p:sp>
        <p:nvSpPr>
          <p:cNvPr id="57" name="Shape 55"/>
          <p:cNvSpPr/>
          <p:nvPr/>
        </p:nvSpPr>
        <p:spPr>
          <a:xfrm>
            <a:off x="7360920" y="3977640"/>
            <a:ext cx="731520" cy="731520"/>
          </a:xfrm>
          <a:prstGeom prst="ellipse">
            <a:avLst/>
          </a:prstGeom>
          <a:solidFill>
            <a:schemeClr val="accent1"/>
          </a:solidFill>
          <a:ln w="12700">
            <a:solidFill>
              <a:schemeClr val="accent1"/>
            </a:solidFill>
            <a:prstDash val="solid"/>
          </a:ln>
        </p:spPr>
      </p:sp>
      <p:sp>
        <p:nvSpPr>
          <p:cNvPr id="58" name="Text 56"/>
          <p:cNvSpPr txBox="1"/>
          <p:nvPr/>
        </p:nvSpPr>
        <p:spPr>
          <a:xfrm>
            <a:off x="7360920" y="39776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11</a:t>
            </a:r>
            <a:endParaRPr lang="en-US" sz="1800" dirty="0"/>
          </a:p>
        </p:txBody>
      </p:sp>
      <p:sp>
        <p:nvSpPr>
          <p:cNvPr id="59" name="Shape 57"/>
          <p:cNvSpPr/>
          <p:nvPr/>
        </p:nvSpPr>
        <p:spPr>
          <a:xfrm>
            <a:off x="8138160" y="4343400"/>
            <a:ext cx="548640" cy="0"/>
          </a:xfrm>
          <a:prstGeom prst="line">
            <a:avLst/>
          </a:prstGeom>
          <a:noFill/>
          <a:ln w="19050">
            <a:solidFill>
              <a:srgbClr val="9BC4CB"/>
            </a:solidFill>
            <a:prstDash val="solid"/>
            <a:tailEnd type="triangle"/>
          </a:ln>
        </p:spPr>
      </p:sp>
      <p:sp>
        <p:nvSpPr>
          <p:cNvPr id="60" name="Text 58"/>
          <p:cNvSpPr txBox="1"/>
          <p:nvPr/>
        </p:nvSpPr>
        <p:spPr>
          <a:xfrm>
            <a:off x="6949440" y="4800600"/>
            <a:ext cx="1554480" cy="502920"/>
          </a:xfrm>
          <a:prstGeom prst="rect">
            <a:avLst/>
          </a:prstGeom>
          <a:noFill/>
          <a:ln/>
        </p:spPr>
        <p:txBody>
          <a:bodyPr wrap="square" lIns="0" tIns="0" rIns="0" bIns="0" rtlCol="0" anchor="ctr"/>
          <a:lstStyle/>
          <a:p>
            <a:pPr algn="ctr" indent="0" marL="0">
              <a:buNone/>
            </a:pPr>
            <a:r>
              <a:rPr lang="en-US" sz="1400" b="1" dirty="0">
                <a:solidFill>
                  <a:schemeClr val="tx2"/>
                </a:solidFill>
              </a:rPr>
              <a:t>Inspect Rekor</a:t>
            </a:r>
            <a:endParaRPr lang="en-US" sz="1400" dirty="0"/>
          </a:p>
        </p:txBody>
      </p:sp>
      <p:sp>
        <p:nvSpPr>
          <p:cNvPr id="61" name="Text 59"/>
          <p:cNvSpPr txBox="1"/>
          <p:nvPr/>
        </p:nvSpPr>
        <p:spPr>
          <a:xfrm>
            <a:off x="6967728" y="5303520"/>
            <a:ext cx="1517904" cy="1097280"/>
          </a:xfrm>
          <a:prstGeom prst="rect">
            <a:avLst/>
          </a:prstGeom>
          <a:noFill/>
          <a:ln/>
        </p:spPr>
        <p:txBody>
          <a:bodyPr wrap="square" lIns="0" tIns="0" rIns="0" bIns="0" rtlCol="0" anchor="t"/>
          <a:lstStyle/>
          <a:p>
            <a:pPr algn="ctr" indent="0" marL="0">
              <a:buNone/>
            </a:pPr>
            <a:r>
              <a:rPr lang="en-US" sz="1100" dirty="0">
                <a:solidFill>
                  <a:schemeClr val="accent4"/>
                </a:solidFill>
              </a:rPr>
              <a:t>Shows the Rekor log state and recent entries with signer certificates.</a:t>
            </a:r>
            <a:endParaRPr lang="en-US" sz="1100" dirty="0"/>
          </a:p>
        </p:txBody>
      </p:sp>
      <p:sp>
        <p:nvSpPr>
          <p:cNvPr id="62" name="Shape 60"/>
          <p:cNvSpPr/>
          <p:nvPr/>
        </p:nvSpPr>
        <p:spPr>
          <a:xfrm>
            <a:off x="8961120" y="3977640"/>
            <a:ext cx="731520" cy="731520"/>
          </a:xfrm>
          <a:prstGeom prst="ellipse">
            <a:avLst/>
          </a:prstGeom>
          <a:solidFill>
            <a:schemeClr val="accent1"/>
          </a:solidFill>
          <a:ln w="12700">
            <a:solidFill>
              <a:schemeClr val="accent1"/>
            </a:solidFill>
            <a:prstDash val="solid"/>
          </a:ln>
        </p:spPr>
      </p:sp>
      <p:sp>
        <p:nvSpPr>
          <p:cNvPr id="63" name="Text 61"/>
          <p:cNvSpPr txBox="1"/>
          <p:nvPr/>
        </p:nvSpPr>
        <p:spPr>
          <a:xfrm>
            <a:off x="8961120" y="39776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12</a:t>
            </a:r>
            <a:endParaRPr lang="en-US" sz="1800" dirty="0"/>
          </a:p>
        </p:txBody>
      </p:sp>
      <p:sp>
        <p:nvSpPr>
          <p:cNvPr id="64" name="Shape 62"/>
          <p:cNvSpPr/>
          <p:nvPr/>
        </p:nvSpPr>
        <p:spPr>
          <a:xfrm>
            <a:off x="9738360" y="4343400"/>
            <a:ext cx="548640" cy="0"/>
          </a:xfrm>
          <a:prstGeom prst="line">
            <a:avLst/>
          </a:prstGeom>
          <a:noFill/>
          <a:ln w="19050">
            <a:solidFill>
              <a:srgbClr val="9BC4CB"/>
            </a:solidFill>
            <a:prstDash val="solid"/>
            <a:tailEnd type="triangle"/>
          </a:ln>
        </p:spPr>
      </p:sp>
      <p:sp>
        <p:nvSpPr>
          <p:cNvPr id="65" name="Text 63"/>
          <p:cNvSpPr txBox="1"/>
          <p:nvPr/>
        </p:nvSpPr>
        <p:spPr>
          <a:xfrm>
            <a:off x="8549640" y="4800600"/>
            <a:ext cx="1554480" cy="502920"/>
          </a:xfrm>
          <a:prstGeom prst="rect">
            <a:avLst/>
          </a:prstGeom>
          <a:noFill/>
          <a:ln/>
        </p:spPr>
        <p:txBody>
          <a:bodyPr wrap="square" lIns="0" tIns="0" rIns="0" bIns="0" rtlCol="0" anchor="ctr"/>
          <a:lstStyle/>
          <a:p>
            <a:pPr algn="ctr" indent="0" marL="0">
              <a:buNone/>
            </a:pPr>
            <a:r>
              <a:rPr lang="en-US" sz="1400" b="1" dirty="0">
                <a:solidFill>
                  <a:schemeClr val="tx2"/>
                </a:solidFill>
              </a:rPr>
              <a:t>Publish TUF</a:t>
            </a:r>
            <a:endParaRPr lang="en-US" sz="1400" dirty="0"/>
          </a:p>
        </p:txBody>
      </p:sp>
      <p:sp>
        <p:nvSpPr>
          <p:cNvPr id="66" name="Text 64"/>
          <p:cNvSpPr txBox="1"/>
          <p:nvPr/>
        </p:nvSpPr>
        <p:spPr>
          <a:xfrm>
            <a:off x="8567928" y="5303520"/>
            <a:ext cx="1517904" cy="1097280"/>
          </a:xfrm>
          <a:prstGeom prst="rect">
            <a:avLst/>
          </a:prstGeom>
          <a:noFill/>
          <a:ln/>
        </p:spPr>
        <p:txBody>
          <a:bodyPr wrap="square" lIns="0" tIns="0" rIns="0" bIns="0" rtlCol="0" anchor="t"/>
          <a:lstStyle/>
          <a:p>
            <a:pPr algn="ctr" indent="0" marL="0">
              <a:buNone/>
            </a:pPr>
            <a:r>
              <a:rPr lang="en-US" sz="1100" dirty="0">
                <a:solidFill>
                  <a:schemeClr val="accent4"/>
                </a:solidFill>
              </a:rPr>
              <a:t>Builds and serves the private TUF trust mirror.</a:t>
            </a:r>
            <a:endParaRPr lang="en-US" sz="1100" dirty="0"/>
          </a:p>
        </p:txBody>
      </p:sp>
      <p:sp>
        <p:nvSpPr>
          <p:cNvPr id="67" name="Shape 65"/>
          <p:cNvSpPr/>
          <p:nvPr/>
        </p:nvSpPr>
        <p:spPr>
          <a:xfrm>
            <a:off x="10561320" y="3977640"/>
            <a:ext cx="731520" cy="731520"/>
          </a:xfrm>
          <a:prstGeom prst="ellipse">
            <a:avLst/>
          </a:prstGeom>
          <a:solidFill>
            <a:schemeClr val="accent1"/>
          </a:solidFill>
          <a:ln w="12700">
            <a:solidFill>
              <a:schemeClr val="accent1"/>
            </a:solidFill>
            <a:prstDash val="solid"/>
          </a:ln>
        </p:spPr>
      </p:sp>
      <p:sp>
        <p:nvSpPr>
          <p:cNvPr id="68" name="Text 66"/>
          <p:cNvSpPr txBox="1"/>
          <p:nvPr/>
        </p:nvSpPr>
        <p:spPr>
          <a:xfrm>
            <a:off x="10561320" y="39776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13</a:t>
            </a:r>
            <a:endParaRPr lang="en-US" sz="1800" dirty="0"/>
          </a:p>
        </p:txBody>
      </p:sp>
      <p:sp>
        <p:nvSpPr>
          <p:cNvPr id="69" name="Text 67"/>
          <p:cNvSpPr txBox="1"/>
          <p:nvPr/>
        </p:nvSpPr>
        <p:spPr>
          <a:xfrm>
            <a:off x="10149840" y="4800600"/>
            <a:ext cx="1554480" cy="502920"/>
          </a:xfrm>
          <a:prstGeom prst="rect">
            <a:avLst/>
          </a:prstGeom>
          <a:noFill/>
          <a:ln/>
        </p:spPr>
        <p:txBody>
          <a:bodyPr wrap="square" lIns="0" tIns="0" rIns="0" bIns="0" rtlCol="0" anchor="ctr"/>
          <a:lstStyle/>
          <a:p>
            <a:pPr algn="ctr" indent="0" marL="0">
              <a:buNone/>
            </a:pPr>
            <a:r>
              <a:rPr lang="en-US" sz="1400" b="1" dirty="0">
                <a:solidFill>
                  <a:schemeClr val="tx2"/>
                </a:solidFill>
              </a:rPr>
              <a:t>Enforce policy</a:t>
            </a:r>
            <a:endParaRPr lang="en-US" sz="1400" dirty="0"/>
          </a:p>
        </p:txBody>
      </p:sp>
      <p:sp>
        <p:nvSpPr>
          <p:cNvPr id="70" name="Text 68"/>
          <p:cNvSpPr txBox="1"/>
          <p:nvPr/>
        </p:nvSpPr>
        <p:spPr>
          <a:xfrm>
            <a:off x="10168128" y="5303520"/>
            <a:ext cx="1517904" cy="1097280"/>
          </a:xfrm>
          <a:prstGeom prst="rect">
            <a:avLst/>
          </a:prstGeom>
          <a:noFill/>
          <a:ln/>
        </p:spPr>
        <p:txBody>
          <a:bodyPr wrap="square" lIns="0" tIns="0" rIns="0" bIns="0" rtlCol="0" anchor="t"/>
          <a:lstStyle/>
          <a:p>
            <a:pPr algn="ctr" indent="0" marL="0">
              <a:buNone/>
            </a:pPr>
            <a:r>
              <a:rPr lang="en-US" sz="1100" dirty="0">
                <a:solidFill>
                  <a:schemeClr val="accent4"/>
                </a:solidFill>
              </a:rPr>
              <a:t>Installs Kyverno and the signature policy; tests admit/deny.</a:t>
            </a:r>
            <a:endParaRPr lang="en-US" sz="1100" dirty="0"/>
          </a:p>
        </p:txBody>
      </p:sp>
      <p:sp>
        <p:nvSpPr>
          <p:cNvPr id="71" name="Text 69"/>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300" i="1" dirty="0">
                <a:solidFill>
                  <a:schemeClr val="accent4"/>
                </a:solidFill>
              </a:rPr>
              <a:t>install-all.sh runs 00 and 02–13 in order. Step 01 (amber) runs once on a machine with internet.</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8EAD"/>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Operations helpers and the files they produce</a:t>
            </a:r>
            <a:endParaRPr lang="en-US" sz="3200" dirty="0"/>
          </a:p>
        </p:txBody>
      </p:sp>
      <p:sp>
        <p:nvSpPr>
          <p:cNvPr id="3" name="card Operations scripts"/>
          <p:cNvSpPr/>
          <p:nvPr/>
        </p:nvSpPr>
        <p:spPr>
          <a:xfrm>
            <a:off x="548640" y="1325880"/>
            <a:ext cx="5394960" cy="4846320"/>
          </a:xfrm>
          <a:prstGeom prst="roundRect">
            <a:avLst>
              <a:gd name="adj" fmla="val 1509"/>
            </a:avLst>
          </a:prstGeom>
          <a:solidFill>
            <a:schemeClr val="bg2"/>
          </a:solidFill>
          <a:ln w="12700">
            <a:solidFill>
              <a:schemeClr val="bg2"/>
            </a:solidFill>
            <a:prstDash val="solid"/>
          </a:ln>
        </p:spPr>
      </p:sp>
      <p:sp>
        <p:nvSpPr>
          <p:cNvPr id="4" name="Shape 2"/>
          <p:cNvSpPr/>
          <p:nvPr/>
        </p:nvSpPr>
        <p:spPr>
          <a:xfrm>
            <a:off x="731520" y="1508760"/>
            <a:ext cx="640080" cy="64008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72338" y="1649578"/>
            <a:ext cx="358445" cy="358445"/>
          </a:xfrm>
          <a:prstGeom prst="rect">
            <a:avLst/>
          </a:prstGeom>
        </p:spPr>
      </p:pic>
      <p:sp>
        <p:nvSpPr>
          <p:cNvPr id="6" name="Text 3"/>
          <p:cNvSpPr txBox="1"/>
          <p:nvPr/>
        </p:nvSpPr>
        <p:spPr>
          <a:xfrm>
            <a:off x="1463040" y="1490472"/>
            <a:ext cx="4297680" cy="676656"/>
          </a:xfrm>
          <a:prstGeom prst="rect">
            <a:avLst/>
          </a:prstGeom>
          <a:noFill/>
          <a:ln/>
        </p:spPr>
        <p:txBody>
          <a:bodyPr wrap="square" lIns="0" tIns="0" rIns="0" bIns="0" rtlCol="0" anchor="ctr">
            <a:normAutofit/>
          </a:bodyPr>
          <a:lstStyle/>
          <a:p>
            <a:pPr indent="0" marL="0">
              <a:buNone/>
            </a:pPr>
            <a:r>
              <a:rPr lang="en-US" sz="2000" b="1" dirty="0">
                <a:solidFill>
                  <a:schemeClr val="tx2"/>
                </a:solidFill>
              </a:rPr>
              <a:t>Operations scripts</a:t>
            </a:r>
            <a:endParaRPr lang="en-US" sz="2000" dirty="0"/>
          </a:p>
        </p:txBody>
      </p:sp>
      <p:sp>
        <p:nvSpPr>
          <p:cNvPr id="7" name="Text 4"/>
          <p:cNvSpPr txBox="1"/>
          <p:nvPr/>
        </p:nvSpPr>
        <p:spPr>
          <a:xfrm>
            <a:off x="777240" y="2331720"/>
            <a:ext cx="4983480" cy="512064"/>
          </a:xfrm>
          <a:prstGeom prst="rect">
            <a:avLst/>
          </a:prstGeom>
          <a:noFill/>
          <a:ln/>
        </p:spPr>
        <p:txBody>
          <a:bodyPr wrap="square" lIns="0" tIns="0" rIns="0" bIns="0" rtlCol="0" anchor="t"/>
          <a:lstStyle/>
          <a:p>
            <a:pPr indent="0" marL="0">
              <a:buNone/>
            </a:pPr>
            <a:r>
              <a:rPr lang="en-US" sz="1200" b="1" dirty="0">
                <a:solidFill>
                  <a:srgbClr val="0F7C80"/>
                </a:solidFill>
                <a:latin typeface="Courier New" pitchFamily="34" charset="0"/>
                <a:ea typeface="Courier New" pitchFamily="34" charset="-122"/>
                <a:cs typeface="Courier New" pitchFamily="34" charset="-120"/>
              </a:rPr>
              <a:t>install-all.sh</a:t>
            </a:r>
            <a:endParaRPr lang="en-US" sz="1200" dirty="0"/>
          </a:p>
          <a:p>
            <a:pPr indent="0" marL="0">
              <a:buNone/>
            </a:pPr>
            <a:r>
              <a:rPr lang="en-US" sz="1200" dirty="0">
                <a:solidFill>
                  <a:srgbClr val="1B2333"/>
                </a:solidFill>
              </a:rPr>
              <a:t>Runs the whole offline install in order.</a:t>
            </a:r>
            <a:endParaRPr lang="en-US" sz="1200" dirty="0"/>
          </a:p>
        </p:txBody>
      </p:sp>
      <p:sp>
        <p:nvSpPr>
          <p:cNvPr id="8" name="Text 5"/>
          <p:cNvSpPr txBox="1"/>
          <p:nvPr/>
        </p:nvSpPr>
        <p:spPr>
          <a:xfrm>
            <a:off x="777240" y="2862072"/>
            <a:ext cx="4983480" cy="512064"/>
          </a:xfrm>
          <a:prstGeom prst="rect">
            <a:avLst/>
          </a:prstGeom>
          <a:noFill/>
          <a:ln/>
        </p:spPr>
        <p:txBody>
          <a:bodyPr wrap="square" lIns="0" tIns="0" rIns="0" bIns="0" rtlCol="0" anchor="t"/>
          <a:lstStyle/>
          <a:p>
            <a:pPr indent="0" marL="0">
              <a:buNone/>
            </a:pPr>
            <a:r>
              <a:rPr lang="en-US" sz="1200" b="1" dirty="0">
                <a:solidFill>
                  <a:srgbClr val="0F7C80"/>
                </a:solidFill>
                <a:latin typeface="Courier New" pitchFamily="34" charset="0"/>
                <a:ea typeface="Courier New" pitchFamily="34" charset="-122"/>
                <a:cs typeface="Courier New" pitchFamily="34" charset="-120"/>
              </a:rPr>
              <a:t>verify-stack.sh</a:t>
            </a:r>
            <a:endParaRPr lang="en-US" sz="1200" dirty="0"/>
          </a:p>
          <a:p>
            <a:pPr indent="0" marL="0">
              <a:buNone/>
            </a:pPr>
            <a:r>
              <a:rPr lang="en-US" sz="1200" dirty="0">
                <a:solidFill>
                  <a:srgbClr val="1B2333"/>
                </a:solidFill>
              </a:rPr>
              <a:t>PASS/FAIL health report for every component.</a:t>
            </a:r>
            <a:endParaRPr lang="en-US" sz="1200" dirty="0"/>
          </a:p>
        </p:txBody>
      </p:sp>
      <p:sp>
        <p:nvSpPr>
          <p:cNvPr id="9" name="Text 6"/>
          <p:cNvSpPr txBox="1"/>
          <p:nvPr/>
        </p:nvSpPr>
        <p:spPr>
          <a:xfrm>
            <a:off x="777240" y="3392424"/>
            <a:ext cx="4983480" cy="512064"/>
          </a:xfrm>
          <a:prstGeom prst="rect">
            <a:avLst/>
          </a:prstGeom>
          <a:noFill/>
          <a:ln/>
        </p:spPr>
        <p:txBody>
          <a:bodyPr wrap="square" lIns="0" tIns="0" rIns="0" bIns="0" rtlCol="0" anchor="t"/>
          <a:lstStyle/>
          <a:p>
            <a:pPr indent="0" marL="0">
              <a:buNone/>
            </a:pPr>
            <a:r>
              <a:rPr lang="en-US" sz="1200" b="1" dirty="0">
                <a:solidFill>
                  <a:srgbClr val="0F7C80"/>
                </a:solidFill>
                <a:latin typeface="Courier New" pitchFamily="34" charset="0"/>
                <a:ea typeface="Courier New" pitchFamily="34" charset="-122"/>
                <a:cs typeface="Courier New" pitchFamily="34" charset="-120"/>
              </a:rPr>
              <a:t>get-token.sh</a:t>
            </a:r>
            <a:endParaRPr lang="en-US" sz="1200" dirty="0"/>
          </a:p>
          <a:p>
            <a:pPr indent="0" marL="0">
              <a:buNone/>
            </a:pPr>
            <a:r>
              <a:rPr lang="en-US" sz="1200" dirty="0">
                <a:solidFill>
                  <a:srgbClr val="1B2333"/>
                </a:solidFill>
              </a:rPr>
              <a:t>Fetches an OIDC token (user or CI) for non-interactive signing.</a:t>
            </a:r>
            <a:endParaRPr lang="en-US" sz="1200" dirty="0"/>
          </a:p>
        </p:txBody>
      </p:sp>
      <p:sp>
        <p:nvSpPr>
          <p:cNvPr id="10" name="Text 7"/>
          <p:cNvSpPr txBox="1"/>
          <p:nvPr/>
        </p:nvSpPr>
        <p:spPr>
          <a:xfrm>
            <a:off x="777240" y="3922776"/>
            <a:ext cx="4983480" cy="512064"/>
          </a:xfrm>
          <a:prstGeom prst="rect">
            <a:avLst/>
          </a:prstGeom>
          <a:noFill/>
          <a:ln/>
        </p:spPr>
        <p:txBody>
          <a:bodyPr wrap="square" lIns="0" tIns="0" rIns="0" bIns="0" rtlCol="0" anchor="t"/>
          <a:lstStyle/>
          <a:p>
            <a:pPr indent="0" marL="0">
              <a:buNone/>
            </a:pPr>
            <a:r>
              <a:rPr lang="en-US" sz="1200" b="1" dirty="0">
                <a:solidFill>
                  <a:srgbClr val="0F7C80"/>
                </a:solidFill>
                <a:latin typeface="Courier New" pitchFamily="34" charset="0"/>
                <a:ea typeface="Courier New" pitchFamily="34" charset="-122"/>
                <a:cs typeface="Courier New" pitchFamily="34" charset="-120"/>
              </a:rPr>
              <a:t>setup-hosts.sh</a:t>
            </a:r>
            <a:endParaRPr lang="en-US" sz="1200" dirty="0"/>
          </a:p>
          <a:p>
            <a:pPr indent="0" marL="0">
              <a:buNone/>
            </a:pPr>
            <a:r>
              <a:rPr lang="en-US" sz="1200" dirty="0">
                <a:solidFill>
                  <a:srgbClr val="1B2333"/>
                </a:solidFill>
              </a:rPr>
              <a:t>Adds *.sigstore.local to /etc/hosts and optionally trusts the TLS root.</a:t>
            </a:r>
            <a:endParaRPr lang="en-US" sz="1200" dirty="0"/>
          </a:p>
        </p:txBody>
      </p:sp>
      <p:sp>
        <p:nvSpPr>
          <p:cNvPr id="11" name="Text 8"/>
          <p:cNvSpPr txBox="1"/>
          <p:nvPr/>
        </p:nvSpPr>
        <p:spPr>
          <a:xfrm>
            <a:off x="777240" y="4453128"/>
            <a:ext cx="4983480" cy="512064"/>
          </a:xfrm>
          <a:prstGeom prst="rect">
            <a:avLst/>
          </a:prstGeom>
          <a:noFill/>
          <a:ln/>
        </p:spPr>
        <p:txBody>
          <a:bodyPr wrap="square" lIns="0" tIns="0" rIns="0" bIns="0" rtlCol="0" anchor="t"/>
          <a:lstStyle/>
          <a:p>
            <a:pPr indent="0" marL="0">
              <a:buNone/>
            </a:pPr>
            <a:r>
              <a:rPr lang="en-US" sz="1200" b="1" dirty="0">
                <a:solidFill>
                  <a:srgbClr val="0F7C80"/>
                </a:solidFill>
                <a:latin typeface="Courier New" pitchFamily="34" charset="0"/>
                <a:ea typeface="Courier New" pitchFamily="34" charset="-122"/>
                <a:cs typeface="Courier New" pitchFamily="34" charset="-120"/>
              </a:rPr>
              <a:t>fix-node-dns.sh</a:t>
            </a:r>
            <a:endParaRPr lang="en-US" sz="1200" dirty="0"/>
          </a:p>
          <a:p>
            <a:pPr indent="0" marL="0">
              <a:buNone/>
            </a:pPr>
            <a:r>
              <a:rPr lang="en-US" sz="1200" dirty="0">
                <a:solidFill>
                  <a:srgbClr val="1B2333"/>
                </a:solidFill>
              </a:rPr>
              <a:t>Re-adds node DNS entries after a reboot.</a:t>
            </a:r>
            <a:endParaRPr lang="en-US" sz="1200" dirty="0"/>
          </a:p>
        </p:txBody>
      </p:sp>
      <p:sp>
        <p:nvSpPr>
          <p:cNvPr id="12" name="Text 9"/>
          <p:cNvSpPr txBox="1"/>
          <p:nvPr/>
        </p:nvSpPr>
        <p:spPr>
          <a:xfrm>
            <a:off x="777240" y="4983480"/>
            <a:ext cx="4983480" cy="512064"/>
          </a:xfrm>
          <a:prstGeom prst="rect">
            <a:avLst/>
          </a:prstGeom>
          <a:noFill/>
          <a:ln/>
        </p:spPr>
        <p:txBody>
          <a:bodyPr wrap="square" lIns="0" tIns="0" rIns="0" bIns="0" rtlCol="0" anchor="t"/>
          <a:lstStyle/>
          <a:p>
            <a:pPr indent="0" marL="0">
              <a:buNone/>
            </a:pPr>
            <a:r>
              <a:rPr lang="en-US" sz="1200" b="1" dirty="0">
                <a:solidFill>
                  <a:srgbClr val="0F7C80"/>
                </a:solidFill>
                <a:latin typeface="Courier New" pitchFamily="34" charset="0"/>
                <a:ea typeface="Courier New" pitchFamily="34" charset="-122"/>
                <a:cs typeface="Courier New" pitchFamily="34" charset="-120"/>
              </a:rPr>
              <a:t>backup.sh / restore.sh</a:t>
            </a:r>
            <a:endParaRPr lang="en-US" sz="1200" dirty="0"/>
          </a:p>
          <a:p>
            <a:pPr indent="0" marL="0">
              <a:buNone/>
            </a:pPr>
            <a:r>
              <a:rPr lang="en-US" sz="1200" dirty="0">
                <a:solidFill>
                  <a:srgbClr val="1B2333"/>
                </a:solidFill>
              </a:rPr>
              <a:t>Encrypted backup of keys + log database; full rebuild with history.</a:t>
            </a:r>
            <a:endParaRPr lang="en-US" sz="1200" dirty="0"/>
          </a:p>
        </p:txBody>
      </p:sp>
      <p:sp>
        <p:nvSpPr>
          <p:cNvPr id="13" name="Text 10"/>
          <p:cNvSpPr txBox="1"/>
          <p:nvPr/>
        </p:nvSpPr>
        <p:spPr>
          <a:xfrm>
            <a:off x="777240" y="5513832"/>
            <a:ext cx="4983480" cy="512064"/>
          </a:xfrm>
          <a:prstGeom prst="rect">
            <a:avLst/>
          </a:prstGeom>
          <a:noFill/>
          <a:ln/>
        </p:spPr>
        <p:txBody>
          <a:bodyPr wrap="square" lIns="0" tIns="0" rIns="0" bIns="0" rtlCol="0" anchor="t"/>
          <a:lstStyle/>
          <a:p>
            <a:pPr indent="0" marL="0">
              <a:buNone/>
            </a:pPr>
            <a:r>
              <a:rPr lang="en-US" sz="1200" b="1" dirty="0">
                <a:solidFill>
                  <a:srgbClr val="0F7C80"/>
                </a:solidFill>
                <a:latin typeface="Courier New" pitchFamily="34" charset="0"/>
                <a:ea typeface="Courier New" pitchFamily="34" charset="-122"/>
                <a:cs typeface="Courier New" pitchFamily="34" charset="-120"/>
              </a:rPr>
              <a:t>99-teardown.sh</a:t>
            </a:r>
            <a:endParaRPr lang="en-US" sz="1200" dirty="0"/>
          </a:p>
          <a:p>
            <a:pPr indent="0" marL="0">
              <a:buNone/>
            </a:pPr>
            <a:r>
              <a:rPr lang="en-US" sz="1200" dirty="0">
                <a:solidFill>
                  <a:srgbClr val="1B2333"/>
                </a:solidFill>
              </a:rPr>
              <a:t>Deletes the cluster (and with --purge, the trust root).</a:t>
            </a:r>
            <a:endParaRPr lang="en-US" sz="1200" dirty="0"/>
          </a:p>
        </p:txBody>
      </p:sp>
      <p:sp>
        <p:nvSpPr>
          <p:cNvPr id="14" name="card Key files"/>
          <p:cNvSpPr/>
          <p:nvPr/>
        </p:nvSpPr>
        <p:spPr>
          <a:xfrm>
            <a:off x="6217920" y="1325880"/>
            <a:ext cx="5394960" cy="4846320"/>
          </a:xfrm>
          <a:prstGeom prst="roundRect">
            <a:avLst>
              <a:gd name="adj" fmla="val 1509"/>
            </a:avLst>
          </a:prstGeom>
          <a:solidFill>
            <a:schemeClr val="bg2"/>
          </a:solidFill>
          <a:ln w="12700">
            <a:solidFill>
              <a:schemeClr val="bg2"/>
            </a:solidFill>
            <a:prstDash val="solid"/>
          </a:ln>
        </p:spPr>
      </p:sp>
      <p:sp>
        <p:nvSpPr>
          <p:cNvPr id="15" name="Shape 12"/>
          <p:cNvSpPr/>
          <p:nvPr/>
        </p:nvSpPr>
        <p:spPr>
          <a:xfrm>
            <a:off x="6400800" y="1508760"/>
            <a:ext cx="640080" cy="640080"/>
          </a:xfrm>
          <a:prstGeom prst="ellipse">
            <a:avLst/>
          </a:prstGeom>
          <a:solidFill>
            <a:schemeClr val="accent3"/>
          </a:solidFill>
          <a:ln w="12700">
            <a:solidFill>
              <a:schemeClr val="accent3"/>
            </a:solidFill>
            <a:prstDash val="solid"/>
          </a:ln>
        </p:spPr>
      </p:sp>
      <p:pic>
        <p:nvPicPr>
          <p:cNvPr id="16" name="Image 1" descr="preencoded.png">    </p:cNvPr>
          <p:cNvPicPr>
            <a:picLocks noChangeAspect="1"/>
          </p:cNvPicPr>
          <p:nvPr/>
        </p:nvPicPr>
        <p:blipFill>
          <a:blip r:embed="rId2"/>
          <a:stretch>
            <a:fillRect/>
          </a:stretch>
        </p:blipFill>
        <p:spPr>
          <a:xfrm>
            <a:off x="6541618" y="1649578"/>
            <a:ext cx="358445" cy="358445"/>
          </a:xfrm>
          <a:prstGeom prst="rect">
            <a:avLst/>
          </a:prstGeom>
        </p:spPr>
      </p:pic>
      <p:sp>
        <p:nvSpPr>
          <p:cNvPr id="17" name="Text 13"/>
          <p:cNvSpPr txBox="1"/>
          <p:nvPr/>
        </p:nvSpPr>
        <p:spPr>
          <a:xfrm>
            <a:off x="7132320" y="1490472"/>
            <a:ext cx="4297680" cy="676656"/>
          </a:xfrm>
          <a:prstGeom prst="rect">
            <a:avLst/>
          </a:prstGeom>
          <a:noFill/>
          <a:ln/>
        </p:spPr>
        <p:txBody>
          <a:bodyPr wrap="square" lIns="0" tIns="0" rIns="0" bIns="0" rtlCol="0" anchor="ctr">
            <a:normAutofit/>
          </a:bodyPr>
          <a:lstStyle/>
          <a:p>
            <a:pPr indent="0" marL="0">
              <a:buNone/>
            </a:pPr>
            <a:r>
              <a:rPr lang="en-US" sz="2000" b="1" dirty="0">
                <a:solidFill>
                  <a:schemeClr val="tx2"/>
                </a:solidFill>
              </a:rPr>
              <a:t>Key files</a:t>
            </a:r>
            <a:endParaRPr lang="en-US" sz="2000" dirty="0"/>
          </a:p>
        </p:txBody>
      </p:sp>
      <p:sp>
        <p:nvSpPr>
          <p:cNvPr id="18" name="Text 14"/>
          <p:cNvSpPr txBox="1"/>
          <p:nvPr/>
        </p:nvSpPr>
        <p:spPr>
          <a:xfrm>
            <a:off x="6446520" y="2331720"/>
            <a:ext cx="4983480" cy="512064"/>
          </a:xfrm>
          <a:prstGeom prst="rect">
            <a:avLst/>
          </a:prstGeom>
          <a:noFill/>
          <a:ln/>
        </p:spPr>
        <p:txBody>
          <a:bodyPr wrap="square" lIns="0" tIns="0" rIns="0" bIns="0" rtlCol="0" anchor="t"/>
          <a:lstStyle/>
          <a:p>
            <a:pPr indent="0" marL="0">
              <a:buNone/>
            </a:pPr>
            <a:r>
              <a:rPr lang="en-US" sz="1200" b="1" dirty="0">
                <a:solidFill>
                  <a:srgbClr val="3A6EA5"/>
                </a:solidFill>
                <a:latin typeface="Courier New" pitchFamily="34" charset="0"/>
                <a:ea typeface="Courier New" pitchFamily="34" charset="-122"/>
                <a:cs typeface="Courier New" pitchFamily="34" charset="-120"/>
              </a:rPr>
              <a:t>pki/</a:t>
            </a:r>
            <a:endParaRPr lang="en-US" sz="1200" dirty="0"/>
          </a:p>
          <a:p>
            <a:pPr indent="0" marL="0">
              <a:buNone/>
            </a:pPr>
            <a:r>
              <a:rPr lang="en-US" sz="1200" dirty="0">
                <a:solidFill>
                  <a:srgbClr val="1B2333"/>
                </a:solidFill>
              </a:rPr>
              <a:t>All private keys, certificates and passwords. Never commit; back up encrypted.</a:t>
            </a:r>
            <a:endParaRPr lang="en-US" sz="1200" dirty="0"/>
          </a:p>
        </p:txBody>
      </p:sp>
      <p:sp>
        <p:nvSpPr>
          <p:cNvPr id="19" name="Text 15"/>
          <p:cNvSpPr txBox="1"/>
          <p:nvPr/>
        </p:nvSpPr>
        <p:spPr>
          <a:xfrm>
            <a:off x="6446520" y="2862072"/>
            <a:ext cx="4983480" cy="512064"/>
          </a:xfrm>
          <a:prstGeom prst="rect">
            <a:avLst/>
          </a:prstGeom>
          <a:noFill/>
          <a:ln/>
        </p:spPr>
        <p:txBody>
          <a:bodyPr wrap="square" lIns="0" tIns="0" rIns="0" bIns="0" rtlCol="0" anchor="t"/>
          <a:lstStyle/>
          <a:p>
            <a:pPr indent="0" marL="0">
              <a:buNone/>
            </a:pPr>
            <a:r>
              <a:rPr lang="en-US" sz="1200" b="1" dirty="0">
                <a:solidFill>
                  <a:srgbClr val="3A6EA5"/>
                </a:solidFill>
                <a:latin typeface="Courier New" pitchFamily="34" charset="0"/>
                <a:ea typeface="Courier New" pitchFamily="34" charset="-122"/>
                <a:cs typeface="Courier New" pitchFamily="34" charset="-120"/>
              </a:rPr>
              <a:t>out/trusted_root.json</a:t>
            </a:r>
            <a:endParaRPr lang="en-US" sz="1200" dirty="0"/>
          </a:p>
          <a:p>
            <a:pPr indent="0" marL="0">
              <a:buNone/>
            </a:pPr>
            <a:r>
              <a:rPr lang="en-US" sz="1200" dirty="0">
                <a:solidFill>
                  <a:srgbClr val="1B2333"/>
                </a:solidFill>
              </a:rPr>
              <a:t>What to trust: Fulcio CA chain, Rekor key, CT log key.</a:t>
            </a:r>
            <a:endParaRPr lang="en-US" sz="1200" dirty="0"/>
          </a:p>
        </p:txBody>
      </p:sp>
      <p:sp>
        <p:nvSpPr>
          <p:cNvPr id="20" name="Text 16"/>
          <p:cNvSpPr txBox="1"/>
          <p:nvPr/>
        </p:nvSpPr>
        <p:spPr>
          <a:xfrm>
            <a:off x="6446520" y="3392424"/>
            <a:ext cx="4983480" cy="512064"/>
          </a:xfrm>
          <a:prstGeom prst="rect">
            <a:avLst/>
          </a:prstGeom>
          <a:noFill/>
          <a:ln/>
        </p:spPr>
        <p:txBody>
          <a:bodyPr wrap="square" lIns="0" tIns="0" rIns="0" bIns="0" rtlCol="0" anchor="t"/>
          <a:lstStyle/>
          <a:p>
            <a:pPr indent="0" marL="0">
              <a:buNone/>
            </a:pPr>
            <a:r>
              <a:rPr lang="en-US" sz="1200" b="1" dirty="0">
                <a:solidFill>
                  <a:srgbClr val="3A6EA5"/>
                </a:solidFill>
                <a:latin typeface="Courier New" pitchFamily="34" charset="0"/>
                <a:ea typeface="Courier New" pitchFamily="34" charset="-122"/>
                <a:cs typeface="Courier New" pitchFamily="34" charset="-120"/>
              </a:rPr>
              <a:t>out/signing_config.json</a:t>
            </a:r>
            <a:endParaRPr lang="en-US" sz="1200" dirty="0"/>
          </a:p>
          <a:p>
            <a:pPr indent="0" marL="0">
              <a:buNone/>
            </a:pPr>
            <a:r>
              <a:rPr lang="en-US" sz="1200" dirty="0">
                <a:solidFill>
                  <a:srgbClr val="1B2333"/>
                </a:solidFill>
              </a:rPr>
              <a:t>Where to sign: Fulcio, Rekor and OIDC URLs.</a:t>
            </a:r>
            <a:endParaRPr lang="en-US" sz="1200" dirty="0"/>
          </a:p>
        </p:txBody>
      </p:sp>
      <p:sp>
        <p:nvSpPr>
          <p:cNvPr id="21" name="Text 17"/>
          <p:cNvSpPr txBox="1"/>
          <p:nvPr/>
        </p:nvSpPr>
        <p:spPr>
          <a:xfrm>
            <a:off x="6446520" y="3922776"/>
            <a:ext cx="4983480" cy="512064"/>
          </a:xfrm>
          <a:prstGeom prst="rect">
            <a:avLst/>
          </a:prstGeom>
          <a:noFill/>
          <a:ln/>
        </p:spPr>
        <p:txBody>
          <a:bodyPr wrap="square" lIns="0" tIns="0" rIns="0" bIns="0" rtlCol="0" anchor="t"/>
          <a:lstStyle/>
          <a:p>
            <a:pPr indent="0" marL="0">
              <a:buNone/>
            </a:pPr>
            <a:r>
              <a:rPr lang="en-US" sz="1200" b="1" dirty="0">
                <a:solidFill>
                  <a:srgbClr val="3A6EA5"/>
                </a:solidFill>
                <a:latin typeface="Courier New" pitchFamily="34" charset="0"/>
                <a:ea typeface="Courier New" pitchFamily="34" charset="-122"/>
                <a:cs typeface="Courier New" pitchFamily="34" charset="-120"/>
              </a:rPr>
              <a:t>out/tuf/root.json</a:t>
            </a:r>
            <a:endParaRPr lang="en-US" sz="1200" dirty="0"/>
          </a:p>
          <a:p>
            <a:pPr indent="0" marL="0">
              <a:buNone/>
            </a:pPr>
            <a:r>
              <a:rPr lang="en-US" sz="1200" dirty="0">
                <a:solidFill>
                  <a:srgbClr val="1B2333"/>
                </a:solidFill>
              </a:rPr>
              <a:t>TUF bootstrap root distributed to clients and Kyverno.</a:t>
            </a:r>
            <a:endParaRPr lang="en-US" sz="1200" dirty="0"/>
          </a:p>
        </p:txBody>
      </p:sp>
      <p:sp>
        <p:nvSpPr>
          <p:cNvPr id="22" name="Text 18"/>
          <p:cNvSpPr txBox="1"/>
          <p:nvPr/>
        </p:nvSpPr>
        <p:spPr>
          <a:xfrm>
            <a:off x="6446520" y="4453128"/>
            <a:ext cx="4983480" cy="512064"/>
          </a:xfrm>
          <a:prstGeom prst="rect">
            <a:avLst/>
          </a:prstGeom>
          <a:noFill/>
          <a:ln/>
        </p:spPr>
        <p:txBody>
          <a:bodyPr wrap="square" lIns="0" tIns="0" rIns="0" bIns="0" rtlCol="0" anchor="t"/>
          <a:lstStyle/>
          <a:p>
            <a:pPr indent="0" marL="0">
              <a:buNone/>
            </a:pPr>
            <a:r>
              <a:rPr lang="en-US" sz="1200" b="1" dirty="0">
                <a:solidFill>
                  <a:srgbClr val="3A6EA5"/>
                </a:solidFill>
                <a:latin typeface="Courier New" pitchFamily="34" charset="0"/>
                <a:ea typeface="Courier New" pitchFamily="34" charset="-122"/>
                <a:cs typeface="Courier New" pitchFamily="34" charset="-120"/>
              </a:rPr>
              <a:t>out/cosign.env</a:t>
            </a:r>
            <a:endParaRPr lang="en-US" sz="1200" dirty="0"/>
          </a:p>
          <a:p>
            <a:pPr indent="0" marL="0">
              <a:buNone/>
            </a:pPr>
            <a:r>
              <a:rPr lang="en-US" sz="1200" dirty="0">
                <a:solidFill>
                  <a:srgbClr val="1B2333"/>
                </a:solidFill>
              </a:rPr>
              <a:t>Shell environment for cosign (CA bundle and trust file paths).</a:t>
            </a:r>
            <a:endParaRPr lang="en-US" sz="1200" dirty="0"/>
          </a:p>
        </p:txBody>
      </p:sp>
      <p:sp>
        <p:nvSpPr>
          <p:cNvPr id="23" name="Text 19"/>
          <p:cNvSpPr txBox="1"/>
          <p:nvPr/>
        </p:nvSpPr>
        <p:spPr>
          <a:xfrm>
            <a:off x="6446520" y="4983480"/>
            <a:ext cx="4983480" cy="512064"/>
          </a:xfrm>
          <a:prstGeom prst="rect">
            <a:avLst/>
          </a:prstGeom>
          <a:noFill/>
          <a:ln/>
        </p:spPr>
        <p:txBody>
          <a:bodyPr wrap="square" lIns="0" tIns="0" rIns="0" bIns="0" rtlCol="0" anchor="t"/>
          <a:lstStyle/>
          <a:p>
            <a:pPr indent="0" marL="0">
              <a:buNone/>
            </a:pPr>
            <a:r>
              <a:rPr lang="en-US" sz="1200" b="1" dirty="0">
                <a:solidFill>
                  <a:srgbClr val="3A6EA5"/>
                </a:solidFill>
                <a:latin typeface="Courier New" pitchFamily="34" charset="0"/>
                <a:ea typeface="Courier New" pitchFamily="34" charset="-122"/>
                <a:cs typeface="Courier New" pitchFamily="34" charset="-120"/>
              </a:rPr>
              <a:t>bundle/</a:t>
            </a:r>
            <a:endParaRPr lang="en-US" sz="1200" dirty="0"/>
          </a:p>
          <a:p>
            <a:pPr indent="0" marL="0">
              <a:buNone/>
            </a:pPr>
            <a:r>
              <a:rPr lang="en-US" sz="1200" dirty="0">
                <a:solidFill>
                  <a:srgbClr val="1B2333"/>
                </a:solidFill>
              </a:rPr>
              <a:t>Offline bundle: tools, charts, image mirror, host images (≈5.1 GB).</a:t>
            </a:r>
            <a:endParaRPr lang="en-US" sz="1200" dirty="0"/>
          </a:p>
        </p:txBody>
      </p:sp>
      <p:sp>
        <p:nvSpPr>
          <p:cNvPr id="24" name="Text 20"/>
          <p:cNvSpPr txBox="1"/>
          <p:nvPr/>
        </p:nvSpPr>
        <p:spPr>
          <a:xfrm>
            <a:off x="6446520" y="5513832"/>
            <a:ext cx="4983480" cy="512064"/>
          </a:xfrm>
          <a:prstGeom prst="rect">
            <a:avLst/>
          </a:prstGeom>
          <a:noFill/>
          <a:ln/>
        </p:spPr>
        <p:txBody>
          <a:bodyPr wrap="square" lIns="0" tIns="0" rIns="0" bIns="0" rtlCol="0" anchor="t"/>
          <a:lstStyle/>
          <a:p>
            <a:pPr indent="0" marL="0">
              <a:buNone/>
            </a:pPr>
            <a:r>
              <a:rPr lang="en-US" sz="1200" b="1" dirty="0">
                <a:solidFill>
                  <a:srgbClr val="3A6EA5"/>
                </a:solidFill>
                <a:latin typeface="Courier New" pitchFamily="34" charset="0"/>
                <a:ea typeface="Courier New" pitchFamily="34" charset="-122"/>
                <a:cs typeface="Courier New" pitchFamily="34" charset="-120"/>
              </a:rPr>
              <a:t>config/env.sh</a:t>
            </a:r>
            <a:endParaRPr lang="en-US" sz="1200" dirty="0"/>
          </a:p>
          <a:p>
            <a:pPr indent="0" marL="0">
              <a:buNone/>
            </a:pPr>
            <a:r>
              <a:rPr lang="en-US" sz="1200" dirty="0">
                <a:solidFill>
                  <a:srgbClr val="1B2333"/>
                </a:solidFill>
              </a:rPr>
              <a:t>All names, IPs and pinned versions in one place.</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8EAD"/>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nchor="b"/>
          <a:lstStyle/>
          <a:p>
            <a:pPr algn="l" indent="0" marL="0">
              <a:buNone/>
            </a:pPr>
            <a:r>
              <a:rPr lang="en-US" sz="4400" b="1" dirty="0">
                <a:solidFill>
                  <a:schemeClr val="bg1"/>
                </a:solidFill>
              </a:rPr>
              <a:t>Where to go next</a:t>
            </a:r>
            <a:endParaRPr lang="en-US" sz="4400" dirty="0"/>
          </a:p>
        </p:txBody>
      </p:sp>
      <p:sp>
        <p:nvSpPr>
          <p:cNvPr id="3" name="Text 0"/>
          <p:cNvSpPr/>
          <p:nvPr>
            <p:ph idx="101" type="body" hasCustomPrompt="1"/>
          </p:nvPr>
        </p:nvSpPr>
        <p:spPr>
          <a:xfrm>
            <a:off x="731520" y="3474720"/>
            <a:ext cx="10698480" cy="1097280"/>
          </a:xfrm>
          <a:prstGeom prst="rect">
            <a:avLst/>
          </a:prstGeom>
          <a:noFill/>
          <a:ln/>
        </p:spPr>
        <p:txBody>
          <a:bodyPr wrap="square" rtlCol="0" anchor="t"/>
          <a:lstStyle/>
          <a:p>
            <a:pPr indent="0" marL="0">
              <a:buNone/>
            </a:pPr>
            <a:r>
              <a:rPr lang="en-US" sz="2200" dirty="0">
                <a:solidFill>
                  <a:srgbClr val="9BC4CB"/>
                </a:solidFill>
              </a:rPr>
              <a:t>docs/00-getting-started.md — quick start</a:t>
            </a:r>
            <a:endParaRPr lang="en-US" sz="2200" dirty="0"/>
          </a:p>
          <a:p>
            <a:pPr indent="0" marL="0">
              <a:buNone/>
            </a:pPr>
            <a:r>
              <a:rPr lang="en-US" sz="2200" dirty="0">
                <a:solidFill>
                  <a:srgbClr val="9BC4CB"/>
                </a:solidFill>
              </a:rPr>
              <a:t>docs/02-installation-guide.md — every command and verification</a:t>
            </a:r>
            <a:endParaRPr lang="en-US" sz="2200" dirty="0"/>
          </a:p>
          <a:p>
            <a:pPr indent="0" marL="0">
              <a:buNone/>
            </a:pPr>
            <a:r>
              <a:rPr lang="en-US" sz="2200" dirty="0">
                <a:solidFill>
                  <a:srgbClr val="9BC4CB"/>
                </a:solidFill>
              </a:rPr>
              <a:t>docs/12-tools-reference.md — this content as Markdown</a:t>
            </a:r>
            <a:endParaRPr lang="en-US" sz="2200" dirty="0"/>
          </a:p>
        </p:txBody>
      </p:sp>
    </p:spTree>
  </p:cSld>
  <p:clrMapOvr>
    <a:masterClrMapping/>
  </p:clrMapOvr>
</p:sld>
</file>

<file path=ppt/theme/theme1.xml><?xml version="1.0" encoding="utf-8"?>
<a:theme xmlns:a="http://schemas.openxmlformats.org/drawingml/2006/main" name="Sigstore Offline">
  <a:themeElements>
    <a:clrScheme name="Sigstore Offline">
      <a:dk1>
        <a:srgbClr val="1B2333"/>
      </a:dk1>
      <a:lt1>
        <a:srgbClr val="FFFFFF"/>
      </a:lt1>
      <a:dk2>
        <a:srgbClr val="13294B"/>
      </a:dk2>
      <a:lt2>
        <a:srgbClr val="EEF3F6"/>
      </a:lt2>
      <a:accent1>
        <a:srgbClr val="0F7C80"/>
      </a:accent1>
      <a:accent2>
        <a:srgbClr val="F2A541"/>
      </a:accent2>
      <a:accent3>
        <a:srgbClr val="3A6EA5"/>
      </a:accent3>
      <a:accent4>
        <a:srgbClr val="6C8EAD"/>
      </a:accent4>
      <a:accent5>
        <a:srgbClr val="9BC4CB"/>
      </a:accent5>
      <a:accent6>
        <a:srgbClr val="C0504D"/>
      </a:accent6>
      <a:hlink>
        <a:srgbClr val="0F7C80"/>
      </a:hlink>
      <a:folHlink>
        <a:srgbClr val="6C8EAD"/>
      </a:folHlink>
    </a:clrScheme>
    <a:fontScheme name="Sigstore Offlin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Sigstore Offline Kit — Tools &amp; Components Reference</dc:title>
  <dc:subject>PptxGenJS Presentation</dc:subject>
  <dc:creator>sigstore-offline kit</dc:creator>
  <cp:lastModifiedBy>sigstore-offline kit</cp:lastModifiedBy>
  <cp:revision>1</cp:revision>
  <dcterms:created xsi:type="dcterms:W3CDTF">2026-10-20T02:24:01Z</dcterms:created>
  <dcterms:modified xsi:type="dcterms:W3CDTF">2026-10-20T02:24:01Z</dcterms:modified>
</cp:coreProperties>
</file>